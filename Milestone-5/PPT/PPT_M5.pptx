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</p:sldIdLst>
  <p:sldSz cy="5143500" cx="9144000"/>
  <p:notesSz cx="5143500" cy="9144000"/>
  <p:embeddedFontLst>
    <p:embeddedFont>
      <p:font typeface="Roboto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5" roundtripDataSignature="AMtx7mgbeU0QJMS5xlPqaPhrZYoFoGhk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027E2C3-9FC2-4D8F-B117-58EA10EDBB89}">
  <a:tblStyle styleId="{3027E2C3-9FC2-4D8F-B117-58EA10EDBB89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font" Target="fonts/Roboto-bold.fntdata"/><Relationship Id="rId41" Type="http://schemas.openxmlformats.org/officeDocument/2006/relationships/font" Target="fonts/Roboto-regular.fntdata"/><Relationship Id="rId22" Type="http://schemas.openxmlformats.org/officeDocument/2006/relationships/slide" Target="slides/slide17.xml"/><Relationship Id="rId44" Type="http://schemas.openxmlformats.org/officeDocument/2006/relationships/font" Target="fonts/Roboto-boldItalic.fntdata"/><Relationship Id="rId21" Type="http://schemas.openxmlformats.org/officeDocument/2006/relationships/slide" Target="slides/slide16.xml"/><Relationship Id="rId43" Type="http://schemas.openxmlformats.org/officeDocument/2006/relationships/font" Target="fonts/Roboto-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45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" name="Google Shape;4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" name="Google Shape;6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" name="Google Shape;8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" name="Google Shape;105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" name="Google Shape;11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" name="Google Shape;141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8" name="Google Shape;20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8" name="Google Shape;22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0" name="Google Shape;24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2" name="Google Shape;262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5" name="Google Shape;31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6" name="Google Shape;336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8" name="Google Shape;388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7" name="Google Shape;54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8" name="Google Shape;54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2" name="Google Shape;57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3" name="Google Shape;57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4" name="Google Shape;594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2" name="Google Shape;64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3" name="Google Shape;64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0" name="Google Shape;70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1" name="Google Shape;701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5" name="Google Shape;71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6" name="Google Shape;716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0" name="Google Shape;740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3" name="Google Shape;75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54" name="Google Shape;754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6" name="Google Shape;776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2" name="Google Shape;912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3" name="Google Shape;923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4" name="Google Shape;924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6" name="Google Shape;94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7" name="Google Shape;947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7" name="Google Shape;977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8" name="Google Shape;978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0" name="Google Shape;1000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1" name="Google Shape;1001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3" name="Google Shape;1063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4" name="Google Shape;1064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81" name="Google Shape;1081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2" name="Shape 1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3" name="Google Shape;1143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4" name="Google Shape;1144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5" name="Google Shape;1145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9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Google Shape;1190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1" name="Google Shape;1191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92" name="Google Shape;1192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0" name="Shape 1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1" name="Google Shape;1221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2" name="Google Shape;1222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3" name="Google Shape;1223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9" name="Shape 1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0" name="Google Shape;1260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1" name="Google Shape;1261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4" name="Shape 1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6" name="Google Shape;1326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27" name="Google Shape;1327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1E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457200" y="1691650"/>
            <a:ext cx="54192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1916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PROBABILISTIC TASK OFFLOADING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457200" y="2304300"/>
            <a:ext cx="4612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1916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IN D2D EDGE NETWORKS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457200" y="2926075"/>
            <a:ext cx="43740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848"/>
              </a:buClr>
              <a:buSzPts val="1400"/>
              <a:buFont typeface="Calibri"/>
              <a:buNone/>
            </a:pPr>
            <a:r>
              <a:rPr b="1" i="0" lang="en-US" sz="1500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CSE400 M5 GROUP- 8</a:t>
            </a:r>
            <a:endParaRPr b="1" i="0" sz="1500" u="none" cap="none" strike="noStrike">
              <a:solidFill>
                <a:srgbClr val="7D191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848"/>
              </a:buClr>
              <a:buSzPts val="1400"/>
              <a:buFont typeface="Calibri"/>
              <a:buNone/>
            </a:pPr>
            <a:r>
              <a:rPr b="1" i="0" lang="en-US" sz="1500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NETWORKING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4507992" y="4892040"/>
            <a:ext cx="128016" cy="128016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"/>
          <p:cNvSpPr txBox="1"/>
          <p:nvPr/>
        </p:nvSpPr>
        <p:spPr>
          <a:xfrm>
            <a:off x="346600" y="3584575"/>
            <a:ext cx="3585300" cy="12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Falak Shah AU2440014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Ishani Prajapati AU2440176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Manthan Pancholi AU2440276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Nikunj Kalariya AU2440275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Urvil Chodvadiya AU2440201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" name="Google Shape;2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25950" y="204325"/>
            <a:ext cx="3546097" cy="138684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" name="Google Shape;23;p1"/>
          <p:cNvCxnSpPr/>
          <p:nvPr/>
        </p:nvCxnSpPr>
        <p:spPr>
          <a:xfrm flipH="1" rot="10800000">
            <a:off x="6343210" y="2455638"/>
            <a:ext cx="1023900" cy="133200"/>
          </a:xfrm>
          <a:prstGeom prst="straightConnector1">
            <a:avLst/>
          </a:prstGeom>
          <a:noFill/>
          <a:ln cap="flat" cmpd="sng" w="14975">
            <a:solidFill>
              <a:srgbClr val="7D1916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1"/>
          <p:cNvCxnSpPr/>
          <p:nvPr/>
        </p:nvCxnSpPr>
        <p:spPr>
          <a:xfrm>
            <a:off x="7367233" y="2455571"/>
            <a:ext cx="887400" cy="737100"/>
          </a:xfrm>
          <a:prstGeom prst="straightConnector1">
            <a:avLst/>
          </a:prstGeom>
          <a:noFill/>
          <a:ln cap="flat" cmpd="sng" w="14975">
            <a:solidFill>
              <a:srgbClr val="7D1916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" name="Google Shape;25;p1"/>
          <p:cNvCxnSpPr/>
          <p:nvPr/>
        </p:nvCxnSpPr>
        <p:spPr>
          <a:xfrm>
            <a:off x="6343210" y="2588838"/>
            <a:ext cx="409800" cy="1254600"/>
          </a:xfrm>
          <a:prstGeom prst="straightConnector1">
            <a:avLst/>
          </a:prstGeom>
          <a:noFill/>
          <a:ln cap="flat" cmpd="sng" w="14975">
            <a:solidFill>
              <a:srgbClr val="7D1916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" name="Google Shape;26;p1"/>
          <p:cNvCxnSpPr/>
          <p:nvPr/>
        </p:nvCxnSpPr>
        <p:spPr>
          <a:xfrm flipH="1">
            <a:off x="6752833" y="2455571"/>
            <a:ext cx="614400" cy="1387500"/>
          </a:xfrm>
          <a:prstGeom prst="straightConnector1">
            <a:avLst/>
          </a:prstGeom>
          <a:noFill/>
          <a:ln cap="flat" cmpd="sng" w="14975">
            <a:solidFill>
              <a:srgbClr val="7D1916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" name="Google Shape;27;p1"/>
          <p:cNvCxnSpPr/>
          <p:nvPr/>
        </p:nvCxnSpPr>
        <p:spPr>
          <a:xfrm>
            <a:off x="7367233" y="2455571"/>
            <a:ext cx="409800" cy="1599300"/>
          </a:xfrm>
          <a:prstGeom prst="straightConnector1">
            <a:avLst/>
          </a:prstGeom>
          <a:noFill/>
          <a:ln cap="flat" cmpd="sng" w="14975">
            <a:solidFill>
              <a:srgbClr val="7D1916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" name="Google Shape;28;p1"/>
          <p:cNvCxnSpPr/>
          <p:nvPr/>
        </p:nvCxnSpPr>
        <p:spPr>
          <a:xfrm flipH="1">
            <a:off x="7776820" y="3192459"/>
            <a:ext cx="477900" cy="862500"/>
          </a:xfrm>
          <a:prstGeom prst="straightConnector1">
            <a:avLst/>
          </a:prstGeom>
          <a:noFill/>
          <a:ln cap="flat" cmpd="sng" w="14975">
            <a:solidFill>
              <a:srgbClr val="7D1916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" name="Google Shape;29;p1"/>
          <p:cNvCxnSpPr/>
          <p:nvPr/>
        </p:nvCxnSpPr>
        <p:spPr>
          <a:xfrm>
            <a:off x="6752819" y="3843115"/>
            <a:ext cx="1023900" cy="211500"/>
          </a:xfrm>
          <a:prstGeom prst="straightConnector1">
            <a:avLst/>
          </a:prstGeom>
          <a:noFill/>
          <a:ln cap="flat" cmpd="sng" w="14975">
            <a:solidFill>
              <a:srgbClr val="7D1916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1"/>
          <p:cNvCxnSpPr/>
          <p:nvPr/>
        </p:nvCxnSpPr>
        <p:spPr>
          <a:xfrm>
            <a:off x="6343210" y="2588838"/>
            <a:ext cx="1433700" cy="1466100"/>
          </a:xfrm>
          <a:prstGeom prst="straightConnector1">
            <a:avLst/>
          </a:prstGeom>
          <a:noFill/>
          <a:ln cap="flat" cmpd="sng" w="14975">
            <a:solidFill>
              <a:srgbClr val="7D1916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" name="Google Shape;31;p1"/>
          <p:cNvSpPr/>
          <p:nvPr/>
        </p:nvSpPr>
        <p:spPr>
          <a:xfrm>
            <a:off x="6213500" y="2439892"/>
            <a:ext cx="259500" cy="298200"/>
          </a:xfrm>
          <a:prstGeom prst="ellipse">
            <a:avLst/>
          </a:prstGeom>
          <a:solidFill>
            <a:srgbClr val="BC933E"/>
          </a:solidFill>
          <a:ln cap="flat" cmpd="sng" w="9950">
            <a:solidFill>
              <a:srgbClr val="4A0D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1725" lIns="71725" spcFirstLastPara="1" rIns="71725" wrap="square" tIns="71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6213500" y="2455571"/>
            <a:ext cx="259500" cy="26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7"/>
              <a:buFont typeface="Calibri"/>
              <a:buNone/>
            </a:pPr>
            <a:r>
              <a:rPr b="1" i="0" lang="en-US" sz="83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7237524" y="2306625"/>
            <a:ext cx="259500" cy="298200"/>
          </a:xfrm>
          <a:prstGeom prst="ellipse">
            <a:avLst/>
          </a:prstGeom>
          <a:solidFill>
            <a:srgbClr val="7D1916"/>
          </a:solidFill>
          <a:ln cap="flat" cmpd="sng" w="9950">
            <a:solidFill>
              <a:srgbClr val="BC93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1725" lIns="71725" spcFirstLastPara="1" rIns="71725" wrap="square" tIns="71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7237524" y="2322304"/>
            <a:ext cx="259500" cy="26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7"/>
              <a:buFont typeface="Calibri"/>
              <a:buNone/>
            </a:pPr>
            <a:r>
              <a:rPr b="1" i="0" lang="en-US" sz="83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"/>
          <p:cNvSpPr/>
          <p:nvPr/>
        </p:nvSpPr>
        <p:spPr>
          <a:xfrm>
            <a:off x="8125011" y="3043513"/>
            <a:ext cx="259500" cy="298200"/>
          </a:xfrm>
          <a:prstGeom prst="ellipse">
            <a:avLst/>
          </a:prstGeom>
          <a:solidFill>
            <a:srgbClr val="7D1916"/>
          </a:solidFill>
          <a:ln cap="flat" cmpd="sng" w="9950">
            <a:solidFill>
              <a:srgbClr val="BC93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1725" lIns="71725" spcFirstLastPara="1" rIns="71725" wrap="square" tIns="71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1"/>
          <p:cNvSpPr/>
          <p:nvPr/>
        </p:nvSpPr>
        <p:spPr>
          <a:xfrm>
            <a:off x="8125011" y="3059192"/>
            <a:ext cx="259500" cy="26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7"/>
              <a:buFont typeface="Calibri"/>
              <a:buNone/>
            </a:pPr>
            <a:r>
              <a:rPr b="1" i="0" lang="en-US" sz="83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1"/>
          <p:cNvSpPr/>
          <p:nvPr/>
        </p:nvSpPr>
        <p:spPr>
          <a:xfrm>
            <a:off x="6623109" y="3694170"/>
            <a:ext cx="259500" cy="298200"/>
          </a:xfrm>
          <a:prstGeom prst="ellipse">
            <a:avLst/>
          </a:prstGeom>
          <a:solidFill>
            <a:srgbClr val="7D1916"/>
          </a:solidFill>
          <a:ln cap="flat" cmpd="sng" w="9950">
            <a:solidFill>
              <a:srgbClr val="BC93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1725" lIns="71725" spcFirstLastPara="1" rIns="71725" wrap="square" tIns="71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1"/>
          <p:cNvSpPr/>
          <p:nvPr/>
        </p:nvSpPr>
        <p:spPr>
          <a:xfrm>
            <a:off x="6623109" y="3709848"/>
            <a:ext cx="259500" cy="26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7"/>
              <a:buFont typeface="Calibri"/>
              <a:buNone/>
            </a:pPr>
            <a:r>
              <a:rPr b="1" i="0" lang="en-US" sz="83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1"/>
          <p:cNvSpPr/>
          <p:nvPr/>
        </p:nvSpPr>
        <p:spPr>
          <a:xfrm>
            <a:off x="7647133" y="3905829"/>
            <a:ext cx="259500" cy="298200"/>
          </a:xfrm>
          <a:prstGeom prst="ellipse">
            <a:avLst/>
          </a:prstGeom>
          <a:solidFill>
            <a:srgbClr val="7D1916"/>
          </a:solidFill>
          <a:ln cap="flat" cmpd="sng" w="9950">
            <a:solidFill>
              <a:srgbClr val="BC93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1725" lIns="71725" spcFirstLastPara="1" rIns="71725" wrap="square" tIns="71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1"/>
          <p:cNvSpPr/>
          <p:nvPr/>
        </p:nvSpPr>
        <p:spPr>
          <a:xfrm>
            <a:off x="7647133" y="3921507"/>
            <a:ext cx="259500" cy="26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7"/>
              <a:buFont typeface="Calibri"/>
              <a:buNone/>
            </a:pPr>
            <a:r>
              <a:rPr b="1" i="0" lang="en-US" sz="83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" name="Google Shape;41;p1"/>
          <p:cNvCxnSpPr/>
          <p:nvPr/>
        </p:nvCxnSpPr>
        <p:spPr>
          <a:xfrm>
            <a:off x="6486573" y="2933764"/>
            <a:ext cx="1542900" cy="0"/>
          </a:xfrm>
          <a:prstGeom prst="straightConnector1">
            <a:avLst/>
          </a:prstGeom>
          <a:noFill/>
          <a:ln cap="flat" cmpd="sng" w="24925">
            <a:solidFill>
              <a:srgbClr val="BC933E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42" name="Google Shape;42;p1"/>
          <p:cNvSpPr/>
          <p:nvPr/>
        </p:nvSpPr>
        <p:spPr>
          <a:xfrm>
            <a:off x="6964451" y="2729944"/>
            <a:ext cx="819600" cy="1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4C00"/>
              </a:buClr>
              <a:buSzPts val="732"/>
              <a:buFont typeface="Calibri"/>
              <a:buNone/>
            </a:pPr>
            <a:r>
              <a:rPr b="0" i="1" lang="en-US" sz="732" u="none" cap="none" strike="noStrike">
                <a:solidFill>
                  <a:srgbClr val="894C00"/>
                </a:solidFill>
                <a:latin typeface="Calibri"/>
                <a:ea typeface="Calibri"/>
                <a:cs typeface="Calibri"/>
                <a:sym typeface="Calibri"/>
              </a:rPr>
              <a:t>task offload</a:t>
            </a:r>
            <a:endParaRPr b="0" i="0" sz="7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1"/>
          <p:cNvSpPr/>
          <p:nvPr/>
        </p:nvSpPr>
        <p:spPr>
          <a:xfrm>
            <a:off x="7498080" y="4507992"/>
            <a:ext cx="1463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2026   |   </a:t>
            </a:r>
            <a:r>
              <a:rPr b="1" i="0" lang="en-US" sz="1000" u="none" cap="none" strike="noStrike">
                <a:solidFill>
                  <a:srgbClr val="44484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1EE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1916"/>
              </a:buClr>
              <a:buSzPts val="2600"/>
              <a:buFont typeface="Calibri"/>
              <a:buNone/>
            </a:pPr>
            <a:r>
              <a:rPr b="1" i="0" lang="en-US" sz="3500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Background &amp; Motivation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457200" y="868680"/>
            <a:ext cx="8229600" cy="22860"/>
          </a:xfrm>
          <a:prstGeom prst="rect">
            <a:avLst/>
          </a:prstGeom>
          <a:solidFill>
            <a:srgbClr val="EAE8E4"/>
          </a:solidFill>
          <a:ln cap="flat" cmpd="sng" w="12700">
            <a:solidFill>
              <a:srgbClr val="EAE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4507992" y="4892040"/>
            <a:ext cx="128016" cy="128016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7487915" y="4507992"/>
            <a:ext cx="1463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2026   |   </a:t>
            </a:r>
            <a:r>
              <a:rPr b="1" i="0" lang="en-US" sz="1100" u="none" cap="none" strike="noStrike">
                <a:solidFill>
                  <a:srgbClr val="44484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457200" y="987552"/>
            <a:ext cx="3931920" cy="3246120"/>
          </a:xfrm>
          <a:prstGeom prst="rect">
            <a:avLst/>
          </a:prstGeom>
          <a:solidFill>
            <a:srgbClr val="EAE8E4"/>
          </a:solidFill>
          <a:ln cap="flat" cmpd="sng" w="12700">
            <a:solidFill>
              <a:srgbClr val="EAE8E4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457200" y="987552"/>
            <a:ext cx="91440" cy="3246120"/>
          </a:xfrm>
          <a:prstGeom prst="rect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658368" y="1078992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1916"/>
              </a:buClr>
              <a:buSzPts val="1300"/>
              <a:buFont typeface="Calibri"/>
              <a:buNone/>
            </a:pPr>
            <a:r>
              <a:rPr b="1" i="0" lang="en-US" sz="1900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COURSE PERSPECTIVE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658368" y="1463040"/>
            <a:ext cx="3566160" cy="2606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848"/>
              </a:buClr>
              <a:buSzPts val="1200"/>
              <a:buFont typeface="Calibri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Randomized Algorithms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848"/>
              </a:buClr>
              <a:buSzPts val="1200"/>
              <a:buFont typeface="Calibri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do we make optimal decisions under uncertainty?</a:t>
            </a:r>
            <a:b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Probability &amp; Stochastic Modelling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848"/>
              </a:buClr>
              <a:buSzPts val="1200"/>
              <a:buFont typeface="Calibri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Modelling task arrivals, processing times, and queues as random variables.</a:t>
            </a:r>
            <a:b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Game Theory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848"/>
              </a:buClr>
              <a:buSzPts val="1200"/>
              <a:buFont typeface="Calibri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Multiple selfish agents competing for shared resources — how does equilibrium emerge?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4754880" y="987552"/>
            <a:ext cx="3931920" cy="3246120"/>
          </a:xfrm>
          <a:prstGeom prst="rect">
            <a:avLst/>
          </a:prstGeom>
          <a:solidFill>
            <a:srgbClr val="EAE8E4"/>
          </a:solidFill>
          <a:ln cap="flat" cmpd="sng" w="12700">
            <a:solidFill>
              <a:srgbClr val="EAE8E4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4754880" y="987552"/>
            <a:ext cx="91440" cy="3246120"/>
          </a:xfrm>
          <a:prstGeom prst="rect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4956048" y="1078992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1916"/>
              </a:buClr>
              <a:buSzPts val="1300"/>
              <a:buFont typeface="Calibri"/>
              <a:buNone/>
            </a:pPr>
            <a:r>
              <a:rPr b="1" i="0" lang="en-US" sz="1900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REAL-WORLD PERSPECTIVE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4956048" y="1463040"/>
            <a:ext cx="3566160" cy="2606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848"/>
              </a:buClr>
              <a:buSzPts val="1200"/>
              <a:buFont typeface="Calibri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 &amp; Camera Apps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848"/>
              </a:buClr>
              <a:buSzPts val="1200"/>
              <a:buFont typeface="Calibri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Must process every camera frame within 600 ms — any delay breaks immersion.</a:t>
            </a:r>
            <a:b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Device-to-Device (D2D) Networks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848"/>
              </a:buClr>
              <a:buSzPts val="1200"/>
              <a:buFont typeface="Calibri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Phones offload heavy computation to nearby peers — no cloud, no cell tower.</a:t>
            </a:r>
            <a:b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Latency-Sensitive Deadlines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848"/>
              </a:buClr>
              <a:buSzPts val="1200"/>
              <a:buFont typeface="Calibri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Miss the deadline by even 1 ms? The result is useless. Hard deadlines = τ.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1EE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1916"/>
              </a:buClr>
              <a:buSzPts val="2600"/>
              <a:buFont typeface="Calibri"/>
              <a:buNone/>
            </a:pPr>
            <a:r>
              <a:rPr b="1" i="0" lang="en-US" sz="3500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Why</a:t>
            </a:r>
            <a:r>
              <a:rPr b="1" i="0" lang="en-US" sz="3500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 Is This Problem Hard?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457200" y="868680"/>
            <a:ext cx="8229600" cy="22860"/>
          </a:xfrm>
          <a:prstGeom prst="rect">
            <a:avLst/>
          </a:prstGeom>
          <a:solidFill>
            <a:srgbClr val="EAE8E4"/>
          </a:solidFill>
          <a:ln cap="flat" cmpd="sng" w="12700">
            <a:solidFill>
              <a:srgbClr val="EAE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4507992" y="4892040"/>
            <a:ext cx="128016" cy="128016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7498080" y="450799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2026   |   </a:t>
            </a:r>
            <a:r>
              <a:rPr b="1" i="0" lang="en-US" sz="1200" u="none" cap="none" strike="noStrike">
                <a:solidFill>
                  <a:srgbClr val="44484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457200" y="987552"/>
            <a:ext cx="2468880" cy="1280160"/>
          </a:xfrm>
          <a:prstGeom prst="rect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548640" y="1024128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UNCERTAINTY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548640" y="1444752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Same code, same device — yet 100× different runtimes depending on input.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3108960" y="987552"/>
            <a:ext cx="2468880" cy="1280160"/>
          </a:xfrm>
          <a:prstGeom prst="rect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3200400" y="1024128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COMPETITION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3200400" y="1444752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5+ devices simultaneously decide where to offload. Your choice affects everyone.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5760720" y="987552"/>
            <a:ext cx="2468880" cy="1280160"/>
          </a:xfrm>
          <a:prstGeom prst="rect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5852160" y="1024128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DEADLINES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5852160" y="1444752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 partial credit. Miss τ by 1 ms and the task is a complete failure.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457200" y="2487168"/>
            <a:ext cx="8229600" cy="658368"/>
          </a:xfrm>
          <a:prstGeom prst="rect">
            <a:avLst/>
          </a:prstGeom>
          <a:solidFill>
            <a:srgbClr val="EAE8E4"/>
          </a:solidFill>
          <a:ln cap="flat" cmpd="sng" w="12700">
            <a:solidFill>
              <a:srgbClr val="EAE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640080" y="2542032"/>
            <a:ext cx="7863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1916"/>
              </a:buClr>
              <a:buSzPts val="1500"/>
              <a:buFont typeface="Calibri"/>
              <a:buNone/>
            </a:pPr>
            <a:r>
              <a:rPr b="1" i="0" lang="en-US" sz="1700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Core Question:  </a:t>
            </a: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Which nearby device should I send my task to, so it finishes before my deadline?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457200" y="329184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1916"/>
              </a:buClr>
              <a:buSzPts val="1300"/>
              <a:buFont typeface="Calibri"/>
              <a:buNone/>
            </a:pPr>
            <a:r>
              <a:rPr b="1" i="0" lang="en-US" sz="2300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Four Major Sources of Randomness: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548640" y="3639312"/>
            <a:ext cx="8046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Calibri"/>
              <a:buChar char="•"/>
            </a:pPr>
            <a:r>
              <a:rPr b="0" i="0" lang="en-US" sz="16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Variable Task Processing Time (TPT) — Gamma &amp; Exponential distributions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Calibri"/>
              <a:buChar char="•"/>
            </a:pPr>
            <a:r>
              <a:rPr b="0" i="0" lang="en-US" sz="16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Queue Contention (W_q) — Accumulates as arrivals flood a node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Calibri"/>
              <a:buChar char="•"/>
            </a:pPr>
            <a:r>
              <a:rPr b="0" i="0" lang="en-US" sz="16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Device Heterogeneity (f_i) — CPU speeds vary 1.0–2.5 GHz across devices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Calibri"/>
              <a:buChar char="•"/>
            </a:pPr>
            <a:r>
              <a:rPr b="0" i="0" lang="en-US" sz="16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Wireless Bandwidth Degradation — BW_eff = BW_base / (1 + (d/20)²)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1EE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1916"/>
              </a:buClr>
              <a:buSzPts val="2600"/>
              <a:buFont typeface="Calibri"/>
              <a:buNone/>
            </a:pPr>
            <a:r>
              <a:rPr b="1" i="0" lang="en-US" sz="3500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Base</a:t>
            </a:r>
            <a:r>
              <a:rPr b="1" i="0" lang="en-US" sz="3500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 Paper Overview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457200" y="868680"/>
            <a:ext cx="8229600" cy="22860"/>
          </a:xfrm>
          <a:prstGeom prst="rect">
            <a:avLst/>
          </a:prstGeom>
          <a:solidFill>
            <a:srgbClr val="EAE8E4"/>
          </a:solidFill>
          <a:ln cap="flat" cmpd="sng" w="12700">
            <a:solidFill>
              <a:srgbClr val="EAE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4507992" y="4892040"/>
            <a:ext cx="128016" cy="128016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7508245" y="4507992"/>
            <a:ext cx="1463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2026   |   </a:t>
            </a:r>
            <a:r>
              <a:rPr b="1" i="0" lang="en-US" sz="1000" u="none" cap="none" strike="noStrike">
                <a:solidFill>
                  <a:srgbClr val="444848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457200" y="987552"/>
            <a:ext cx="8229600" cy="685800"/>
          </a:xfrm>
          <a:prstGeom prst="rect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548640" y="1024128"/>
            <a:ext cx="8046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1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"Probabilistic Task Offloading in D2D Edge Networks"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457200" y="1810512"/>
            <a:ext cx="3840480" cy="2423160"/>
          </a:xfrm>
          <a:prstGeom prst="rect">
            <a:avLst/>
          </a:prstGeom>
          <a:solidFill>
            <a:srgbClr val="EAE8E4"/>
          </a:solidFill>
          <a:ln cap="flat" cmpd="sng" w="12700">
            <a:solidFill>
              <a:srgbClr val="EAE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548640" y="1901952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1916"/>
              </a:buClr>
              <a:buSzPts val="1300"/>
              <a:buFont typeface="Calibri"/>
              <a:buNone/>
            </a:pPr>
            <a:r>
              <a:rPr b="1" i="0" lang="en-US" sz="2000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MAIN IDEA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548640" y="2249424"/>
            <a:ext cx="365760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848"/>
              </a:buClr>
              <a:buSzPts val="1200"/>
              <a:buFont typeface="Calibri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Multiple mobile devices form a mesh network and cooperate (and compete) to offload latency-sensitive computation tasks to one another. The paper models this as a Non-Cooperative Game and proposes a distributed algorithm to reach Nash Equilibrium — achieving 27% better Task Completion Rate than baseline.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4846320" y="1810512"/>
            <a:ext cx="3840480" cy="2423160"/>
          </a:xfrm>
          <a:prstGeom prst="rect">
            <a:avLst/>
          </a:prstGeom>
          <a:solidFill>
            <a:srgbClr val="EAE8E4"/>
          </a:solidFill>
          <a:ln cap="flat" cmpd="sng" w="12700">
            <a:solidFill>
              <a:srgbClr val="EAE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4937760" y="1901952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1916"/>
              </a:buClr>
              <a:buSzPts val="1300"/>
              <a:buFont typeface="Calibri"/>
              <a:buNone/>
            </a:pPr>
            <a:r>
              <a:rPr b="1" i="0" lang="en-US" sz="2000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KEY CONTRIBUTIONS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4937760" y="2249424"/>
            <a:ext cx="365760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Probabilistic task offloading framework using M/G/1 queuing theory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Proof that the game is a Potential Game → Nash Equilibrium guaranteed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MATURE Algorithm — distributed, converges to stable equilibrium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Applications: AR/VRD (Gamma) and BeautyCam (Exponential) tasks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1EE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5"/>
          <p:cNvSpPr/>
          <p:nvPr/>
        </p:nvSpPr>
        <p:spPr>
          <a:xfrm>
            <a:off x="457200" y="220000"/>
            <a:ext cx="8229600" cy="5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500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Our Contributions at a Glance</a:t>
            </a:r>
            <a:endParaRPr b="0" i="0" sz="3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35"/>
          <p:cNvSpPr/>
          <p:nvPr/>
        </p:nvSpPr>
        <p:spPr>
          <a:xfrm>
            <a:off x="457200" y="745800"/>
            <a:ext cx="8229600" cy="274200"/>
          </a:xfrm>
          <a:prstGeom prst="rect">
            <a:avLst/>
          </a:prstGeom>
          <a:solidFill>
            <a:srgbClr val="7D19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This Team Built, Proved, and Discovered across Milestones 1 to 4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35"/>
          <p:cNvSpPr/>
          <p:nvPr/>
        </p:nvSpPr>
        <p:spPr>
          <a:xfrm>
            <a:off x="457200" y="1090000"/>
            <a:ext cx="3930000" cy="14900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82875" spcFirstLastPara="1" rIns="18287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550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M1 — All Sources of Uncertainty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Catalogued 6 primary random variables (X, Y, T_inter, tau, f_i, d_ij) and 4 derived variables. Framed the problem as a Non-Cooperative Potential Game, proving Nash Equilibrium always exists and the system converges without central coordination.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35"/>
          <p:cNvSpPr/>
          <p:nvPr/>
        </p:nvSpPr>
        <p:spPr>
          <a:xfrm>
            <a:off x="4756800" y="1090000"/>
            <a:ext cx="3930000" cy="1490000"/>
          </a:xfrm>
          <a:prstGeom prst="rect">
            <a:avLst/>
          </a:prstGeom>
          <a:solidFill>
            <a:srgbClr val="7D1916"/>
          </a:solidFill>
          <a:ln cap="flat" cmpd="sng" w="254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82875" spcFirstLastPara="1" rIns="18287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M2 — The Mathematical Arsenal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200" u="none" cap="none" strike="noStrike">
                <a:solidFill>
                  <a:srgbClr val="F5E6E6"/>
                </a:solidFill>
                <a:latin typeface="Calibri"/>
                <a:ea typeface="Calibri"/>
                <a:cs typeface="Calibri"/>
                <a:sym typeface="Calibri"/>
              </a:rPr>
              <a:t>Derived the M/G/1 completion CDF: F(tau) = 1 - exp(-(mu - lambda) x tau_eff). Proved Jensen's Inequality applies to all deadline systems. Quantified the Jensen Gap as a live metric that predicts system collapse before it happens.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35"/>
          <p:cNvSpPr/>
          <p:nvPr/>
        </p:nvSpPr>
        <p:spPr>
          <a:xfrm>
            <a:off x="457200" y="2640000"/>
            <a:ext cx="3930000" cy="1490000"/>
          </a:xfrm>
          <a:prstGeom prst="rect">
            <a:avLst/>
          </a:prstGeom>
          <a:solidFill>
            <a:srgbClr val="7D1916"/>
          </a:solidFill>
          <a:ln cap="flat" cmpd="sng" w="254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82875" spcFirstLastPara="1" rIns="18287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M3 — Discovered the Herd Effect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200" u="none" cap="none" strike="noStrike">
                <a:solidFill>
                  <a:srgbClr val="F5E6E6"/>
                </a:solidFill>
                <a:latin typeface="Calibri"/>
                <a:ea typeface="Calibri"/>
                <a:cs typeface="Calibri"/>
                <a:sym typeface="Calibri"/>
              </a:rPr>
              <a:t>Ran 600,000-task Monte Carlo simulation with SDF. Discovered catastrophic Herd Effect (TCR 0.40%) not highlighted in the base paper. Jensen Gap explodes after task 800, empirically confirming variance drives system collapse.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35"/>
          <p:cNvSpPr/>
          <p:nvPr/>
        </p:nvSpPr>
        <p:spPr>
          <a:xfrm>
            <a:off x="4756800" y="2640000"/>
            <a:ext cx="3930000" cy="14900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82875" spcFirstLastPara="1" rIns="18287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550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M4 — DDQN + Correlated Workload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Replaced SDF with DDQN + Epsilon-Boltzmann exploration. Fixed M3 false independence assumption (rho=+0.55). Result: TCR &gt;80%, tail latency &lt;6s, Jain Fairness 0.60. First to model X-Y correlation and measure its impact on system collapse.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35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solidFill>
            <a:srgbClr val="7D1916"/>
          </a:solidFill>
          <a:ln>
            <a:noFill/>
          </a:ln>
        </p:spPr>
        <p:txBody>
          <a:bodyPr anchorCtr="0" anchor="ctr" bIns="45700" lIns="45720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35"/>
          <p:cNvSpPr/>
          <p:nvPr/>
        </p:nvSpPr>
        <p:spPr>
          <a:xfrm>
            <a:off x="7498080" y="4507992"/>
            <a:ext cx="1463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2026   |   </a:t>
            </a:r>
            <a:r>
              <a:rPr b="1" i="0" lang="en-US" sz="1200" u="none" cap="none" strike="noStrike">
                <a:solidFill>
                  <a:srgbClr val="444848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1EE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1916"/>
              </a:buClr>
              <a:buSzPts val="2600"/>
              <a:buFont typeface="Calibri"/>
              <a:buNone/>
            </a:pPr>
            <a:r>
              <a:rPr b="1" i="0" lang="en-US" sz="3500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Problem Formulation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457200" y="868680"/>
            <a:ext cx="8229600" cy="22860"/>
          </a:xfrm>
          <a:prstGeom prst="rect">
            <a:avLst/>
          </a:prstGeom>
          <a:solidFill>
            <a:srgbClr val="EAE8E4"/>
          </a:solidFill>
          <a:ln cap="flat" cmpd="sng" w="12700">
            <a:solidFill>
              <a:srgbClr val="EAE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4507992" y="4892040"/>
            <a:ext cx="128016" cy="128016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7498080" y="450799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2026   |   </a:t>
            </a:r>
            <a:r>
              <a:rPr b="1" i="0" lang="en-US" sz="1000" u="none" cap="none" strike="noStrike">
                <a:solidFill>
                  <a:srgbClr val="444848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457200" y="987552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1916"/>
              </a:buClr>
              <a:buSzPts val="1600"/>
              <a:buFont typeface="Calibri"/>
              <a:buNone/>
            </a:pPr>
            <a:r>
              <a:rPr b="1" i="0" lang="en-US" sz="2200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The Decision Problem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848"/>
              </a:buClr>
              <a:buSzPts val="1250"/>
              <a:buFont typeface="Calibri"/>
              <a:buNone/>
            </a:pPr>
            <a:r>
              <a:rPr b="0" i="0" lang="en-US" sz="1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Every time a device generates a computation task, it must decide: process locally or offload to a neighbour? If offloading, which neighbour? Each device makes this decision simultaneously — and all decisions affect everyone else.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457200" y="2194560"/>
            <a:ext cx="2606040" cy="2011680"/>
          </a:xfrm>
          <a:prstGeom prst="rect">
            <a:avLst/>
          </a:prstGeom>
          <a:solidFill>
            <a:srgbClr val="EAE8E4"/>
          </a:solidFill>
          <a:ln cap="flat" cmpd="sng" w="12700">
            <a:solidFill>
              <a:srgbClr val="EAE8E4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457200" y="2194560"/>
            <a:ext cx="2606040" cy="365760"/>
          </a:xfrm>
          <a:prstGeom prst="rect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548640" y="2212848"/>
            <a:ext cx="24231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NETWORK SETUP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548640" y="2633472"/>
            <a:ext cx="242316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 = 5 mobile devices (nodes)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Mesh topology — every node can talk to every other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D2D communication — no base station needed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CPU freq f_i ~ Uniform(1.0, 2.5) GHz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3200400" y="2194560"/>
            <a:ext cx="2606040" cy="2011680"/>
          </a:xfrm>
          <a:prstGeom prst="rect">
            <a:avLst/>
          </a:prstGeom>
          <a:solidFill>
            <a:srgbClr val="EAE8E4"/>
          </a:solidFill>
          <a:ln cap="flat" cmpd="sng" w="12700">
            <a:solidFill>
              <a:srgbClr val="EAE8E4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3200400" y="2194560"/>
            <a:ext cx="2606040" cy="365760"/>
          </a:xfrm>
          <a:prstGeom prst="rect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3291840" y="2212848"/>
            <a:ext cx="24231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TASK MODEL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3291840" y="2633472"/>
            <a:ext cx="242316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Tasks arrive as a Poisson process (rate λ)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task has: size X, CPU cycles Y, deadline τ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Sojourn Time: T_soj = t_trans + W_q + t_exec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Success iff T_soj ≤ τ  (hard deadline)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5943600" y="2194560"/>
            <a:ext cx="2606040" cy="2011680"/>
          </a:xfrm>
          <a:prstGeom prst="rect">
            <a:avLst/>
          </a:prstGeom>
          <a:solidFill>
            <a:srgbClr val="EAE8E4"/>
          </a:solidFill>
          <a:ln cap="flat" cmpd="sng" w="12700">
            <a:solidFill>
              <a:srgbClr val="EAE8E4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5943600" y="2194560"/>
            <a:ext cx="2606040" cy="365760"/>
          </a:xfrm>
          <a:prstGeom prst="rect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6035040" y="2212848"/>
            <a:ext cx="24231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OBJECTIVE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6035040" y="2633472"/>
            <a:ext cx="242316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Maximise Task Completion Rate (TCR)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TCR = P(T_soj ≤ τ)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device acts selfishly to maximise own TCR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 settles at Nash Equilibrium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6F3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4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3300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D2D Network Topology &amp; Task Offloading Flow</a:t>
            </a:r>
            <a:endParaRPr b="0" i="0" sz="3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4"/>
          <p:cNvSpPr/>
          <p:nvPr/>
        </p:nvSpPr>
        <p:spPr>
          <a:xfrm>
            <a:off x="457200" y="713232"/>
            <a:ext cx="8229600" cy="27432"/>
          </a:xfrm>
          <a:prstGeom prst="rect">
            <a:avLst/>
          </a:prstGeom>
          <a:solidFill>
            <a:srgbClr val="EAE8E4"/>
          </a:solidFill>
          <a:ln cap="flat" cmpd="sng" w="12700">
            <a:solidFill>
              <a:srgbClr val="EAE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4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24"/>
          <p:cNvSpPr/>
          <p:nvPr/>
        </p:nvSpPr>
        <p:spPr>
          <a:xfrm>
            <a:off x="4507992" y="4878324"/>
            <a:ext cx="128016" cy="128016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24"/>
          <p:cNvSpPr/>
          <p:nvPr/>
        </p:nvSpPr>
        <p:spPr>
          <a:xfrm>
            <a:off x="7498080" y="4498848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2026   |   7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24"/>
          <p:cNvSpPr/>
          <p:nvPr/>
        </p:nvSpPr>
        <p:spPr>
          <a:xfrm>
            <a:off x="457200" y="804672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450" u="none" cap="none" strike="noStrike">
                <a:solidFill>
                  <a:srgbClr val="4A0D0B"/>
                </a:solidFill>
                <a:latin typeface="Calibri"/>
                <a:ea typeface="Calibri"/>
                <a:cs typeface="Calibri"/>
                <a:sym typeface="Calibri"/>
              </a:rPr>
              <a:t>5-Node Mesh — Every device can offload to any other (no base station needed)</a:t>
            </a:r>
            <a:endParaRPr b="0" i="0" sz="1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9" name="Google Shape;149;p24"/>
          <p:cNvCxnSpPr/>
          <p:nvPr/>
        </p:nvCxnSpPr>
        <p:spPr>
          <a:xfrm flipH="1" rot="10800000">
            <a:off x="1828800" y="1508760"/>
            <a:ext cx="2286000" cy="594360"/>
          </a:xfrm>
          <a:prstGeom prst="straightConnector1">
            <a:avLst/>
          </a:prstGeom>
          <a:noFill/>
          <a:ln cap="flat" cmpd="sng" w="12700">
            <a:solidFill>
              <a:srgbClr val="C8C0BC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50" name="Google Shape;150;p24"/>
          <p:cNvCxnSpPr/>
          <p:nvPr/>
        </p:nvCxnSpPr>
        <p:spPr>
          <a:xfrm>
            <a:off x="1828800" y="2103120"/>
            <a:ext cx="4572000" cy="0"/>
          </a:xfrm>
          <a:prstGeom prst="straightConnector1">
            <a:avLst/>
          </a:prstGeom>
          <a:noFill/>
          <a:ln cap="flat" cmpd="sng" w="12700">
            <a:solidFill>
              <a:srgbClr val="BC933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1" name="Google Shape;151;p24"/>
          <p:cNvCxnSpPr/>
          <p:nvPr/>
        </p:nvCxnSpPr>
        <p:spPr>
          <a:xfrm>
            <a:off x="1828800" y="2103120"/>
            <a:ext cx="3749040" cy="1371600"/>
          </a:xfrm>
          <a:prstGeom prst="straightConnector1">
            <a:avLst/>
          </a:prstGeom>
          <a:noFill/>
          <a:ln cap="flat" cmpd="sng" w="12700">
            <a:solidFill>
              <a:srgbClr val="C8C0BC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52" name="Google Shape;152;p24"/>
          <p:cNvCxnSpPr/>
          <p:nvPr/>
        </p:nvCxnSpPr>
        <p:spPr>
          <a:xfrm>
            <a:off x="1828800" y="2103120"/>
            <a:ext cx="822960" cy="1371600"/>
          </a:xfrm>
          <a:prstGeom prst="straightConnector1">
            <a:avLst/>
          </a:prstGeom>
          <a:noFill/>
          <a:ln cap="flat" cmpd="sng" w="12700">
            <a:solidFill>
              <a:srgbClr val="C8C0BC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53" name="Google Shape;153;p24"/>
          <p:cNvCxnSpPr/>
          <p:nvPr/>
        </p:nvCxnSpPr>
        <p:spPr>
          <a:xfrm>
            <a:off x="4114800" y="1508760"/>
            <a:ext cx="2286000" cy="594360"/>
          </a:xfrm>
          <a:prstGeom prst="straightConnector1">
            <a:avLst/>
          </a:prstGeom>
          <a:noFill/>
          <a:ln cap="flat" cmpd="sng" w="12700">
            <a:solidFill>
              <a:srgbClr val="C8C0BC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54" name="Google Shape;154;p24"/>
          <p:cNvCxnSpPr/>
          <p:nvPr/>
        </p:nvCxnSpPr>
        <p:spPr>
          <a:xfrm>
            <a:off x="4114800" y="1508760"/>
            <a:ext cx="1463040" cy="1965960"/>
          </a:xfrm>
          <a:prstGeom prst="straightConnector1">
            <a:avLst/>
          </a:prstGeom>
          <a:noFill/>
          <a:ln cap="flat" cmpd="sng" w="12700">
            <a:solidFill>
              <a:srgbClr val="C8C0BC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55" name="Google Shape;155;p24"/>
          <p:cNvCxnSpPr/>
          <p:nvPr/>
        </p:nvCxnSpPr>
        <p:spPr>
          <a:xfrm flipH="1">
            <a:off x="2651760" y="1508760"/>
            <a:ext cx="1463040" cy="1965960"/>
          </a:xfrm>
          <a:prstGeom prst="straightConnector1">
            <a:avLst/>
          </a:prstGeom>
          <a:noFill/>
          <a:ln cap="flat" cmpd="sng" w="12700">
            <a:solidFill>
              <a:srgbClr val="C8C0BC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56" name="Google Shape;156;p24"/>
          <p:cNvCxnSpPr/>
          <p:nvPr/>
        </p:nvCxnSpPr>
        <p:spPr>
          <a:xfrm flipH="1">
            <a:off x="5577840" y="2103120"/>
            <a:ext cx="822960" cy="1371600"/>
          </a:xfrm>
          <a:prstGeom prst="straightConnector1">
            <a:avLst/>
          </a:prstGeom>
          <a:noFill/>
          <a:ln cap="flat" cmpd="sng" w="12700">
            <a:solidFill>
              <a:srgbClr val="C8C0BC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57" name="Google Shape;157;p24"/>
          <p:cNvCxnSpPr/>
          <p:nvPr/>
        </p:nvCxnSpPr>
        <p:spPr>
          <a:xfrm flipH="1">
            <a:off x="2651760" y="2103120"/>
            <a:ext cx="3749040" cy="1371600"/>
          </a:xfrm>
          <a:prstGeom prst="straightConnector1">
            <a:avLst/>
          </a:prstGeom>
          <a:noFill/>
          <a:ln cap="flat" cmpd="sng" w="12700">
            <a:solidFill>
              <a:srgbClr val="C8C0BC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58" name="Google Shape;158;p24"/>
          <p:cNvCxnSpPr/>
          <p:nvPr/>
        </p:nvCxnSpPr>
        <p:spPr>
          <a:xfrm rot="10800000">
            <a:off x="2651760" y="3474720"/>
            <a:ext cx="2926080" cy="0"/>
          </a:xfrm>
          <a:prstGeom prst="straightConnector1">
            <a:avLst/>
          </a:prstGeom>
          <a:noFill/>
          <a:ln cap="flat" cmpd="sng" w="12700">
            <a:solidFill>
              <a:srgbClr val="C8C0BC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59" name="Google Shape;159;p24"/>
          <p:cNvSpPr/>
          <p:nvPr/>
        </p:nvSpPr>
        <p:spPr>
          <a:xfrm>
            <a:off x="1325880" y="1792224"/>
            <a:ext cx="1005840" cy="621792"/>
          </a:xfrm>
          <a:prstGeom prst="ellipse">
            <a:avLst/>
          </a:prstGeom>
          <a:solidFill>
            <a:srgbClr val="BC933E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24"/>
          <p:cNvSpPr/>
          <p:nvPr/>
        </p:nvSpPr>
        <p:spPr>
          <a:xfrm>
            <a:off x="1371600" y="1828800"/>
            <a:ext cx="9144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Node 1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f₁~U(1,2.5)GHz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4"/>
          <p:cNvSpPr/>
          <p:nvPr/>
        </p:nvSpPr>
        <p:spPr>
          <a:xfrm>
            <a:off x="3611880" y="1197864"/>
            <a:ext cx="1005840" cy="621792"/>
          </a:xfrm>
          <a:prstGeom prst="ellipse">
            <a:avLst/>
          </a:prstGeom>
          <a:solidFill>
            <a:srgbClr val="EAE8E4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24"/>
          <p:cNvSpPr/>
          <p:nvPr/>
        </p:nvSpPr>
        <p:spPr>
          <a:xfrm>
            <a:off x="3657600" y="1234440"/>
            <a:ext cx="9144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n-US" sz="1050" u="none" cap="none" strike="noStrike">
                <a:solidFill>
                  <a:srgbClr val="4A0D0B"/>
                </a:solidFill>
                <a:latin typeface="Calibri"/>
                <a:ea typeface="Calibri"/>
                <a:cs typeface="Calibri"/>
                <a:sym typeface="Calibri"/>
              </a:rPr>
              <a:t>Node 2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n-US" sz="1050" u="none" cap="none" strike="noStrike">
                <a:solidFill>
                  <a:srgbClr val="4A0D0B"/>
                </a:solidFill>
                <a:latin typeface="Calibri"/>
                <a:ea typeface="Calibri"/>
                <a:cs typeface="Calibri"/>
                <a:sym typeface="Calibri"/>
              </a:rPr>
              <a:t>f₂~U(1,2.5)GHz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24"/>
          <p:cNvSpPr/>
          <p:nvPr/>
        </p:nvSpPr>
        <p:spPr>
          <a:xfrm>
            <a:off x="5897880" y="1792224"/>
            <a:ext cx="1005840" cy="621792"/>
          </a:xfrm>
          <a:prstGeom prst="ellipse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4"/>
          <p:cNvSpPr/>
          <p:nvPr/>
        </p:nvSpPr>
        <p:spPr>
          <a:xfrm>
            <a:off x="5943600" y="1828800"/>
            <a:ext cx="9144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Node 3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f₃~U(1,2.5)GHz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4"/>
          <p:cNvSpPr/>
          <p:nvPr/>
        </p:nvSpPr>
        <p:spPr>
          <a:xfrm>
            <a:off x="5074920" y="3163824"/>
            <a:ext cx="1005840" cy="621792"/>
          </a:xfrm>
          <a:prstGeom prst="ellipse">
            <a:avLst/>
          </a:prstGeom>
          <a:solidFill>
            <a:srgbClr val="EAE8E4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4"/>
          <p:cNvSpPr/>
          <p:nvPr/>
        </p:nvSpPr>
        <p:spPr>
          <a:xfrm>
            <a:off x="5120640" y="3200400"/>
            <a:ext cx="9144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n-US" sz="1050" u="none" cap="none" strike="noStrike">
                <a:solidFill>
                  <a:srgbClr val="4A0D0B"/>
                </a:solidFill>
                <a:latin typeface="Calibri"/>
                <a:ea typeface="Calibri"/>
                <a:cs typeface="Calibri"/>
                <a:sym typeface="Calibri"/>
              </a:rPr>
              <a:t>Node 4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n-US" sz="1050" u="none" cap="none" strike="noStrike">
                <a:solidFill>
                  <a:srgbClr val="4A0D0B"/>
                </a:solidFill>
                <a:latin typeface="Calibri"/>
                <a:ea typeface="Calibri"/>
                <a:cs typeface="Calibri"/>
                <a:sym typeface="Calibri"/>
              </a:rPr>
              <a:t>f₄~U(1,2.5)GHz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24"/>
          <p:cNvSpPr/>
          <p:nvPr/>
        </p:nvSpPr>
        <p:spPr>
          <a:xfrm>
            <a:off x="2148840" y="3163824"/>
            <a:ext cx="1005840" cy="621792"/>
          </a:xfrm>
          <a:prstGeom prst="ellipse">
            <a:avLst/>
          </a:prstGeom>
          <a:solidFill>
            <a:srgbClr val="EAE8E4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4"/>
          <p:cNvSpPr/>
          <p:nvPr/>
        </p:nvSpPr>
        <p:spPr>
          <a:xfrm>
            <a:off x="2194560" y="3200400"/>
            <a:ext cx="9144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n-US" sz="1050" u="none" cap="none" strike="noStrike">
                <a:solidFill>
                  <a:srgbClr val="4A0D0B"/>
                </a:solidFill>
                <a:latin typeface="Calibri"/>
                <a:ea typeface="Calibri"/>
                <a:cs typeface="Calibri"/>
                <a:sym typeface="Calibri"/>
              </a:rPr>
              <a:t>Node 5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n-US" sz="1050" u="none" cap="none" strike="noStrike">
                <a:solidFill>
                  <a:srgbClr val="4A0D0B"/>
                </a:solidFill>
                <a:latin typeface="Calibri"/>
                <a:ea typeface="Calibri"/>
                <a:cs typeface="Calibri"/>
                <a:sym typeface="Calibri"/>
              </a:rPr>
              <a:t>f₅~U(1,2.5)GHz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4"/>
          <p:cNvSpPr/>
          <p:nvPr/>
        </p:nvSpPr>
        <p:spPr>
          <a:xfrm>
            <a:off x="3520440" y="2121408"/>
            <a:ext cx="12070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1" lang="en-US" sz="1100" u="none" cap="none" strike="noStrike">
                <a:solidFill>
                  <a:srgbClr val="BC933E"/>
                </a:solidFill>
                <a:latin typeface="Arial"/>
                <a:ea typeface="Arial"/>
                <a:cs typeface="Arial"/>
                <a:sym typeface="Arial"/>
              </a:rPr>
              <a:t>← task offload →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24"/>
          <p:cNvSpPr/>
          <p:nvPr/>
        </p:nvSpPr>
        <p:spPr>
          <a:xfrm>
            <a:off x="3520440" y="2304288"/>
            <a:ext cx="12070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1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d₁₃ ~ U(5,50)m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24"/>
          <p:cNvSpPr/>
          <p:nvPr/>
        </p:nvSpPr>
        <p:spPr>
          <a:xfrm>
            <a:off x="6903720" y="822960"/>
            <a:ext cx="1828800" cy="347472"/>
          </a:xfrm>
          <a:prstGeom prst="rect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24"/>
          <p:cNvSpPr/>
          <p:nvPr/>
        </p:nvSpPr>
        <p:spPr>
          <a:xfrm>
            <a:off x="6903720" y="822960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DECISION FLOW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24"/>
          <p:cNvSpPr/>
          <p:nvPr/>
        </p:nvSpPr>
        <p:spPr>
          <a:xfrm>
            <a:off x="6949440" y="1234440"/>
            <a:ext cx="274320" cy="274320"/>
          </a:xfrm>
          <a:prstGeom prst="ellipse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4"/>
          <p:cNvSpPr/>
          <p:nvPr/>
        </p:nvSpPr>
        <p:spPr>
          <a:xfrm>
            <a:off x="6949440" y="123444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①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4"/>
          <p:cNvSpPr/>
          <p:nvPr/>
        </p:nvSpPr>
        <p:spPr>
          <a:xfrm>
            <a:off x="7269480" y="1234440"/>
            <a:ext cx="1417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11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Task generated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11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 source node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6" name="Google Shape;176;p24"/>
          <p:cNvCxnSpPr/>
          <p:nvPr/>
        </p:nvCxnSpPr>
        <p:spPr>
          <a:xfrm>
            <a:off x="7086600" y="1527048"/>
            <a:ext cx="0" cy="256032"/>
          </a:xfrm>
          <a:prstGeom prst="straightConnector1">
            <a:avLst/>
          </a:prstGeom>
          <a:noFill/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7" name="Google Shape;177;p24"/>
          <p:cNvSpPr/>
          <p:nvPr/>
        </p:nvSpPr>
        <p:spPr>
          <a:xfrm>
            <a:off x="6949440" y="1801368"/>
            <a:ext cx="274320" cy="274320"/>
          </a:xfrm>
          <a:prstGeom prst="ellipse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4"/>
          <p:cNvSpPr/>
          <p:nvPr/>
        </p:nvSpPr>
        <p:spPr>
          <a:xfrm>
            <a:off x="6949440" y="180136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②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4"/>
          <p:cNvSpPr/>
          <p:nvPr/>
        </p:nvSpPr>
        <p:spPr>
          <a:xfrm>
            <a:off x="7269480" y="1801368"/>
            <a:ext cx="1417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11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Estimate delay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11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each target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0" name="Google Shape;180;p24"/>
          <p:cNvCxnSpPr/>
          <p:nvPr/>
        </p:nvCxnSpPr>
        <p:spPr>
          <a:xfrm>
            <a:off x="7086600" y="2093976"/>
            <a:ext cx="0" cy="256032"/>
          </a:xfrm>
          <a:prstGeom prst="straightConnector1">
            <a:avLst/>
          </a:prstGeom>
          <a:noFill/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1" name="Google Shape;181;p24"/>
          <p:cNvSpPr/>
          <p:nvPr/>
        </p:nvSpPr>
        <p:spPr>
          <a:xfrm>
            <a:off x="6949440" y="2368296"/>
            <a:ext cx="274320" cy="274320"/>
          </a:xfrm>
          <a:prstGeom prst="ellipse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4"/>
          <p:cNvSpPr/>
          <p:nvPr/>
        </p:nvSpPr>
        <p:spPr>
          <a:xfrm>
            <a:off x="6949440" y="2368296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③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4"/>
          <p:cNvSpPr/>
          <p:nvPr/>
        </p:nvSpPr>
        <p:spPr>
          <a:xfrm>
            <a:off x="7269480" y="2368296"/>
            <a:ext cx="1417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11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 target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11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(SDF / DDQN)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4" name="Google Shape;184;p24"/>
          <p:cNvCxnSpPr/>
          <p:nvPr/>
        </p:nvCxnSpPr>
        <p:spPr>
          <a:xfrm>
            <a:off x="7086600" y="2660904"/>
            <a:ext cx="0" cy="256032"/>
          </a:xfrm>
          <a:prstGeom prst="straightConnector1">
            <a:avLst/>
          </a:prstGeom>
          <a:noFill/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5" name="Google Shape;185;p24"/>
          <p:cNvSpPr/>
          <p:nvPr/>
        </p:nvSpPr>
        <p:spPr>
          <a:xfrm>
            <a:off x="6949440" y="2935224"/>
            <a:ext cx="274320" cy="274320"/>
          </a:xfrm>
          <a:prstGeom prst="ellipse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4"/>
          <p:cNvSpPr/>
          <p:nvPr/>
        </p:nvSpPr>
        <p:spPr>
          <a:xfrm>
            <a:off x="6949440" y="2935224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④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4"/>
          <p:cNvSpPr/>
          <p:nvPr/>
        </p:nvSpPr>
        <p:spPr>
          <a:xfrm>
            <a:off x="7269480" y="2935224"/>
            <a:ext cx="1417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11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Transmit data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11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over D2D link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8" name="Google Shape;188;p24"/>
          <p:cNvCxnSpPr/>
          <p:nvPr/>
        </p:nvCxnSpPr>
        <p:spPr>
          <a:xfrm>
            <a:off x="7086600" y="3227832"/>
            <a:ext cx="0" cy="256032"/>
          </a:xfrm>
          <a:prstGeom prst="straightConnector1">
            <a:avLst/>
          </a:prstGeom>
          <a:noFill/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9" name="Google Shape;189;p24"/>
          <p:cNvSpPr/>
          <p:nvPr/>
        </p:nvSpPr>
        <p:spPr>
          <a:xfrm>
            <a:off x="6949440" y="3502152"/>
            <a:ext cx="274320" cy="274320"/>
          </a:xfrm>
          <a:prstGeom prst="ellipse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4"/>
          <p:cNvSpPr/>
          <p:nvPr/>
        </p:nvSpPr>
        <p:spPr>
          <a:xfrm>
            <a:off x="6949440" y="3502152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⑤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4"/>
          <p:cNvSpPr/>
          <p:nvPr/>
        </p:nvSpPr>
        <p:spPr>
          <a:xfrm>
            <a:off x="7269480" y="3502152"/>
            <a:ext cx="1417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11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Execute on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11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target CPU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2" name="Google Shape;192;p24"/>
          <p:cNvCxnSpPr/>
          <p:nvPr/>
        </p:nvCxnSpPr>
        <p:spPr>
          <a:xfrm>
            <a:off x="7086600" y="3794760"/>
            <a:ext cx="0" cy="256032"/>
          </a:xfrm>
          <a:prstGeom prst="straightConnector1">
            <a:avLst/>
          </a:prstGeom>
          <a:noFill/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3" name="Google Shape;193;p24"/>
          <p:cNvSpPr/>
          <p:nvPr/>
        </p:nvSpPr>
        <p:spPr>
          <a:xfrm>
            <a:off x="6949440" y="4069080"/>
            <a:ext cx="274320" cy="274320"/>
          </a:xfrm>
          <a:prstGeom prst="ellipse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4"/>
          <p:cNvSpPr/>
          <p:nvPr/>
        </p:nvSpPr>
        <p:spPr>
          <a:xfrm>
            <a:off x="6949440" y="406908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⑥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4"/>
          <p:cNvSpPr/>
          <p:nvPr/>
        </p:nvSpPr>
        <p:spPr>
          <a:xfrm>
            <a:off x="7269480" y="4069080"/>
            <a:ext cx="1417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11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T_soj ≤ τ?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11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Success / Fail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4"/>
          <p:cNvSpPr/>
          <p:nvPr/>
        </p:nvSpPr>
        <p:spPr>
          <a:xfrm>
            <a:off x="502920" y="3749040"/>
            <a:ext cx="219600" cy="164700"/>
          </a:xfrm>
          <a:prstGeom prst="ellipse">
            <a:avLst/>
          </a:prstGeom>
          <a:solidFill>
            <a:srgbClr val="BC933E"/>
          </a:solidFill>
          <a:ln cap="flat" cmpd="sng" w="12700">
            <a:solidFill>
              <a:srgbClr val="BC93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4"/>
          <p:cNvSpPr/>
          <p:nvPr/>
        </p:nvSpPr>
        <p:spPr>
          <a:xfrm>
            <a:off x="786384" y="3749040"/>
            <a:ext cx="2103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444848"/>
                </a:solidFill>
                <a:latin typeface="Arial"/>
                <a:ea typeface="Arial"/>
                <a:cs typeface="Arial"/>
                <a:sym typeface="Arial"/>
              </a:rPr>
              <a:t>= Source (offloading)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4"/>
          <p:cNvSpPr/>
          <p:nvPr/>
        </p:nvSpPr>
        <p:spPr>
          <a:xfrm>
            <a:off x="502920" y="4005072"/>
            <a:ext cx="219600" cy="164700"/>
          </a:xfrm>
          <a:prstGeom prst="ellipse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4"/>
          <p:cNvSpPr/>
          <p:nvPr/>
        </p:nvSpPr>
        <p:spPr>
          <a:xfrm>
            <a:off x="786384" y="4005072"/>
            <a:ext cx="2103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444848"/>
                </a:solidFill>
                <a:latin typeface="Arial"/>
                <a:ea typeface="Arial"/>
                <a:cs typeface="Arial"/>
                <a:sym typeface="Arial"/>
              </a:rPr>
              <a:t>= Target (receiving)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4"/>
          <p:cNvSpPr/>
          <p:nvPr/>
        </p:nvSpPr>
        <p:spPr>
          <a:xfrm>
            <a:off x="502920" y="4261104"/>
            <a:ext cx="219600" cy="164700"/>
          </a:xfrm>
          <a:prstGeom prst="ellipse">
            <a:avLst/>
          </a:prstGeom>
          <a:solidFill>
            <a:srgbClr val="BC933E"/>
          </a:solidFill>
          <a:ln cap="flat" cmpd="sng" w="12700">
            <a:solidFill>
              <a:srgbClr val="BC93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4"/>
          <p:cNvSpPr/>
          <p:nvPr/>
        </p:nvSpPr>
        <p:spPr>
          <a:xfrm>
            <a:off x="786384" y="4261104"/>
            <a:ext cx="2103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444848"/>
                </a:solidFill>
                <a:latin typeface="Arial"/>
                <a:ea typeface="Arial"/>
                <a:cs typeface="Arial"/>
                <a:sym typeface="Arial"/>
              </a:rPr>
              <a:t>── Active offload link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4"/>
          <p:cNvSpPr/>
          <p:nvPr/>
        </p:nvSpPr>
        <p:spPr>
          <a:xfrm>
            <a:off x="457200" y="4462272"/>
            <a:ext cx="6400800" cy="365760"/>
          </a:xfrm>
          <a:prstGeom prst="rect">
            <a:avLst/>
          </a:prstGeom>
          <a:solidFill>
            <a:srgbClr val="EAE8E4"/>
          </a:solidFill>
          <a:ln cap="flat" cmpd="sng" w="12700">
            <a:solidFill>
              <a:srgbClr val="EAE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4"/>
          <p:cNvSpPr/>
          <p:nvPr/>
        </p:nvSpPr>
        <p:spPr>
          <a:xfrm>
            <a:off x="457200" y="4462272"/>
            <a:ext cx="73152" cy="365760"/>
          </a:xfrm>
          <a:prstGeom prst="rect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4"/>
          <p:cNvSpPr/>
          <p:nvPr/>
        </p:nvSpPr>
        <p:spPr>
          <a:xfrm>
            <a:off x="594360" y="4462272"/>
            <a:ext cx="61996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4A0D0B"/>
                </a:solidFill>
                <a:latin typeface="Arial"/>
                <a:ea typeface="Arial"/>
                <a:cs typeface="Arial"/>
                <a:sym typeface="Arial"/>
              </a:rPr>
              <a:t>T_soj = t_trans + W_q + t_exec = X/BW_eff + W_q + Y/f_i   →   Success iff T_soj ≤ τ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1EE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6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1916"/>
              </a:buClr>
              <a:buSzPts val="2600"/>
              <a:buFont typeface="Calibri"/>
              <a:buNone/>
            </a:pPr>
            <a:r>
              <a:rPr b="1" i="0" lang="en-US" sz="3500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Assumptions &amp; Game Theory Framework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6"/>
          <p:cNvSpPr/>
          <p:nvPr/>
        </p:nvSpPr>
        <p:spPr>
          <a:xfrm>
            <a:off x="457200" y="868680"/>
            <a:ext cx="8229600" cy="22860"/>
          </a:xfrm>
          <a:prstGeom prst="rect">
            <a:avLst/>
          </a:prstGeom>
          <a:solidFill>
            <a:srgbClr val="EAE8E4"/>
          </a:solidFill>
          <a:ln cap="flat" cmpd="sng" w="12700">
            <a:solidFill>
              <a:srgbClr val="EAE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4507992" y="4892040"/>
            <a:ext cx="128016" cy="128016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7498080" y="450799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2026   |   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6"/>
          <p:cNvSpPr/>
          <p:nvPr/>
        </p:nvSpPr>
        <p:spPr>
          <a:xfrm>
            <a:off x="457200" y="987552"/>
            <a:ext cx="4023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1916"/>
              </a:buClr>
              <a:buSzPts val="1500"/>
              <a:buFont typeface="Calibri"/>
              <a:buNone/>
            </a:pPr>
            <a:r>
              <a:rPr b="1" i="0" lang="en-US" sz="1600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Key Assumptions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6"/>
          <p:cNvSpPr/>
          <p:nvPr/>
        </p:nvSpPr>
        <p:spPr>
          <a:xfrm>
            <a:off x="457225" y="1412725"/>
            <a:ext cx="4023300" cy="21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Poisson task arrivals — memoryless inter-arrival times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device processes one task at a time (single server)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Tasks have hard deadlines τ — no partial credit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Devices are selfish — each maximises its own TCR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devices can observe network state (M4: relaxed)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4663440" y="987552"/>
            <a:ext cx="4023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1916"/>
              </a:buClr>
              <a:buSzPts val="15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Non-Cooperative Game  G = (N, A, P)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4663440" y="1389888"/>
            <a:ext cx="4023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1916"/>
              </a:buClr>
              <a:buSzPts val="1200"/>
              <a:buFont typeface="Calibri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 — Players:  </a:t>
            </a: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N mobile devices in the network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4663440" y="1828800"/>
            <a:ext cx="4023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1916"/>
              </a:buClr>
              <a:buSzPts val="1200"/>
              <a:buFont typeface="Calibri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— Actions:  </a:t>
            </a: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Which node to offload to (incl. local)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6"/>
          <p:cNvSpPr/>
          <p:nvPr/>
        </p:nvSpPr>
        <p:spPr>
          <a:xfrm>
            <a:off x="4663440" y="2267712"/>
            <a:ext cx="4023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1916"/>
              </a:buClr>
              <a:buSzPts val="1200"/>
              <a:buFont typeface="Calibri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 — Payoff:  </a:t>
            </a: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Πᵢ = P(task i meets deadline | choice)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6"/>
          <p:cNvSpPr/>
          <p:nvPr/>
        </p:nvSpPr>
        <p:spPr>
          <a:xfrm>
            <a:off x="4663440" y="2706624"/>
            <a:ext cx="4023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1916"/>
              </a:buClr>
              <a:buSzPts val="1200"/>
              <a:buFont typeface="Calibri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Congestion Externality:  </a:t>
            </a: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offload worsens others' success rate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6"/>
          <p:cNvSpPr/>
          <p:nvPr/>
        </p:nvSpPr>
        <p:spPr>
          <a:xfrm>
            <a:off x="4663440" y="3145536"/>
            <a:ext cx="4023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1916"/>
              </a:buClr>
              <a:buSzPts val="1200"/>
              <a:buFont typeface="Calibri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Nash Equilibrium:  </a:t>
            </a: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device gains by changing strategy alone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6"/>
          <p:cNvSpPr/>
          <p:nvPr/>
        </p:nvSpPr>
        <p:spPr>
          <a:xfrm>
            <a:off x="457200" y="3730752"/>
            <a:ext cx="8229600" cy="530352"/>
          </a:xfrm>
          <a:prstGeom prst="rect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6"/>
          <p:cNvSpPr/>
          <p:nvPr/>
        </p:nvSpPr>
        <p:spPr>
          <a:xfrm>
            <a:off x="594360" y="3749040"/>
            <a:ext cx="795528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Theorem (Potential Game):  </a:t>
            </a: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offloading game is a Potential Game → Nash Equilibrium always exists &amp; converges.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1EE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7"/>
          <p:cNvSpPr/>
          <p:nvPr/>
        </p:nvSpPr>
        <p:spPr>
          <a:xfrm>
            <a:off x="457200" y="256026"/>
            <a:ext cx="8229600" cy="45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1916"/>
              </a:buClr>
              <a:buSzPts val="2600"/>
              <a:buFont typeface="Calibri"/>
              <a:buNone/>
            </a:pPr>
            <a:r>
              <a:rPr b="1" i="0" lang="en-US" sz="3500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Mathematical Model: Random Variables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7"/>
          <p:cNvSpPr/>
          <p:nvPr/>
        </p:nvSpPr>
        <p:spPr>
          <a:xfrm>
            <a:off x="457200" y="868680"/>
            <a:ext cx="8229600" cy="22860"/>
          </a:xfrm>
          <a:prstGeom prst="rect">
            <a:avLst/>
          </a:prstGeom>
          <a:solidFill>
            <a:srgbClr val="EAE8E4"/>
          </a:solidFill>
          <a:ln cap="flat" cmpd="sng" w="12700">
            <a:solidFill>
              <a:srgbClr val="EAE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7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7"/>
          <p:cNvSpPr/>
          <p:nvPr/>
        </p:nvSpPr>
        <p:spPr>
          <a:xfrm>
            <a:off x="4507992" y="4892040"/>
            <a:ext cx="128016" cy="128016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7"/>
          <p:cNvSpPr/>
          <p:nvPr/>
        </p:nvSpPr>
        <p:spPr>
          <a:xfrm>
            <a:off x="7533170" y="4507989"/>
            <a:ext cx="1428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2026   |   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5" name="Google Shape;235;p7"/>
          <p:cNvGraphicFramePr/>
          <p:nvPr/>
        </p:nvGraphicFramePr>
        <p:xfrm>
          <a:off x="482645" y="83488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{3027E2C3-9FC2-4D8F-B117-58EA10EDBB89}</a:tableStyleId>
              </a:tblPr>
              <a:tblGrid>
                <a:gridCol w="776950"/>
                <a:gridCol w="1173575"/>
                <a:gridCol w="1842900"/>
                <a:gridCol w="4385225"/>
              </a:tblGrid>
              <a:tr h="489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</a:rPr>
                        <a:t>Symbol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D19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</a:rPr>
                        <a:t>Name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D19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</a:rPr>
                        <a:t>Distribution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D19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</a:rPr>
                        <a:t>Role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D1916"/>
                    </a:solidFill>
                  </a:tcPr>
                </a:tc>
              </a:tr>
              <a:tr h="431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848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350" u="none" cap="none" strike="noStrike">
                          <a:solidFill>
                            <a:schemeClr val="dk1"/>
                          </a:solidFill>
                        </a:rPr>
                        <a:t>X</a:t>
                      </a:r>
                      <a:endParaRPr sz="13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8E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848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350" u="none" cap="none" strike="noStrike">
                          <a:solidFill>
                            <a:schemeClr val="dk1"/>
                          </a:solidFill>
                        </a:rPr>
                        <a:t>Task Size</a:t>
                      </a:r>
                      <a:endParaRPr sz="13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8E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848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350" u="none" cap="none" strike="noStrike">
                          <a:solidFill>
                            <a:schemeClr val="dk1"/>
                          </a:solidFill>
                        </a:rPr>
                        <a:t>Uniform(0.1, 1.0) MB</a:t>
                      </a:r>
                      <a:endParaRPr sz="13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8E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848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350" u="none" cap="none" strike="noStrike">
                          <a:solidFill>
                            <a:schemeClr val="dk1"/>
                          </a:solidFill>
                        </a:rPr>
                        <a:t>Drives transmission time t_trans = X / BW_eff</a:t>
                      </a:r>
                      <a:endParaRPr sz="13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8E4"/>
                    </a:solidFill>
                  </a:tcPr>
                </a:tc>
              </a:tr>
              <a:tr h="431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848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350" u="none" cap="none" strike="noStrike">
                          <a:solidFill>
                            <a:schemeClr val="dk1"/>
                          </a:solidFill>
                        </a:rPr>
                        <a:t>Y</a:t>
                      </a:r>
                      <a:endParaRPr sz="13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A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848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350" u="none" cap="none" strike="noStrike">
                          <a:solidFill>
                            <a:schemeClr val="dk1"/>
                          </a:solidFill>
                        </a:rPr>
                        <a:t>CPU Cycles</a:t>
                      </a:r>
                      <a:endParaRPr sz="13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A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848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350" u="none" cap="none" strike="noStrike">
                          <a:solidFill>
                            <a:schemeClr val="dk1"/>
                          </a:solidFill>
                        </a:rPr>
                        <a:t>Y = 5X + ε, ε~N(0.5,0.01)</a:t>
                      </a:r>
                      <a:endParaRPr sz="13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A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848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350" u="none" cap="none" strike="noStrike">
                          <a:solidFill>
                            <a:schemeClr val="dk1"/>
                          </a:solidFill>
                        </a:rPr>
                        <a:t>Execution time t_exec = Y / f_i ; correlated with X</a:t>
                      </a:r>
                      <a:endParaRPr sz="13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AE6"/>
                    </a:solidFill>
                  </a:tcPr>
                </a:tc>
              </a:tr>
              <a:tr h="431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848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350" u="none" cap="none" strike="noStrike">
                          <a:solidFill>
                            <a:schemeClr val="dk1"/>
                          </a:solidFill>
                        </a:rPr>
                        <a:t>T_inter</a:t>
                      </a:r>
                      <a:endParaRPr sz="13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8E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848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350" u="none" cap="none" strike="noStrike">
                          <a:solidFill>
                            <a:schemeClr val="dk1"/>
                          </a:solidFill>
                        </a:rPr>
                        <a:t>Inter-Arrival</a:t>
                      </a:r>
                      <a:endParaRPr sz="13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8E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848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350" u="none" cap="none" strike="noStrike">
                          <a:solidFill>
                            <a:schemeClr val="dk1"/>
                          </a:solidFill>
                        </a:rPr>
                        <a:t>Exponential(λ)</a:t>
                      </a:r>
                      <a:endParaRPr sz="13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8E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848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350" u="none" cap="none" strike="noStrike">
                          <a:solidFill>
                            <a:schemeClr val="dk1"/>
                          </a:solidFill>
                        </a:rPr>
                        <a:t>Controls Poisson task arrival jitter</a:t>
                      </a:r>
                      <a:endParaRPr sz="13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8E4"/>
                    </a:solidFill>
                  </a:tcPr>
                </a:tc>
              </a:tr>
              <a:tr h="475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848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350" u="none" cap="none" strike="noStrike">
                          <a:solidFill>
                            <a:schemeClr val="dk1"/>
                          </a:solidFill>
                        </a:rPr>
                        <a:t>τ</a:t>
                      </a:r>
                      <a:endParaRPr sz="13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A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848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350" u="none" cap="none" strike="noStrike">
                          <a:solidFill>
                            <a:schemeClr val="dk1"/>
                          </a:solidFill>
                        </a:rPr>
                        <a:t>Deadline</a:t>
                      </a:r>
                      <a:endParaRPr sz="13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A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848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350" u="none" cap="none" strike="noStrike">
                          <a:solidFill>
                            <a:schemeClr val="dk1"/>
                          </a:solidFill>
                        </a:rPr>
                        <a:t>3.0 s (X&lt;0.5) / 5.0 s (X≥0.5)</a:t>
                      </a:r>
                      <a:endParaRPr sz="13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A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848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350" u="none" cap="none" strike="noStrike">
                          <a:solidFill>
                            <a:schemeClr val="dk1"/>
                          </a:solidFill>
                        </a:rPr>
                        <a:t>Hard threshold: success iff T_soj ≤ τ</a:t>
                      </a:r>
                      <a:endParaRPr sz="13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AE6"/>
                    </a:solidFill>
                  </a:tcPr>
                </a:tc>
              </a:tr>
              <a:tr h="475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848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350" u="none" cap="none" strike="noStrike">
                          <a:solidFill>
                            <a:schemeClr val="dk1"/>
                          </a:solidFill>
                        </a:rPr>
                        <a:t>f_i</a:t>
                      </a:r>
                      <a:endParaRPr sz="13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8E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848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350" u="none" cap="none" strike="noStrike">
                          <a:solidFill>
                            <a:schemeClr val="dk1"/>
                          </a:solidFill>
                        </a:rPr>
                        <a:t>CPU Frequency</a:t>
                      </a:r>
                      <a:endParaRPr sz="13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8E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848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350" u="none" cap="none" strike="noStrike">
                          <a:solidFill>
                            <a:schemeClr val="dk1"/>
                          </a:solidFill>
                        </a:rPr>
                        <a:t>Uniform(1.0, 2.5) GHz</a:t>
                      </a:r>
                      <a:endParaRPr sz="13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8E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848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350" u="none" cap="none" strike="noStrike">
                          <a:solidFill>
                            <a:schemeClr val="dk1"/>
                          </a:solidFill>
                        </a:rPr>
                        <a:t>Device heterogeneity — faster CPU → less exec time</a:t>
                      </a:r>
                      <a:endParaRPr sz="13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8E4"/>
                    </a:solidFill>
                  </a:tcPr>
                </a:tc>
              </a:tr>
              <a:tr h="431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848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350" u="none" cap="none" strike="noStrike">
                          <a:solidFill>
                            <a:schemeClr val="dk1"/>
                          </a:solidFill>
                        </a:rPr>
                        <a:t>d_ij</a:t>
                      </a:r>
                      <a:endParaRPr sz="13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A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848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350" u="none" cap="none" strike="noStrike">
                          <a:solidFill>
                            <a:schemeClr val="dk1"/>
                          </a:solidFill>
                        </a:rPr>
                        <a:t>Distance</a:t>
                      </a:r>
                      <a:endParaRPr sz="13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A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848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350" u="none" cap="none" strike="noStrike">
                          <a:solidFill>
                            <a:schemeClr val="dk1"/>
                          </a:solidFill>
                        </a:rPr>
                        <a:t>Uniform(5, 50) metres</a:t>
                      </a:r>
                      <a:endParaRPr sz="13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A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848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350" u="none" cap="none" strike="noStrike">
                          <a:solidFill>
                            <a:schemeClr val="dk1"/>
                          </a:solidFill>
                        </a:rPr>
                        <a:t>Determines BW_eff and transmission delay</a:t>
                      </a:r>
                      <a:endParaRPr sz="13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AE6"/>
                    </a:solidFill>
                  </a:tcPr>
                </a:tc>
              </a:tr>
            </a:tbl>
          </a:graphicData>
        </a:graphic>
      </p:graphicFrame>
      <p:sp>
        <p:nvSpPr>
          <p:cNvPr id="236" name="Google Shape;236;p7"/>
          <p:cNvSpPr/>
          <p:nvPr/>
        </p:nvSpPr>
        <p:spPr>
          <a:xfrm>
            <a:off x="482650" y="4352575"/>
            <a:ext cx="8389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191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Key Derived Variables:  </a:t>
            </a:r>
            <a:r>
              <a:rPr b="1" i="0" lang="en-US" sz="1100" u="none" cap="none" strike="noStrike">
                <a:solidFill>
                  <a:srgbClr val="444848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="1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_q (queue wait)   ·   BW_eff = BW_base/(1+(d/20)²)   ·   T_soj = t_trans + W_q + t_exec   ·   Y_i ∈ {0,1}</a:t>
            </a:r>
            <a:endParaRPr b="1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1EE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8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1916"/>
              </a:buClr>
              <a:buSzPts val="2600"/>
              <a:buFont typeface="Calibri"/>
              <a:buNone/>
            </a:pPr>
            <a:r>
              <a:rPr b="1" i="0" lang="en-US" sz="3500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Mathematical Model: Sojourn Time &amp; TCR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8"/>
          <p:cNvSpPr/>
          <p:nvPr/>
        </p:nvSpPr>
        <p:spPr>
          <a:xfrm>
            <a:off x="457200" y="868680"/>
            <a:ext cx="8229600" cy="22860"/>
          </a:xfrm>
          <a:prstGeom prst="rect">
            <a:avLst/>
          </a:prstGeom>
          <a:solidFill>
            <a:srgbClr val="EAE8E4"/>
          </a:solidFill>
          <a:ln cap="flat" cmpd="sng" w="12700">
            <a:solidFill>
              <a:srgbClr val="EAE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8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8"/>
          <p:cNvSpPr/>
          <p:nvPr/>
        </p:nvSpPr>
        <p:spPr>
          <a:xfrm>
            <a:off x="4507992" y="4892040"/>
            <a:ext cx="128016" cy="128016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8"/>
          <p:cNvSpPr/>
          <p:nvPr/>
        </p:nvSpPr>
        <p:spPr>
          <a:xfrm>
            <a:off x="7498080" y="450799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2026   |   10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8"/>
          <p:cNvSpPr/>
          <p:nvPr/>
        </p:nvSpPr>
        <p:spPr>
          <a:xfrm>
            <a:off x="457200" y="987552"/>
            <a:ext cx="8229600" cy="1508760"/>
          </a:xfrm>
          <a:prstGeom prst="rect">
            <a:avLst/>
          </a:prstGeom>
          <a:solidFill>
            <a:srgbClr val="EAE8E4"/>
          </a:solidFill>
          <a:ln cap="flat" cmpd="sng" w="12700">
            <a:solidFill>
              <a:srgbClr val="EAE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8"/>
          <p:cNvSpPr/>
          <p:nvPr/>
        </p:nvSpPr>
        <p:spPr>
          <a:xfrm>
            <a:off x="457200" y="987552"/>
            <a:ext cx="91440" cy="1508760"/>
          </a:xfrm>
          <a:prstGeom prst="rect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8"/>
          <p:cNvSpPr/>
          <p:nvPr/>
        </p:nvSpPr>
        <p:spPr>
          <a:xfrm>
            <a:off x="658368" y="1024128"/>
            <a:ext cx="7772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1916"/>
              </a:buClr>
              <a:buSzPts val="1500"/>
              <a:buFont typeface="Calibri"/>
              <a:buNone/>
            </a:pPr>
            <a:r>
              <a:rPr b="1" i="0" lang="en-US" sz="2000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Sojourn Time Decomposition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8"/>
          <p:cNvSpPr/>
          <p:nvPr/>
        </p:nvSpPr>
        <p:spPr>
          <a:xfrm>
            <a:off x="658368" y="1371600"/>
            <a:ext cx="7772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848"/>
              </a:buClr>
              <a:buSzPts val="1600"/>
              <a:buFont typeface="Calibri"/>
              <a:buNone/>
            </a:pPr>
            <a:r>
              <a:rPr b="1" i="0" lang="en-US" sz="2100" u="none" cap="none" strike="noStrike">
                <a:solidFill>
                  <a:srgbClr val="444848"/>
                </a:solidFill>
                <a:latin typeface="Calibri"/>
                <a:ea typeface="Calibri"/>
                <a:cs typeface="Calibri"/>
                <a:sym typeface="Calibri"/>
              </a:rPr>
              <a:t>T_soj  =  t_trans  +  W_q  +  t_exec  =  X/BW_eff  +  W_q  +  Y/f_i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8"/>
          <p:cNvSpPr/>
          <p:nvPr/>
        </p:nvSpPr>
        <p:spPr>
          <a:xfrm>
            <a:off x="658368" y="1755648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848"/>
              </a:buClr>
              <a:buSzPts val="1200"/>
              <a:buFont typeface="Calibri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Success:  Y_i = 1  iff  T_soj ≤ τ  (hard deadline)        Failure:  Y_i = 0  otherwise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8"/>
          <p:cNvSpPr/>
          <p:nvPr/>
        </p:nvSpPr>
        <p:spPr>
          <a:xfrm>
            <a:off x="457200" y="2697480"/>
            <a:ext cx="3931920" cy="1554480"/>
          </a:xfrm>
          <a:prstGeom prst="rect">
            <a:avLst/>
          </a:prstGeom>
          <a:solidFill>
            <a:srgbClr val="EAE8E4"/>
          </a:solidFill>
          <a:ln cap="flat" cmpd="sng" w="12700">
            <a:solidFill>
              <a:srgbClr val="EAE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8"/>
          <p:cNvSpPr/>
          <p:nvPr/>
        </p:nvSpPr>
        <p:spPr>
          <a:xfrm>
            <a:off x="566928" y="2761488"/>
            <a:ext cx="3657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1916"/>
              </a:buClr>
              <a:buSzPts val="1300"/>
              <a:buFont typeface="Calibri"/>
              <a:buNone/>
            </a:pPr>
            <a:r>
              <a:rPr b="1" i="0" lang="en-US" sz="1800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M/G/1 Queue — Completion CDF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8"/>
          <p:cNvSpPr/>
          <p:nvPr/>
        </p:nvSpPr>
        <p:spPr>
          <a:xfrm>
            <a:off x="566928" y="3127248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848"/>
              </a:buClr>
              <a:buSzPts val="1400"/>
              <a:buFont typeface="Calibri"/>
              <a:buNone/>
            </a:pPr>
            <a:r>
              <a:rPr b="1" i="0" lang="en-US" sz="1700" u="none" cap="none" strike="noStrike">
                <a:solidFill>
                  <a:srgbClr val="444848"/>
                </a:solidFill>
                <a:latin typeface="Calibri"/>
                <a:ea typeface="Calibri"/>
                <a:cs typeface="Calibri"/>
                <a:sym typeface="Calibri"/>
              </a:rPr>
              <a:t>F(τ) = 1 − exp(−(μ − λ) × τ_eff)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8"/>
          <p:cNvSpPr/>
          <p:nvPr/>
        </p:nvSpPr>
        <p:spPr>
          <a:xfrm>
            <a:off x="566928" y="3520440"/>
            <a:ext cx="3657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848"/>
              </a:buClr>
              <a:buSzPts val="11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μ = service rate,  λ = arrival rate,  τ_eff = τ − t_trans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848"/>
              </a:buClr>
              <a:buSzPts val="11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Stability requires: μ &gt; λ  (net service rate must be positive)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8"/>
          <p:cNvSpPr/>
          <p:nvPr/>
        </p:nvSpPr>
        <p:spPr>
          <a:xfrm>
            <a:off x="4754880" y="2697480"/>
            <a:ext cx="3931920" cy="1554480"/>
          </a:xfrm>
          <a:prstGeom prst="rect">
            <a:avLst/>
          </a:prstGeom>
          <a:solidFill>
            <a:srgbClr val="EAE8E4"/>
          </a:solidFill>
          <a:ln cap="flat" cmpd="sng" w="12700">
            <a:solidFill>
              <a:srgbClr val="EAE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8"/>
          <p:cNvSpPr/>
          <p:nvPr/>
        </p:nvSpPr>
        <p:spPr>
          <a:xfrm>
            <a:off x="4864608" y="2761488"/>
            <a:ext cx="3657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1916"/>
              </a:buClr>
              <a:buSzPts val="1300"/>
              <a:buFont typeface="Calibri"/>
              <a:buNone/>
            </a:pPr>
            <a:r>
              <a:rPr b="1" i="0" lang="en-US" sz="1800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Task Completion Rate (TCR)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8"/>
          <p:cNvSpPr/>
          <p:nvPr/>
        </p:nvSpPr>
        <p:spPr>
          <a:xfrm>
            <a:off x="4864608" y="3127248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848"/>
              </a:buClr>
              <a:buSzPts val="1400"/>
              <a:buFont typeface="Calibri"/>
              <a:buNone/>
            </a:pPr>
            <a:r>
              <a:rPr b="1" i="0" lang="en-US" sz="1700" u="none" cap="none" strike="noStrike">
                <a:solidFill>
                  <a:srgbClr val="444848"/>
                </a:solidFill>
                <a:latin typeface="Calibri"/>
                <a:ea typeface="Calibri"/>
                <a:cs typeface="Calibri"/>
                <a:sym typeface="Calibri"/>
              </a:rPr>
              <a:t>TCR  =  P(T_soj ≤ τ)  =  E[Σᵢ Yᵢ] / 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8"/>
          <p:cNvSpPr/>
          <p:nvPr/>
        </p:nvSpPr>
        <p:spPr>
          <a:xfrm>
            <a:off x="4864608" y="3520440"/>
            <a:ext cx="3657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848"/>
              </a:buClr>
              <a:buSzPts val="1100"/>
              <a:buFont typeface="Calibri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system goal: MAXIMISE TCR.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848"/>
              </a:buClr>
              <a:buSzPts val="1100"/>
              <a:buFont typeface="Calibri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Every algorithm, every formula serves this objective.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6F3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8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800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Sojourn Time: Decomposition &amp; Random Variable Flow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28"/>
          <p:cNvSpPr/>
          <p:nvPr/>
        </p:nvSpPr>
        <p:spPr>
          <a:xfrm>
            <a:off x="457200" y="713232"/>
            <a:ext cx="8229600" cy="27432"/>
          </a:xfrm>
          <a:prstGeom prst="rect">
            <a:avLst/>
          </a:prstGeom>
          <a:solidFill>
            <a:srgbClr val="EAE8E4"/>
          </a:solidFill>
          <a:ln cap="flat" cmpd="sng" w="12700">
            <a:solidFill>
              <a:srgbClr val="EAE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28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28"/>
          <p:cNvSpPr/>
          <p:nvPr/>
        </p:nvSpPr>
        <p:spPr>
          <a:xfrm>
            <a:off x="4507992" y="4878324"/>
            <a:ext cx="128016" cy="128016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28"/>
          <p:cNvSpPr/>
          <p:nvPr/>
        </p:nvSpPr>
        <p:spPr>
          <a:xfrm>
            <a:off x="7498080" y="4498848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2026   |   11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28"/>
          <p:cNvSpPr/>
          <p:nvPr/>
        </p:nvSpPr>
        <p:spPr>
          <a:xfrm>
            <a:off x="457200" y="804672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450" u="none" cap="none" strike="noStrike">
                <a:solidFill>
                  <a:srgbClr val="4A0D0B"/>
                </a:solidFill>
                <a:latin typeface="Calibri"/>
                <a:ea typeface="Calibri"/>
                <a:cs typeface="Calibri"/>
                <a:sym typeface="Calibri"/>
              </a:rPr>
              <a:t>Every component of T_soj is itself a random variable driven by other random variables</a:t>
            </a:r>
            <a:endParaRPr b="0" i="0" sz="1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28"/>
          <p:cNvSpPr/>
          <p:nvPr/>
        </p:nvSpPr>
        <p:spPr>
          <a:xfrm>
            <a:off x="457200" y="1042416"/>
            <a:ext cx="8229600" cy="493776"/>
          </a:xfrm>
          <a:prstGeom prst="rect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28"/>
          <p:cNvSpPr/>
          <p:nvPr/>
        </p:nvSpPr>
        <p:spPr>
          <a:xfrm>
            <a:off x="457200" y="1042416"/>
            <a:ext cx="82296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T_soj  =  t_trans  +  W_q  +  t_exec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2" name="Google Shape;272;p28"/>
          <p:cNvCxnSpPr/>
          <p:nvPr/>
        </p:nvCxnSpPr>
        <p:spPr>
          <a:xfrm>
            <a:off x="1783080" y="1536192"/>
            <a:ext cx="0" cy="109728"/>
          </a:xfrm>
          <a:prstGeom prst="straightConnector1">
            <a:avLst/>
          </a:prstGeom>
          <a:noFill/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3" name="Google Shape;273;p28"/>
          <p:cNvSpPr/>
          <p:nvPr/>
        </p:nvSpPr>
        <p:spPr>
          <a:xfrm>
            <a:off x="457200" y="1664208"/>
            <a:ext cx="2651760" cy="987552"/>
          </a:xfrm>
          <a:prstGeom prst="rect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28"/>
          <p:cNvSpPr/>
          <p:nvPr/>
        </p:nvSpPr>
        <p:spPr>
          <a:xfrm>
            <a:off x="530352" y="1682496"/>
            <a:ext cx="250545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t_trans  =  X / BW_eff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28"/>
          <p:cNvSpPr/>
          <p:nvPr/>
        </p:nvSpPr>
        <p:spPr>
          <a:xfrm>
            <a:off x="530352" y="1984248"/>
            <a:ext cx="2505456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Transmission delay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Task data travels over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wireless D2D link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6" name="Google Shape;276;p28"/>
          <p:cNvCxnSpPr/>
          <p:nvPr/>
        </p:nvCxnSpPr>
        <p:spPr>
          <a:xfrm>
            <a:off x="4572000" y="1536192"/>
            <a:ext cx="0" cy="109728"/>
          </a:xfrm>
          <a:prstGeom prst="straightConnector1">
            <a:avLst/>
          </a:prstGeom>
          <a:noFill/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7" name="Google Shape;277;p28"/>
          <p:cNvSpPr/>
          <p:nvPr/>
        </p:nvSpPr>
        <p:spPr>
          <a:xfrm>
            <a:off x="3246120" y="1664208"/>
            <a:ext cx="2651760" cy="987552"/>
          </a:xfrm>
          <a:prstGeom prst="rect">
            <a:avLst/>
          </a:prstGeom>
          <a:solidFill>
            <a:srgbClr val="BC933E"/>
          </a:solidFill>
          <a:ln cap="flat" cmpd="sng" w="12700">
            <a:solidFill>
              <a:srgbClr val="BC93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28"/>
          <p:cNvSpPr/>
          <p:nvPr/>
        </p:nvSpPr>
        <p:spPr>
          <a:xfrm>
            <a:off x="3319275" y="1737376"/>
            <a:ext cx="2505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1200" u="none" cap="none" strike="noStrike">
                <a:solidFill>
                  <a:srgbClr val="4A0D0B"/>
                </a:solidFill>
                <a:latin typeface="Consolas"/>
                <a:ea typeface="Consolas"/>
                <a:cs typeface="Consolas"/>
                <a:sym typeface="Consolas"/>
              </a:rPr>
              <a:t>W_q  =  max{0, W_q(t-1) + Y/f_i − T_inter}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28"/>
          <p:cNvSpPr/>
          <p:nvPr/>
        </p:nvSpPr>
        <p:spPr>
          <a:xfrm>
            <a:off x="3319275" y="2103149"/>
            <a:ext cx="2505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1200" u="none" cap="none" strike="noStrike">
                <a:solidFill>
                  <a:srgbClr val="4A0D0B"/>
                </a:solidFill>
                <a:latin typeface="Calibri"/>
                <a:ea typeface="Calibri"/>
                <a:cs typeface="Calibri"/>
                <a:sym typeface="Calibri"/>
              </a:rPr>
              <a:t>Queue waiting time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1200" u="none" cap="none" strike="noStrike">
                <a:solidFill>
                  <a:srgbClr val="4A0D0B"/>
                </a:solidFill>
                <a:latin typeface="Calibri"/>
                <a:ea typeface="Calibri"/>
                <a:cs typeface="Calibri"/>
                <a:sym typeface="Calibri"/>
              </a:rPr>
              <a:t>Most volatile component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1200" u="none" cap="none" strike="noStrike">
                <a:solidFill>
                  <a:srgbClr val="4A0D0B"/>
                </a:solidFill>
                <a:latin typeface="Calibri"/>
                <a:ea typeface="Calibri"/>
                <a:cs typeface="Calibri"/>
                <a:sym typeface="Calibri"/>
              </a:rPr>
              <a:t>Primary Herd Effect driver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0" name="Google Shape;280;p28"/>
          <p:cNvCxnSpPr/>
          <p:nvPr/>
        </p:nvCxnSpPr>
        <p:spPr>
          <a:xfrm>
            <a:off x="7360920" y="1536192"/>
            <a:ext cx="0" cy="109728"/>
          </a:xfrm>
          <a:prstGeom prst="straightConnector1">
            <a:avLst/>
          </a:prstGeom>
          <a:noFill/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1" name="Google Shape;281;p28"/>
          <p:cNvSpPr/>
          <p:nvPr/>
        </p:nvSpPr>
        <p:spPr>
          <a:xfrm>
            <a:off x="6035040" y="1664208"/>
            <a:ext cx="2651760" cy="987552"/>
          </a:xfrm>
          <a:prstGeom prst="rect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28"/>
          <p:cNvSpPr/>
          <p:nvPr/>
        </p:nvSpPr>
        <p:spPr>
          <a:xfrm>
            <a:off x="6108192" y="1682496"/>
            <a:ext cx="250545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t_exec  =  Y / f_i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28"/>
          <p:cNvSpPr/>
          <p:nvPr/>
        </p:nvSpPr>
        <p:spPr>
          <a:xfrm>
            <a:off x="6108192" y="1984248"/>
            <a:ext cx="2505456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Execution delay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CPU processes task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Depends on speed &amp; cycles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4" name="Google Shape;284;p28"/>
          <p:cNvCxnSpPr/>
          <p:nvPr/>
        </p:nvCxnSpPr>
        <p:spPr>
          <a:xfrm>
            <a:off x="1051560" y="2670048"/>
            <a:ext cx="0" cy="128016"/>
          </a:xfrm>
          <a:prstGeom prst="straightConnector1">
            <a:avLst/>
          </a:prstGeom>
          <a:noFill/>
          <a:ln cap="flat" cmpd="sng" w="12700">
            <a:solidFill>
              <a:srgbClr val="BC933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5" name="Google Shape;285;p28"/>
          <p:cNvSpPr/>
          <p:nvPr/>
        </p:nvSpPr>
        <p:spPr>
          <a:xfrm>
            <a:off x="475488" y="2816352"/>
            <a:ext cx="1152144" cy="475488"/>
          </a:xfrm>
          <a:prstGeom prst="rect">
            <a:avLst/>
          </a:prstGeom>
          <a:solidFill>
            <a:srgbClr val="FBF5E8"/>
          </a:solidFill>
          <a:ln cap="flat" cmpd="sng" w="12700">
            <a:solidFill>
              <a:srgbClr val="BC93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8"/>
          <p:cNvSpPr/>
          <p:nvPr/>
        </p:nvSpPr>
        <p:spPr>
          <a:xfrm>
            <a:off x="512064" y="2834640"/>
            <a:ext cx="107899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n-US" sz="950" u="none" cap="none" strike="noStrike">
                <a:solidFill>
                  <a:srgbClr val="4A0D0B"/>
                </a:solidFill>
                <a:latin typeface="Consolas"/>
                <a:ea typeface="Consolas"/>
                <a:cs typeface="Consolas"/>
                <a:sym typeface="Consolas"/>
              </a:rPr>
              <a:t>X~U(0.1,1.0)MB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28"/>
          <p:cNvSpPr/>
          <p:nvPr/>
        </p:nvSpPr>
        <p:spPr>
          <a:xfrm>
            <a:off x="512064" y="3072384"/>
            <a:ext cx="107899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95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Task Size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8" name="Google Shape;288;p28"/>
          <p:cNvCxnSpPr/>
          <p:nvPr/>
        </p:nvCxnSpPr>
        <p:spPr>
          <a:xfrm>
            <a:off x="2313432" y="2670048"/>
            <a:ext cx="0" cy="128016"/>
          </a:xfrm>
          <a:prstGeom prst="straightConnector1">
            <a:avLst/>
          </a:prstGeom>
          <a:noFill/>
          <a:ln cap="flat" cmpd="sng" w="12700">
            <a:solidFill>
              <a:srgbClr val="BC933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9" name="Google Shape;289;p28"/>
          <p:cNvSpPr/>
          <p:nvPr/>
        </p:nvSpPr>
        <p:spPr>
          <a:xfrm>
            <a:off x="1737360" y="2816352"/>
            <a:ext cx="1152144" cy="475488"/>
          </a:xfrm>
          <a:prstGeom prst="rect">
            <a:avLst/>
          </a:prstGeom>
          <a:solidFill>
            <a:srgbClr val="FBF5E8"/>
          </a:solidFill>
          <a:ln cap="flat" cmpd="sng" w="12700">
            <a:solidFill>
              <a:srgbClr val="BC93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28"/>
          <p:cNvSpPr/>
          <p:nvPr/>
        </p:nvSpPr>
        <p:spPr>
          <a:xfrm>
            <a:off x="1773936" y="2834640"/>
            <a:ext cx="107899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n-US" sz="950" u="none" cap="none" strike="noStrike">
                <a:solidFill>
                  <a:srgbClr val="4A0D0B"/>
                </a:solidFill>
                <a:latin typeface="Consolas"/>
                <a:ea typeface="Consolas"/>
                <a:cs typeface="Consolas"/>
                <a:sym typeface="Consolas"/>
              </a:rPr>
              <a:t>d_ij~U(5,50)m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28"/>
          <p:cNvSpPr/>
          <p:nvPr/>
        </p:nvSpPr>
        <p:spPr>
          <a:xfrm>
            <a:off x="1773936" y="3072384"/>
            <a:ext cx="107899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95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→ BW_eff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2" name="Google Shape;292;p28"/>
          <p:cNvCxnSpPr/>
          <p:nvPr/>
        </p:nvCxnSpPr>
        <p:spPr>
          <a:xfrm>
            <a:off x="4526280" y="2670048"/>
            <a:ext cx="0" cy="128016"/>
          </a:xfrm>
          <a:prstGeom prst="straightConnector1">
            <a:avLst/>
          </a:prstGeom>
          <a:noFill/>
          <a:ln cap="flat" cmpd="sng" w="12700">
            <a:solidFill>
              <a:srgbClr val="BC933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3" name="Google Shape;293;p28"/>
          <p:cNvSpPr/>
          <p:nvPr/>
        </p:nvSpPr>
        <p:spPr>
          <a:xfrm>
            <a:off x="3255264" y="2816352"/>
            <a:ext cx="2542032" cy="475488"/>
          </a:xfrm>
          <a:prstGeom prst="rect">
            <a:avLst/>
          </a:prstGeom>
          <a:solidFill>
            <a:srgbClr val="FBF5E8"/>
          </a:solidFill>
          <a:ln cap="flat" cmpd="sng" w="12700">
            <a:solidFill>
              <a:srgbClr val="BC93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28"/>
          <p:cNvSpPr/>
          <p:nvPr/>
        </p:nvSpPr>
        <p:spPr>
          <a:xfrm>
            <a:off x="3291840" y="2834640"/>
            <a:ext cx="2468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n-US" sz="950" u="none" cap="none" strike="noStrike">
                <a:solidFill>
                  <a:srgbClr val="4A0D0B"/>
                </a:solidFill>
                <a:latin typeface="Consolas"/>
                <a:ea typeface="Consolas"/>
                <a:cs typeface="Consolas"/>
                <a:sym typeface="Consolas"/>
              </a:rPr>
              <a:t>W_q(t)=max{0,W_q(t-1)+Y/f_i−T_inter}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28"/>
          <p:cNvSpPr/>
          <p:nvPr/>
        </p:nvSpPr>
        <p:spPr>
          <a:xfrm>
            <a:off x="3291840" y="3072384"/>
            <a:ext cx="2468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95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Accumulated queue wait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6" name="Google Shape;296;p28"/>
          <p:cNvCxnSpPr/>
          <p:nvPr/>
        </p:nvCxnSpPr>
        <p:spPr>
          <a:xfrm>
            <a:off x="6629400" y="2670048"/>
            <a:ext cx="0" cy="128016"/>
          </a:xfrm>
          <a:prstGeom prst="straightConnector1">
            <a:avLst/>
          </a:prstGeom>
          <a:noFill/>
          <a:ln cap="flat" cmpd="sng" w="12700">
            <a:solidFill>
              <a:srgbClr val="BC933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7" name="Google Shape;297;p28"/>
          <p:cNvSpPr/>
          <p:nvPr/>
        </p:nvSpPr>
        <p:spPr>
          <a:xfrm>
            <a:off x="6053328" y="2816352"/>
            <a:ext cx="1152144" cy="475488"/>
          </a:xfrm>
          <a:prstGeom prst="rect">
            <a:avLst/>
          </a:prstGeom>
          <a:solidFill>
            <a:srgbClr val="FBF5E8"/>
          </a:solidFill>
          <a:ln cap="flat" cmpd="sng" w="12700">
            <a:solidFill>
              <a:srgbClr val="BC93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28"/>
          <p:cNvSpPr/>
          <p:nvPr/>
        </p:nvSpPr>
        <p:spPr>
          <a:xfrm>
            <a:off x="6089904" y="2834640"/>
            <a:ext cx="107899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n-US" sz="950" u="none" cap="none" strike="noStrike">
                <a:solidFill>
                  <a:srgbClr val="4A0D0B"/>
                </a:solidFill>
                <a:latin typeface="Consolas"/>
                <a:ea typeface="Consolas"/>
                <a:cs typeface="Consolas"/>
                <a:sym typeface="Consolas"/>
              </a:rPr>
              <a:t>Y = 5X + ε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28"/>
          <p:cNvSpPr/>
          <p:nvPr/>
        </p:nvSpPr>
        <p:spPr>
          <a:xfrm>
            <a:off x="6089904" y="3072384"/>
            <a:ext cx="107899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95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CPU Cycles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0" name="Google Shape;300;p28"/>
          <p:cNvCxnSpPr/>
          <p:nvPr/>
        </p:nvCxnSpPr>
        <p:spPr>
          <a:xfrm>
            <a:off x="7772400" y="2670048"/>
            <a:ext cx="0" cy="128016"/>
          </a:xfrm>
          <a:prstGeom prst="straightConnector1">
            <a:avLst/>
          </a:prstGeom>
          <a:noFill/>
          <a:ln cap="flat" cmpd="sng" w="12700">
            <a:solidFill>
              <a:srgbClr val="BC933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1" name="Google Shape;301;p28"/>
          <p:cNvSpPr/>
          <p:nvPr/>
        </p:nvSpPr>
        <p:spPr>
          <a:xfrm>
            <a:off x="7315200" y="2816352"/>
            <a:ext cx="914400" cy="475488"/>
          </a:xfrm>
          <a:prstGeom prst="rect">
            <a:avLst/>
          </a:prstGeom>
          <a:solidFill>
            <a:srgbClr val="FBF5E8"/>
          </a:solidFill>
          <a:ln cap="flat" cmpd="sng" w="12700">
            <a:solidFill>
              <a:srgbClr val="BC93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28"/>
          <p:cNvSpPr/>
          <p:nvPr/>
        </p:nvSpPr>
        <p:spPr>
          <a:xfrm>
            <a:off x="7351776" y="2834640"/>
            <a:ext cx="84124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n-US" sz="950" u="none" cap="none" strike="noStrike">
                <a:solidFill>
                  <a:srgbClr val="4A0D0B"/>
                </a:solidFill>
                <a:latin typeface="Consolas"/>
                <a:ea typeface="Consolas"/>
                <a:cs typeface="Consolas"/>
                <a:sym typeface="Consolas"/>
              </a:rPr>
              <a:t>f_i~U(1,2.5)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28"/>
          <p:cNvSpPr/>
          <p:nvPr/>
        </p:nvSpPr>
        <p:spPr>
          <a:xfrm>
            <a:off x="7351776" y="3072384"/>
            <a:ext cx="8412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95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CPU Freq(GHz)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28"/>
          <p:cNvSpPr/>
          <p:nvPr/>
        </p:nvSpPr>
        <p:spPr>
          <a:xfrm>
            <a:off x="457200" y="3456424"/>
            <a:ext cx="3931800" cy="799800"/>
          </a:xfrm>
          <a:prstGeom prst="rect">
            <a:avLst/>
          </a:prstGeom>
          <a:solidFill>
            <a:srgbClr val="EAE8E4"/>
          </a:solidFill>
          <a:ln cap="flat" cmpd="sng" w="12700">
            <a:solidFill>
              <a:srgbClr val="EAE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28"/>
          <p:cNvSpPr/>
          <p:nvPr/>
        </p:nvSpPr>
        <p:spPr>
          <a:xfrm>
            <a:off x="457200" y="3456424"/>
            <a:ext cx="73200" cy="799800"/>
          </a:xfrm>
          <a:prstGeom prst="rect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28"/>
          <p:cNvSpPr/>
          <p:nvPr/>
        </p:nvSpPr>
        <p:spPr>
          <a:xfrm>
            <a:off x="603504" y="3478639"/>
            <a:ext cx="3712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500" u="none" cap="none" strike="noStrike">
                <a:solidFill>
                  <a:srgbClr val="7D1916"/>
                </a:solidFill>
                <a:latin typeface="Arial"/>
                <a:ea typeface="Arial"/>
                <a:cs typeface="Arial"/>
                <a:sym typeface="Arial"/>
              </a:rPr>
              <a:t>Success Condition &amp; Objective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28"/>
          <p:cNvSpPr/>
          <p:nvPr/>
        </p:nvSpPr>
        <p:spPr>
          <a:xfrm>
            <a:off x="603504" y="3767437"/>
            <a:ext cx="3712500" cy="4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1400" u="none" cap="none" strike="noStrike">
                <a:solidFill>
                  <a:srgbClr val="4A0D0B"/>
                </a:solidFill>
                <a:latin typeface="Arial"/>
                <a:ea typeface="Arial"/>
                <a:cs typeface="Arial"/>
                <a:sym typeface="Arial"/>
              </a:rPr>
              <a:t>Y_i = 1  iff  T_soj ≤ τ  (Bernoulli RV)   </a:t>
            </a:r>
            <a:r>
              <a:rPr b="0" i="0" lang="en-US" sz="1400" u="none" cap="none" strike="noStrike">
                <a:solidFill>
                  <a:srgbClr val="444848"/>
                </a:solidFill>
                <a:latin typeface="Arial"/>
                <a:ea typeface="Arial"/>
                <a:cs typeface="Arial"/>
                <a:sym typeface="Arial"/>
              </a:rPr>
              <a:t>TCR = P(T_soj ≤ τ) = E[ΣᵢYᵢ]/N  →  MAXIMISE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28"/>
          <p:cNvSpPr/>
          <p:nvPr/>
        </p:nvSpPr>
        <p:spPr>
          <a:xfrm>
            <a:off x="4572000" y="3456425"/>
            <a:ext cx="4114800" cy="799800"/>
          </a:xfrm>
          <a:prstGeom prst="rect">
            <a:avLst/>
          </a:prstGeom>
          <a:solidFill>
            <a:srgbClr val="EAE8E4"/>
          </a:solidFill>
          <a:ln cap="flat" cmpd="sng" w="12700">
            <a:solidFill>
              <a:srgbClr val="EAE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28"/>
          <p:cNvSpPr/>
          <p:nvPr/>
        </p:nvSpPr>
        <p:spPr>
          <a:xfrm>
            <a:off x="4572000" y="3456425"/>
            <a:ext cx="73200" cy="799800"/>
          </a:xfrm>
          <a:prstGeom prst="rect">
            <a:avLst/>
          </a:prstGeom>
          <a:solidFill>
            <a:srgbClr val="BC933E"/>
          </a:solidFill>
          <a:ln cap="flat" cmpd="sng" w="12700">
            <a:solidFill>
              <a:srgbClr val="BC93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28"/>
          <p:cNvSpPr/>
          <p:nvPr/>
        </p:nvSpPr>
        <p:spPr>
          <a:xfrm>
            <a:off x="4718304" y="3478642"/>
            <a:ext cx="38952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BC933E"/>
                </a:solidFill>
                <a:latin typeface="Arial"/>
                <a:ea typeface="Arial"/>
                <a:cs typeface="Arial"/>
                <a:sym typeface="Arial"/>
              </a:rPr>
              <a:t>Why Variance Matters (Jensen's Inequality)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28"/>
          <p:cNvSpPr/>
          <p:nvPr/>
        </p:nvSpPr>
        <p:spPr>
          <a:xfrm>
            <a:off x="4718304" y="3767458"/>
            <a:ext cx="3895200" cy="4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W_q accumulates when tasks arrive faster than served. High variance in Y/f_i causes queue explosion — the Herd Effect. E[Cost(T)] ≥ Cost(E[T]) always.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1EE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9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1916"/>
              </a:buClr>
              <a:buSzPts val="2600"/>
              <a:buFont typeface="Calibri"/>
              <a:buNone/>
            </a:pPr>
            <a:r>
              <a:rPr b="1" i="0" lang="en-US" sz="3500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Bounds: Jensen's Inequality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9"/>
          <p:cNvSpPr/>
          <p:nvPr/>
        </p:nvSpPr>
        <p:spPr>
          <a:xfrm>
            <a:off x="457200" y="868680"/>
            <a:ext cx="8229600" cy="22860"/>
          </a:xfrm>
          <a:prstGeom prst="rect">
            <a:avLst/>
          </a:prstGeom>
          <a:solidFill>
            <a:srgbClr val="EAE8E4"/>
          </a:solidFill>
          <a:ln cap="flat" cmpd="sng" w="12700">
            <a:solidFill>
              <a:srgbClr val="EAE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9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9"/>
          <p:cNvSpPr/>
          <p:nvPr/>
        </p:nvSpPr>
        <p:spPr>
          <a:xfrm>
            <a:off x="4507992" y="4892040"/>
            <a:ext cx="128100" cy="128100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9"/>
          <p:cNvSpPr/>
          <p:nvPr/>
        </p:nvSpPr>
        <p:spPr>
          <a:xfrm>
            <a:off x="7538750" y="4620903"/>
            <a:ext cx="1463100" cy="26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2026   |   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9"/>
          <p:cNvSpPr/>
          <p:nvPr/>
        </p:nvSpPr>
        <p:spPr>
          <a:xfrm>
            <a:off x="457200" y="987552"/>
            <a:ext cx="8229600" cy="566928"/>
          </a:xfrm>
          <a:prstGeom prst="rect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9"/>
          <p:cNvSpPr/>
          <p:nvPr/>
        </p:nvSpPr>
        <p:spPr>
          <a:xfrm>
            <a:off x="548640" y="1005840"/>
            <a:ext cx="8046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 any convex cost function g(x):   E[g(T)]  ≥  g(E[T])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9"/>
          <p:cNvSpPr/>
          <p:nvPr/>
        </p:nvSpPr>
        <p:spPr>
          <a:xfrm>
            <a:off x="457200" y="1682500"/>
            <a:ext cx="8229600" cy="27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1916"/>
              </a:buClr>
              <a:buSzPts val="1400"/>
              <a:buFont typeface="Calibri"/>
              <a:buNone/>
            </a:pPr>
            <a:r>
              <a:rPr b="1" i="0" lang="en-US" sz="1800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Why This Rules Out Average-Based Designs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9"/>
          <p:cNvSpPr/>
          <p:nvPr/>
        </p:nvSpPr>
        <p:spPr>
          <a:xfrm>
            <a:off x="457200" y="2024296"/>
            <a:ext cx="3840600" cy="1281600"/>
          </a:xfrm>
          <a:prstGeom prst="rect">
            <a:avLst/>
          </a:prstGeom>
          <a:solidFill>
            <a:srgbClr val="EAE8E4"/>
          </a:solidFill>
          <a:ln cap="flat" cmpd="sng" w="12700">
            <a:solidFill>
              <a:srgbClr val="EAE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9"/>
          <p:cNvSpPr/>
          <p:nvPr/>
        </p:nvSpPr>
        <p:spPr>
          <a:xfrm>
            <a:off x="566928" y="2078673"/>
            <a:ext cx="3612000" cy="23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1916"/>
              </a:buClr>
              <a:buSzPts val="1200"/>
              <a:buFont typeface="Calibri"/>
              <a:buNone/>
            </a:pPr>
            <a:r>
              <a:rPr b="1" i="0" lang="en-US" sz="1600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Scenario A — No Variance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9"/>
          <p:cNvSpPr/>
          <p:nvPr/>
        </p:nvSpPr>
        <p:spPr>
          <a:xfrm>
            <a:off x="566928" y="2350557"/>
            <a:ext cx="3612000" cy="89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848"/>
              </a:buClr>
              <a:buSzPts val="1200"/>
              <a:buFont typeface="Calibri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Always exactly 2 min late.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848"/>
              </a:buClr>
              <a:buSzPts val="1200"/>
              <a:buFont typeface="Calibri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Penalty = C(2) = 4 points.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848"/>
              </a:buClr>
              <a:buSzPts val="1200"/>
              <a:buFont typeface="Calibri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Optimised for the mean → works as expected.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9"/>
          <p:cNvSpPr/>
          <p:nvPr/>
        </p:nvSpPr>
        <p:spPr>
          <a:xfrm>
            <a:off x="4846324" y="2024296"/>
            <a:ext cx="3840600" cy="1281600"/>
          </a:xfrm>
          <a:prstGeom prst="rect">
            <a:avLst/>
          </a:prstGeom>
          <a:solidFill>
            <a:srgbClr val="EAE8E4"/>
          </a:solidFill>
          <a:ln cap="flat" cmpd="sng" w="12700">
            <a:solidFill>
              <a:srgbClr val="EAE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9"/>
          <p:cNvSpPr/>
          <p:nvPr/>
        </p:nvSpPr>
        <p:spPr>
          <a:xfrm>
            <a:off x="4956052" y="2078673"/>
            <a:ext cx="3612000" cy="23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1916"/>
              </a:buClr>
              <a:buSzPts val="1200"/>
              <a:buFont typeface="Calibri"/>
              <a:buNone/>
            </a:pPr>
            <a:r>
              <a:rPr b="1" i="0" lang="en-US" sz="1600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Scenario B — Same Mean, High Variance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9"/>
          <p:cNvSpPr/>
          <p:nvPr/>
        </p:nvSpPr>
        <p:spPr>
          <a:xfrm>
            <a:off x="4956052" y="2350557"/>
            <a:ext cx="3612000" cy="89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848"/>
              </a:buClr>
              <a:buSzPts val="1200"/>
              <a:buFont typeface="Calibri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Half the time 0 min late (penalty 0),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848"/>
              </a:buClr>
              <a:buSzPts val="1200"/>
              <a:buFont typeface="Calibri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half the time 4 min late (penalty 16).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848"/>
              </a:buClr>
              <a:buSzPts val="1200"/>
              <a:buFont typeface="Calibri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Average penalty = 8 — DOUBLE!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848"/>
              </a:buClr>
              <a:buSzPts val="1200"/>
              <a:buFont typeface="Calibri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Variance secretly doubles the cost.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9"/>
          <p:cNvSpPr/>
          <p:nvPr/>
        </p:nvSpPr>
        <p:spPr>
          <a:xfrm>
            <a:off x="457200" y="3469751"/>
            <a:ext cx="8229600" cy="1116600"/>
          </a:xfrm>
          <a:prstGeom prst="rect">
            <a:avLst/>
          </a:prstGeom>
          <a:solidFill>
            <a:srgbClr val="EAE8E4"/>
          </a:solidFill>
          <a:ln cap="flat" cmpd="sng" w="12700">
            <a:solidFill>
              <a:srgbClr val="EAE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9"/>
          <p:cNvSpPr/>
          <p:nvPr/>
        </p:nvSpPr>
        <p:spPr>
          <a:xfrm>
            <a:off x="420600" y="3469760"/>
            <a:ext cx="128100" cy="1116600"/>
          </a:xfrm>
          <a:prstGeom prst="rect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9"/>
          <p:cNvSpPr/>
          <p:nvPr/>
        </p:nvSpPr>
        <p:spPr>
          <a:xfrm>
            <a:off x="658375" y="3369325"/>
            <a:ext cx="7863900" cy="121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1916"/>
              </a:buClr>
              <a:buSzPts val="1200"/>
              <a:buFont typeface="Calibri"/>
              <a:buNone/>
            </a:pPr>
            <a:r>
              <a:rPr b="1" i="0" lang="en-US" sz="1300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Jensen Gap  Δ_J  =  E[Cost(T)] − Cost(E[T])  ≥  0  always.  </a:t>
            </a: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Grows with variance. Proven empirically in M3 after task 800.  |  Taylor Proof: C(T) = C(mu) + C'(mu)(T-mu) + 1/2 C''(mu)(T-mu)^2. Taking E[]: since E[T-mu]=0 and Var(T)=E[(T-mu)^2] &gt;= 0, we get E[C(T)] = C(E[T]) + 1/2 x C''(E[T]) x Var(T). This extra term is always non-negative (C'' &gt; 0 for convex), so E[C(T)] &gt;= C(E[T]). QED: variance always inflates expected cost.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6F3"/>
        </a:solid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9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Mathematical Bounds &amp; Constraints</a:t>
            </a:r>
            <a:endParaRPr b="0" i="0" sz="3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29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EAE8E4"/>
          </a:solidFill>
          <a:ln cap="flat" cmpd="sng" w="12700">
            <a:solidFill>
              <a:srgbClr val="EAE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29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29"/>
          <p:cNvSpPr/>
          <p:nvPr/>
        </p:nvSpPr>
        <p:spPr>
          <a:xfrm>
            <a:off x="4507992" y="4878324"/>
            <a:ext cx="128016" cy="128016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29"/>
          <p:cNvSpPr/>
          <p:nvPr/>
        </p:nvSpPr>
        <p:spPr>
          <a:xfrm>
            <a:off x="7507704" y="4520600"/>
            <a:ext cx="1199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2026   |   13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29"/>
          <p:cNvSpPr/>
          <p:nvPr/>
        </p:nvSpPr>
        <p:spPr>
          <a:xfrm>
            <a:off x="457200" y="987552"/>
            <a:ext cx="3931920" cy="1737360"/>
          </a:xfrm>
          <a:prstGeom prst="rect">
            <a:avLst/>
          </a:prstGeom>
          <a:solidFill>
            <a:srgbClr val="EAE8E4"/>
          </a:solidFill>
          <a:ln cap="flat" cmpd="sng" w="12700">
            <a:solidFill>
              <a:srgbClr val="EAE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29"/>
          <p:cNvSpPr/>
          <p:nvPr/>
        </p:nvSpPr>
        <p:spPr>
          <a:xfrm>
            <a:off x="457200" y="987552"/>
            <a:ext cx="3931920" cy="384048"/>
          </a:xfrm>
          <a:prstGeom prst="rect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29"/>
          <p:cNvSpPr/>
          <p:nvPr/>
        </p:nvSpPr>
        <p:spPr>
          <a:xfrm>
            <a:off x="548640" y="987552"/>
            <a:ext cx="3749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TAYLOR EXPANSION — JENSEN'S PROOF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29"/>
          <p:cNvSpPr/>
          <p:nvPr/>
        </p:nvSpPr>
        <p:spPr>
          <a:xfrm>
            <a:off x="566928" y="1426464"/>
            <a:ext cx="37124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1300" u="none" cap="none" strike="noStrike">
                <a:solidFill>
                  <a:srgbClr val="4A0D0B"/>
                </a:solidFill>
                <a:latin typeface="Consolas"/>
                <a:ea typeface="Consolas"/>
                <a:cs typeface="Consolas"/>
                <a:sym typeface="Consolas"/>
              </a:rPr>
              <a:t>C(T) ≈ C(μ) + C′(μ)(T–μ) + ½C″(μ)(T–μ)²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29"/>
          <p:cNvSpPr/>
          <p:nvPr/>
        </p:nvSpPr>
        <p:spPr>
          <a:xfrm>
            <a:off x="566925" y="1706525"/>
            <a:ext cx="3712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1200" u="none" cap="none" strike="noStrike">
                <a:solidFill>
                  <a:srgbClr val="4A0D0B"/>
                </a:solidFill>
                <a:latin typeface="Consolas"/>
                <a:ea typeface="Consolas"/>
                <a:cs typeface="Consolas"/>
                <a:sym typeface="Consolas"/>
              </a:rPr>
              <a:t>⟹  E[C(T)] ≈ C(E[T]) + ½·C″(E[T])·Var(T)  ≥  C(E[T])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29"/>
          <p:cNvSpPr/>
          <p:nvPr/>
        </p:nvSpPr>
        <p:spPr>
          <a:xfrm>
            <a:off x="566925" y="2017450"/>
            <a:ext cx="3712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1400" u="none" cap="none" strike="noStrike">
                <a:solidFill>
                  <a:srgbClr val="4A0D0B"/>
                </a:solidFill>
                <a:latin typeface="Consolas"/>
                <a:ea typeface="Consolas"/>
                <a:cs typeface="Consolas"/>
                <a:sym typeface="Consolas"/>
              </a:rPr>
              <a:t>QED.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29"/>
          <p:cNvSpPr/>
          <p:nvPr/>
        </p:nvSpPr>
        <p:spPr>
          <a:xfrm>
            <a:off x="566925" y="2247075"/>
            <a:ext cx="3712500" cy="3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14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Convexity of cost → scheduling uncertainty always increases cost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29"/>
          <p:cNvSpPr/>
          <p:nvPr/>
        </p:nvSpPr>
        <p:spPr>
          <a:xfrm>
            <a:off x="4754880" y="987552"/>
            <a:ext cx="3931920" cy="1737360"/>
          </a:xfrm>
          <a:prstGeom prst="rect">
            <a:avLst/>
          </a:prstGeom>
          <a:solidFill>
            <a:srgbClr val="EAE8E4"/>
          </a:solidFill>
          <a:ln cap="flat" cmpd="sng" w="12700">
            <a:solidFill>
              <a:srgbClr val="EAE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29"/>
          <p:cNvSpPr/>
          <p:nvPr/>
        </p:nvSpPr>
        <p:spPr>
          <a:xfrm>
            <a:off x="4754880" y="987552"/>
            <a:ext cx="3931920" cy="384048"/>
          </a:xfrm>
          <a:prstGeom prst="rect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29"/>
          <p:cNvSpPr/>
          <p:nvPr/>
        </p:nvSpPr>
        <p:spPr>
          <a:xfrm>
            <a:off x="4846320" y="987552"/>
            <a:ext cx="376732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BOUND 2 — STABILITY CONSTRAINT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29"/>
          <p:cNvSpPr/>
          <p:nvPr/>
        </p:nvSpPr>
        <p:spPr>
          <a:xfrm>
            <a:off x="4864608" y="1426464"/>
            <a:ext cx="3730752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4A0D0B"/>
                </a:solidFill>
                <a:latin typeface="Calibri"/>
                <a:ea typeface="Calibri"/>
                <a:cs typeface="Calibri"/>
                <a:sym typeface="Calibri"/>
              </a:rPr>
              <a:t>ρ = λ/μ  &lt;  1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44848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1450" u="none" cap="none" strike="noStrike">
                <a:solidFill>
                  <a:srgbClr val="444848"/>
                </a:solidFill>
                <a:latin typeface="Calibri"/>
                <a:ea typeface="Calibri"/>
                <a:cs typeface="Calibri"/>
                <a:sym typeface="Calibri"/>
              </a:rPr>
              <a:t>f λ ≥ μ  →  queue grows without bound</a:t>
            </a:r>
            <a:endParaRPr b="0" i="0" sz="1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450" u="none" cap="none" strike="noStrike">
                <a:solidFill>
                  <a:srgbClr val="444848"/>
                </a:solidFill>
                <a:latin typeface="Calibri"/>
                <a:ea typeface="Calibri"/>
                <a:cs typeface="Calibri"/>
                <a:sym typeface="Calibri"/>
              </a:rPr>
              <a:t>W_q → ∞   →   all deadlines missed</a:t>
            </a:r>
            <a:endParaRPr b="0" i="0" sz="1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29"/>
          <p:cNvSpPr/>
          <p:nvPr/>
        </p:nvSpPr>
        <p:spPr>
          <a:xfrm>
            <a:off x="4937760" y="2404872"/>
            <a:ext cx="1143000" cy="237744"/>
          </a:xfrm>
          <a:prstGeom prst="rect">
            <a:avLst/>
          </a:prstGeom>
          <a:solidFill>
            <a:srgbClr val="FBF5E8"/>
          </a:solidFill>
          <a:ln cap="flat" cmpd="sng" w="12700">
            <a:solidFill>
              <a:srgbClr val="BC93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29"/>
          <p:cNvSpPr/>
          <p:nvPr/>
        </p:nvSpPr>
        <p:spPr>
          <a:xfrm>
            <a:off x="4937760" y="2404872"/>
            <a:ext cx="1143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1100" u="none" cap="none" strike="noStrike">
                <a:solidFill>
                  <a:srgbClr val="BC933E"/>
                </a:solidFill>
                <a:latin typeface="Arial"/>
                <a:ea typeface="Arial"/>
                <a:cs typeface="Arial"/>
                <a:sym typeface="Arial"/>
              </a:rPr>
              <a:t>λ (arrivals)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6" name="Google Shape;356;p29"/>
          <p:cNvCxnSpPr/>
          <p:nvPr/>
        </p:nvCxnSpPr>
        <p:spPr>
          <a:xfrm>
            <a:off x="6080760" y="2523744"/>
            <a:ext cx="320040" cy="0"/>
          </a:xfrm>
          <a:prstGeom prst="straightConnector1">
            <a:avLst/>
          </a:prstGeom>
          <a:noFill/>
          <a:ln cap="flat" cmpd="sng" w="12700">
            <a:solidFill>
              <a:srgbClr val="44484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7" name="Google Shape;357;p29"/>
          <p:cNvSpPr/>
          <p:nvPr/>
        </p:nvSpPr>
        <p:spPr>
          <a:xfrm>
            <a:off x="6400800" y="2404872"/>
            <a:ext cx="1143000" cy="237744"/>
          </a:xfrm>
          <a:prstGeom prst="rect">
            <a:avLst/>
          </a:prstGeom>
          <a:solidFill>
            <a:srgbClr val="EAE8E4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29"/>
          <p:cNvSpPr/>
          <p:nvPr/>
        </p:nvSpPr>
        <p:spPr>
          <a:xfrm>
            <a:off x="6400800" y="2404872"/>
            <a:ext cx="1143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1100" u="none" cap="none" strike="noStrike">
                <a:solidFill>
                  <a:srgbClr val="7D1916"/>
                </a:solidFill>
                <a:latin typeface="Arial"/>
                <a:ea typeface="Arial"/>
                <a:cs typeface="Arial"/>
                <a:sym typeface="Arial"/>
              </a:rPr>
              <a:t>μ (service)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29"/>
          <p:cNvSpPr/>
          <p:nvPr/>
        </p:nvSpPr>
        <p:spPr>
          <a:xfrm>
            <a:off x="457200" y="2880350"/>
            <a:ext cx="3931800" cy="1515600"/>
          </a:xfrm>
          <a:prstGeom prst="rect">
            <a:avLst/>
          </a:prstGeom>
          <a:solidFill>
            <a:srgbClr val="EAE8E4"/>
          </a:solidFill>
          <a:ln cap="flat" cmpd="sng" w="12700">
            <a:solidFill>
              <a:srgbClr val="EAE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29"/>
          <p:cNvSpPr/>
          <p:nvPr/>
        </p:nvSpPr>
        <p:spPr>
          <a:xfrm>
            <a:off x="457200" y="2880350"/>
            <a:ext cx="3931800" cy="334800"/>
          </a:xfrm>
          <a:prstGeom prst="rect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29"/>
          <p:cNvSpPr/>
          <p:nvPr/>
        </p:nvSpPr>
        <p:spPr>
          <a:xfrm>
            <a:off x="548640" y="2880350"/>
            <a:ext cx="3767400" cy="33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BOUND 3 — HARD DEADLINE CONSTRAINT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29"/>
          <p:cNvSpPr/>
          <p:nvPr/>
        </p:nvSpPr>
        <p:spPr>
          <a:xfrm>
            <a:off x="566925" y="3215150"/>
            <a:ext cx="3730800" cy="11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T_soj  ≤  τ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Binary pass/fail — no partial completion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TCR = P(T_soj ≤ τ)  is the only meaningful objective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3" name="Google Shape;363;p29"/>
          <p:cNvCxnSpPr/>
          <p:nvPr/>
        </p:nvCxnSpPr>
        <p:spPr>
          <a:xfrm>
            <a:off x="640080" y="4124718"/>
            <a:ext cx="3520500" cy="0"/>
          </a:xfrm>
          <a:prstGeom prst="straightConnector1">
            <a:avLst/>
          </a:prstGeom>
          <a:noFill/>
          <a:ln cap="flat" cmpd="sng" w="12700">
            <a:solidFill>
              <a:srgbClr val="44484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4" name="Google Shape;364;p29"/>
          <p:cNvSpPr/>
          <p:nvPr/>
        </p:nvSpPr>
        <p:spPr>
          <a:xfrm>
            <a:off x="594360" y="4088823"/>
            <a:ext cx="91500" cy="79800"/>
          </a:xfrm>
          <a:prstGeom prst="ellipse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29"/>
          <p:cNvSpPr/>
          <p:nvPr/>
        </p:nvSpPr>
        <p:spPr>
          <a:xfrm>
            <a:off x="2304285" y="4088823"/>
            <a:ext cx="91500" cy="79800"/>
          </a:xfrm>
          <a:prstGeom prst="ellipse">
            <a:avLst/>
          </a:prstGeom>
          <a:solidFill>
            <a:srgbClr val="BC933E"/>
          </a:solidFill>
          <a:ln cap="flat" cmpd="sng" w="12700">
            <a:solidFill>
              <a:srgbClr val="BC93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29"/>
          <p:cNvSpPr/>
          <p:nvPr/>
        </p:nvSpPr>
        <p:spPr>
          <a:xfrm>
            <a:off x="4050786" y="4088823"/>
            <a:ext cx="91500" cy="79800"/>
          </a:xfrm>
          <a:prstGeom prst="ellipse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29"/>
          <p:cNvSpPr/>
          <p:nvPr/>
        </p:nvSpPr>
        <p:spPr>
          <a:xfrm>
            <a:off x="502920" y="4188532"/>
            <a:ext cx="457200" cy="12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Start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29"/>
          <p:cNvSpPr/>
          <p:nvPr/>
        </p:nvSpPr>
        <p:spPr>
          <a:xfrm>
            <a:off x="2231133" y="4188532"/>
            <a:ext cx="457200" cy="12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BC933E"/>
                </a:solidFill>
                <a:latin typeface="Arial"/>
                <a:ea typeface="Arial"/>
                <a:cs typeface="Arial"/>
                <a:sym typeface="Arial"/>
              </a:rPr>
              <a:t>T_soj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29"/>
          <p:cNvSpPr/>
          <p:nvPr/>
        </p:nvSpPr>
        <p:spPr>
          <a:xfrm>
            <a:off x="3913626" y="4188532"/>
            <a:ext cx="731400" cy="12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7D1916"/>
                </a:solidFill>
                <a:latin typeface="Arial"/>
                <a:ea typeface="Arial"/>
                <a:cs typeface="Arial"/>
                <a:sym typeface="Arial"/>
              </a:rPr>
              <a:t>τ deadline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29"/>
          <p:cNvSpPr/>
          <p:nvPr/>
        </p:nvSpPr>
        <p:spPr>
          <a:xfrm>
            <a:off x="4754975" y="2880350"/>
            <a:ext cx="3931800" cy="1515600"/>
          </a:xfrm>
          <a:prstGeom prst="rect">
            <a:avLst/>
          </a:prstGeom>
          <a:solidFill>
            <a:srgbClr val="EAE8E4"/>
          </a:solidFill>
          <a:ln cap="flat" cmpd="sng" w="12700">
            <a:solidFill>
              <a:srgbClr val="EAE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29"/>
          <p:cNvSpPr/>
          <p:nvPr/>
        </p:nvSpPr>
        <p:spPr>
          <a:xfrm>
            <a:off x="4754880" y="2880360"/>
            <a:ext cx="3931920" cy="384048"/>
          </a:xfrm>
          <a:prstGeom prst="rect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29"/>
          <p:cNvSpPr/>
          <p:nvPr/>
        </p:nvSpPr>
        <p:spPr>
          <a:xfrm>
            <a:off x="4846320" y="2880360"/>
            <a:ext cx="3749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BOUND 4 — BANDWIDTH DEGRADATION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29"/>
          <p:cNvSpPr/>
          <p:nvPr/>
        </p:nvSpPr>
        <p:spPr>
          <a:xfrm>
            <a:off x="4864608" y="329184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4A0D0B"/>
                </a:solidFill>
                <a:latin typeface="Calibri"/>
                <a:ea typeface="Calibri"/>
                <a:cs typeface="Calibri"/>
                <a:sym typeface="Calibri"/>
              </a:rPr>
              <a:t>BW_eff  ≤  BW_base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29"/>
          <p:cNvSpPr/>
          <p:nvPr/>
        </p:nvSpPr>
        <p:spPr>
          <a:xfrm>
            <a:off x="4823375" y="3602726"/>
            <a:ext cx="1911300" cy="7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 d=40m: BW_eff is only 8% of max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Physical wireless law — cannot be engineered away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Algorithm must account for this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29"/>
          <p:cNvSpPr/>
          <p:nvPr/>
        </p:nvSpPr>
        <p:spPr>
          <a:xfrm>
            <a:off x="6719701" y="3646183"/>
            <a:ext cx="284700" cy="594300"/>
          </a:xfrm>
          <a:prstGeom prst="rect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29"/>
          <p:cNvSpPr/>
          <p:nvPr/>
        </p:nvSpPr>
        <p:spPr>
          <a:xfrm>
            <a:off x="6719701" y="4258829"/>
            <a:ext cx="2847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0m</a:t>
            </a:r>
            <a:endParaRPr b="0" i="0" sz="6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29"/>
          <p:cNvSpPr/>
          <p:nvPr/>
        </p:nvSpPr>
        <p:spPr>
          <a:xfrm>
            <a:off x="7042000" y="3854208"/>
            <a:ext cx="284700" cy="386400"/>
          </a:xfrm>
          <a:prstGeom prst="rect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29"/>
          <p:cNvSpPr/>
          <p:nvPr/>
        </p:nvSpPr>
        <p:spPr>
          <a:xfrm>
            <a:off x="7042000" y="4258829"/>
            <a:ext cx="2847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10m</a:t>
            </a:r>
            <a:endParaRPr b="0" i="0" sz="6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29"/>
          <p:cNvSpPr/>
          <p:nvPr/>
        </p:nvSpPr>
        <p:spPr>
          <a:xfrm>
            <a:off x="7364300" y="4032516"/>
            <a:ext cx="284700" cy="207900"/>
          </a:xfrm>
          <a:prstGeom prst="rect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29"/>
          <p:cNvSpPr/>
          <p:nvPr/>
        </p:nvSpPr>
        <p:spPr>
          <a:xfrm>
            <a:off x="7364300" y="4258829"/>
            <a:ext cx="2847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20m</a:t>
            </a:r>
            <a:endParaRPr b="0" i="0" sz="6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29"/>
          <p:cNvSpPr/>
          <p:nvPr/>
        </p:nvSpPr>
        <p:spPr>
          <a:xfrm>
            <a:off x="7686599" y="4133556"/>
            <a:ext cx="284700" cy="107100"/>
          </a:xfrm>
          <a:prstGeom prst="rect">
            <a:avLst/>
          </a:prstGeom>
          <a:solidFill>
            <a:srgbClr val="BC933E"/>
          </a:solidFill>
          <a:ln cap="flat" cmpd="sng" w="12700">
            <a:solidFill>
              <a:srgbClr val="BC93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29"/>
          <p:cNvSpPr/>
          <p:nvPr/>
        </p:nvSpPr>
        <p:spPr>
          <a:xfrm>
            <a:off x="7686599" y="4258829"/>
            <a:ext cx="2847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30m</a:t>
            </a:r>
            <a:endParaRPr b="0" i="0" sz="6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29"/>
          <p:cNvSpPr/>
          <p:nvPr/>
        </p:nvSpPr>
        <p:spPr>
          <a:xfrm>
            <a:off x="8008898" y="4192992"/>
            <a:ext cx="284700" cy="47400"/>
          </a:xfrm>
          <a:prstGeom prst="rect">
            <a:avLst/>
          </a:prstGeom>
          <a:solidFill>
            <a:srgbClr val="BC933E"/>
          </a:solidFill>
          <a:ln cap="flat" cmpd="sng" w="12700">
            <a:solidFill>
              <a:srgbClr val="BC93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29"/>
          <p:cNvSpPr/>
          <p:nvPr/>
        </p:nvSpPr>
        <p:spPr>
          <a:xfrm>
            <a:off x="8008898" y="4258829"/>
            <a:ext cx="2847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40m</a:t>
            </a:r>
            <a:endParaRPr b="0" i="0" sz="6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29"/>
          <p:cNvSpPr/>
          <p:nvPr/>
        </p:nvSpPr>
        <p:spPr>
          <a:xfrm>
            <a:off x="7296912" y="3291840"/>
            <a:ext cx="1325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1" lang="en-US" sz="75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BW% vs distance</a:t>
            </a:r>
            <a:endParaRPr b="0" i="0" sz="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6F3"/>
        </a:solidFill>
      </p:bgPr>
    </p:bg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TCR Over Time — M3 Crashes, M4 Learns</a:t>
            </a:r>
            <a:endParaRPr b="0" i="0" sz="3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30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EAE8E4"/>
          </a:solidFill>
          <a:ln cap="flat" cmpd="sng" w="12700">
            <a:solidFill>
              <a:srgbClr val="EAE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30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30"/>
          <p:cNvSpPr/>
          <p:nvPr/>
        </p:nvSpPr>
        <p:spPr>
          <a:xfrm>
            <a:off x="4507992" y="4878324"/>
            <a:ext cx="128016" cy="128016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30"/>
          <p:cNvSpPr/>
          <p:nvPr/>
        </p:nvSpPr>
        <p:spPr>
          <a:xfrm>
            <a:off x="7498080" y="450799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2026   |   14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30"/>
          <p:cNvSpPr/>
          <p:nvPr/>
        </p:nvSpPr>
        <p:spPr>
          <a:xfrm>
            <a:off x="457200" y="987552"/>
            <a:ext cx="5394960" cy="1737360"/>
          </a:xfrm>
          <a:prstGeom prst="rect">
            <a:avLst/>
          </a:prstGeom>
          <a:solidFill>
            <a:srgbClr val="EAE8E4"/>
          </a:solidFill>
          <a:ln cap="flat" cmpd="sng" w="12700">
            <a:solidFill>
              <a:srgbClr val="EAE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30"/>
          <p:cNvSpPr/>
          <p:nvPr/>
        </p:nvSpPr>
        <p:spPr>
          <a:xfrm>
            <a:off x="457200" y="1024128"/>
            <a:ext cx="5394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4A0D0B"/>
                </a:solidFill>
                <a:latin typeface="Calibri"/>
                <a:ea typeface="Calibri"/>
                <a:cs typeface="Calibri"/>
                <a:sym typeface="Calibri"/>
              </a:rPr>
              <a:t>TCR % Over Time  —  M3 Crashes · M4 Learns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7" name="Google Shape;397;p30"/>
          <p:cNvCxnSpPr/>
          <p:nvPr/>
        </p:nvCxnSpPr>
        <p:spPr>
          <a:xfrm>
            <a:off x="841248" y="1335024"/>
            <a:ext cx="4901184" cy="0"/>
          </a:xfrm>
          <a:prstGeom prst="straightConnector1">
            <a:avLst/>
          </a:prstGeom>
          <a:noFill/>
          <a:ln cap="flat" cmpd="sng" w="12700">
            <a:solidFill>
              <a:srgbClr val="D4D0C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8" name="Google Shape;398;p30"/>
          <p:cNvSpPr/>
          <p:nvPr/>
        </p:nvSpPr>
        <p:spPr>
          <a:xfrm>
            <a:off x="457200" y="1243584"/>
            <a:ext cx="33832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100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9" name="Google Shape;399;p30"/>
          <p:cNvCxnSpPr/>
          <p:nvPr/>
        </p:nvCxnSpPr>
        <p:spPr>
          <a:xfrm>
            <a:off x="841248" y="1609344"/>
            <a:ext cx="4901184" cy="0"/>
          </a:xfrm>
          <a:prstGeom prst="straightConnector1">
            <a:avLst/>
          </a:prstGeom>
          <a:noFill/>
          <a:ln cap="flat" cmpd="sng" w="12700">
            <a:solidFill>
              <a:srgbClr val="D4D0C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0" name="Google Shape;400;p30"/>
          <p:cNvSpPr/>
          <p:nvPr/>
        </p:nvSpPr>
        <p:spPr>
          <a:xfrm>
            <a:off x="457200" y="1517904"/>
            <a:ext cx="33832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75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1" name="Google Shape;401;p30"/>
          <p:cNvCxnSpPr/>
          <p:nvPr/>
        </p:nvCxnSpPr>
        <p:spPr>
          <a:xfrm>
            <a:off x="841248" y="1883664"/>
            <a:ext cx="4901184" cy="0"/>
          </a:xfrm>
          <a:prstGeom prst="straightConnector1">
            <a:avLst/>
          </a:prstGeom>
          <a:noFill/>
          <a:ln cap="flat" cmpd="sng" w="12700">
            <a:solidFill>
              <a:srgbClr val="D4D0C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2" name="Google Shape;402;p30"/>
          <p:cNvSpPr/>
          <p:nvPr/>
        </p:nvSpPr>
        <p:spPr>
          <a:xfrm>
            <a:off x="457200" y="1792224"/>
            <a:ext cx="33832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50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3" name="Google Shape;403;p30"/>
          <p:cNvCxnSpPr/>
          <p:nvPr/>
        </p:nvCxnSpPr>
        <p:spPr>
          <a:xfrm>
            <a:off x="841248" y="2157984"/>
            <a:ext cx="4901184" cy="0"/>
          </a:xfrm>
          <a:prstGeom prst="straightConnector1">
            <a:avLst/>
          </a:prstGeom>
          <a:noFill/>
          <a:ln cap="flat" cmpd="sng" w="12700">
            <a:solidFill>
              <a:srgbClr val="D4D0C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4" name="Google Shape;404;p30"/>
          <p:cNvSpPr/>
          <p:nvPr/>
        </p:nvSpPr>
        <p:spPr>
          <a:xfrm>
            <a:off x="457200" y="2066544"/>
            <a:ext cx="33832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5" name="Google Shape;405;p30"/>
          <p:cNvCxnSpPr/>
          <p:nvPr/>
        </p:nvCxnSpPr>
        <p:spPr>
          <a:xfrm>
            <a:off x="841248" y="2432304"/>
            <a:ext cx="4901184" cy="0"/>
          </a:xfrm>
          <a:prstGeom prst="straightConnector1">
            <a:avLst/>
          </a:prstGeom>
          <a:noFill/>
          <a:ln cap="flat" cmpd="sng" w="12700">
            <a:solidFill>
              <a:srgbClr val="D4D0C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6" name="Google Shape;406;p30"/>
          <p:cNvSpPr/>
          <p:nvPr/>
        </p:nvSpPr>
        <p:spPr>
          <a:xfrm>
            <a:off x="457200" y="2340864"/>
            <a:ext cx="33832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30"/>
          <p:cNvSpPr/>
          <p:nvPr/>
        </p:nvSpPr>
        <p:spPr>
          <a:xfrm>
            <a:off x="676656" y="2468880"/>
            <a:ext cx="32918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8" name="Google Shape;408;p30"/>
          <p:cNvCxnSpPr/>
          <p:nvPr/>
        </p:nvCxnSpPr>
        <p:spPr>
          <a:xfrm>
            <a:off x="841248" y="2432304"/>
            <a:ext cx="0" cy="45720"/>
          </a:xfrm>
          <a:prstGeom prst="straightConnector1">
            <a:avLst/>
          </a:prstGeom>
          <a:noFill/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9" name="Google Shape;409;p30"/>
          <p:cNvSpPr/>
          <p:nvPr/>
        </p:nvSpPr>
        <p:spPr>
          <a:xfrm>
            <a:off x="1656893" y="2468880"/>
            <a:ext cx="32918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300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0" name="Google Shape;410;p30"/>
          <p:cNvCxnSpPr/>
          <p:nvPr/>
        </p:nvCxnSpPr>
        <p:spPr>
          <a:xfrm>
            <a:off x="1821485" y="2432304"/>
            <a:ext cx="0" cy="45720"/>
          </a:xfrm>
          <a:prstGeom prst="straightConnector1">
            <a:avLst/>
          </a:prstGeom>
          <a:noFill/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1" name="Google Shape;411;p30"/>
          <p:cNvSpPr/>
          <p:nvPr/>
        </p:nvSpPr>
        <p:spPr>
          <a:xfrm>
            <a:off x="2637130" y="2468880"/>
            <a:ext cx="32918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600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2" name="Google Shape;412;p30"/>
          <p:cNvCxnSpPr/>
          <p:nvPr/>
        </p:nvCxnSpPr>
        <p:spPr>
          <a:xfrm>
            <a:off x="2801722" y="2432304"/>
            <a:ext cx="0" cy="45720"/>
          </a:xfrm>
          <a:prstGeom prst="straightConnector1">
            <a:avLst/>
          </a:prstGeom>
          <a:noFill/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3" name="Google Shape;413;p30"/>
          <p:cNvSpPr/>
          <p:nvPr/>
        </p:nvSpPr>
        <p:spPr>
          <a:xfrm>
            <a:off x="3617366" y="2468880"/>
            <a:ext cx="32918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900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4" name="Google Shape;414;p30"/>
          <p:cNvCxnSpPr/>
          <p:nvPr/>
        </p:nvCxnSpPr>
        <p:spPr>
          <a:xfrm>
            <a:off x="3781958" y="2432304"/>
            <a:ext cx="0" cy="45720"/>
          </a:xfrm>
          <a:prstGeom prst="straightConnector1">
            <a:avLst/>
          </a:prstGeom>
          <a:noFill/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5" name="Google Shape;415;p30"/>
          <p:cNvSpPr/>
          <p:nvPr/>
        </p:nvSpPr>
        <p:spPr>
          <a:xfrm>
            <a:off x="4597603" y="2468880"/>
            <a:ext cx="32918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1200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6" name="Google Shape;416;p30"/>
          <p:cNvCxnSpPr/>
          <p:nvPr/>
        </p:nvCxnSpPr>
        <p:spPr>
          <a:xfrm>
            <a:off x="4762195" y="2432304"/>
            <a:ext cx="0" cy="45720"/>
          </a:xfrm>
          <a:prstGeom prst="straightConnector1">
            <a:avLst/>
          </a:prstGeom>
          <a:noFill/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7" name="Google Shape;417;p30"/>
          <p:cNvSpPr/>
          <p:nvPr/>
        </p:nvSpPr>
        <p:spPr>
          <a:xfrm>
            <a:off x="5577840" y="2468880"/>
            <a:ext cx="32918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1500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8" name="Google Shape;418;p30"/>
          <p:cNvCxnSpPr/>
          <p:nvPr/>
        </p:nvCxnSpPr>
        <p:spPr>
          <a:xfrm>
            <a:off x="5742432" y="2432304"/>
            <a:ext cx="0" cy="45720"/>
          </a:xfrm>
          <a:prstGeom prst="straightConnector1">
            <a:avLst/>
          </a:prstGeom>
          <a:noFill/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9" name="Google Shape;419;p30"/>
          <p:cNvCxnSpPr/>
          <p:nvPr/>
        </p:nvCxnSpPr>
        <p:spPr>
          <a:xfrm>
            <a:off x="841248" y="1335024"/>
            <a:ext cx="0" cy="1097280"/>
          </a:xfrm>
          <a:prstGeom prst="straightConnector1">
            <a:avLst/>
          </a:prstGeom>
          <a:noFill/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0" name="Google Shape;420;p30"/>
          <p:cNvCxnSpPr/>
          <p:nvPr/>
        </p:nvCxnSpPr>
        <p:spPr>
          <a:xfrm>
            <a:off x="841248" y="2432304"/>
            <a:ext cx="4901184" cy="0"/>
          </a:xfrm>
          <a:prstGeom prst="straightConnector1">
            <a:avLst/>
          </a:prstGeom>
          <a:noFill/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1" name="Google Shape;421;p30"/>
          <p:cNvCxnSpPr/>
          <p:nvPr/>
        </p:nvCxnSpPr>
        <p:spPr>
          <a:xfrm>
            <a:off x="841248" y="1389888"/>
            <a:ext cx="980237" cy="296266"/>
          </a:xfrm>
          <a:prstGeom prst="straightConnector1">
            <a:avLst/>
          </a:prstGeom>
          <a:noFill/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2" name="Google Shape;422;p30"/>
          <p:cNvCxnSpPr/>
          <p:nvPr/>
        </p:nvCxnSpPr>
        <p:spPr>
          <a:xfrm>
            <a:off x="1821485" y="1686154"/>
            <a:ext cx="980237" cy="307238"/>
          </a:xfrm>
          <a:prstGeom prst="straightConnector1">
            <a:avLst/>
          </a:prstGeom>
          <a:noFill/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3" name="Google Shape;423;p30"/>
          <p:cNvCxnSpPr/>
          <p:nvPr/>
        </p:nvCxnSpPr>
        <p:spPr>
          <a:xfrm>
            <a:off x="2801722" y="1993392"/>
            <a:ext cx="980237" cy="274320"/>
          </a:xfrm>
          <a:prstGeom prst="straightConnector1">
            <a:avLst/>
          </a:prstGeom>
          <a:noFill/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4" name="Google Shape;424;p30"/>
          <p:cNvCxnSpPr/>
          <p:nvPr/>
        </p:nvCxnSpPr>
        <p:spPr>
          <a:xfrm>
            <a:off x="3781958" y="2267712"/>
            <a:ext cx="980237" cy="109728"/>
          </a:xfrm>
          <a:prstGeom prst="straightConnector1">
            <a:avLst/>
          </a:prstGeom>
          <a:noFill/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5" name="Google Shape;425;p30"/>
          <p:cNvCxnSpPr/>
          <p:nvPr/>
        </p:nvCxnSpPr>
        <p:spPr>
          <a:xfrm>
            <a:off x="4762195" y="2377440"/>
            <a:ext cx="980237" cy="50475"/>
          </a:xfrm>
          <a:prstGeom prst="straightConnector1">
            <a:avLst/>
          </a:prstGeom>
          <a:noFill/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6" name="Google Shape;426;p30"/>
          <p:cNvSpPr/>
          <p:nvPr/>
        </p:nvSpPr>
        <p:spPr>
          <a:xfrm>
            <a:off x="790956" y="1339596"/>
            <a:ext cx="100584" cy="100584"/>
          </a:xfrm>
          <a:prstGeom prst="ellipse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30"/>
          <p:cNvSpPr/>
          <p:nvPr/>
        </p:nvSpPr>
        <p:spPr>
          <a:xfrm>
            <a:off x="1771193" y="1635862"/>
            <a:ext cx="100584" cy="100584"/>
          </a:xfrm>
          <a:prstGeom prst="ellipse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30"/>
          <p:cNvSpPr/>
          <p:nvPr/>
        </p:nvSpPr>
        <p:spPr>
          <a:xfrm>
            <a:off x="2751430" y="1943100"/>
            <a:ext cx="100584" cy="100584"/>
          </a:xfrm>
          <a:prstGeom prst="ellipse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30"/>
          <p:cNvSpPr/>
          <p:nvPr/>
        </p:nvSpPr>
        <p:spPr>
          <a:xfrm>
            <a:off x="3731666" y="2217420"/>
            <a:ext cx="100584" cy="100584"/>
          </a:xfrm>
          <a:prstGeom prst="ellipse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30"/>
          <p:cNvSpPr/>
          <p:nvPr/>
        </p:nvSpPr>
        <p:spPr>
          <a:xfrm>
            <a:off x="4711903" y="2327148"/>
            <a:ext cx="100584" cy="100584"/>
          </a:xfrm>
          <a:prstGeom prst="ellipse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30"/>
          <p:cNvSpPr/>
          <p:nvPr/>
        </p:nvSpPr>
        <p:spPr>
          <a:xfrm>
            <a:off x="5692140" y="2377623"/>
            <a:ext cx="100584" cy="100584"/>
          </a:xfrm>
          <a:prstGeom prst="ellipse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2" name="Google Shape;432;p30"/>
          <p:cNvCxnSpPr/>
          <p:nvPr/>
        </p:nvCxnSpPr>
        <p:spPr>
          <a:xfrm flipH="1" rot="10800000">
            <a:off x="841248" y="1664208"/>
            <a:ext cx="980237" cy="131674"/>
          </a:xfrm>
          <a:prstGeom prst="straightConnector1">
            <a:avLst/>
          </a:prstGeom>
          <a:noFill/>
          <a:ln cap="flat" cmpd="sng" w="12700">
            <a:solidFill>
              <a:srgbClr val="BC933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3" name="Google Shape;433;p30"/>
          <p:cNvCxnSpPr/>
          <p:nvPr/>
        </p:nvCxnSpPr>
        <p:spPr>
          <a:xfrm flipH="1" rot="10800000">
            <a:off x="1821485" y="1576426"/>
            <a:ext cx="980237" cy="87782"/>
          </a:xfrm>
          <a:prstGeom prst="straightConnector1">
            <a:avLst/>
          </a:prstGeom>
          <a:noFill/>
          <a:ln cap="flat" cmpd="sng" w="12700">
            <a:solidFill>
              <a:srgbClr val="BC933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4" name="Google Shape;434;p30"/>
          <p:cNvCxnSpPr/>
          <p:nvPr/>
        </p:nvCxnSpPr>
        <p:spPr>
          <a:xfrm flipH="1" rot="10800000">
            <a:off x="2801722" y="1521562"/>
            <a:ext cx="980237" cy="54864"/>
          </a:xfrm>
          <a:prstGeom prst="straightConnector1">
            <a:avLst/>
          </a:prstGeom>
          <a:noFill/>
          <a:ln cap="flat" cmpd="sng" w="12700">
            <a:solidFill>
              <a:srgbClr val="BC933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5" name="Google Shape;435;p30"/>
          <p:cNvCxnSpPr/>
          <p:nvPr/>
        </p:nvCxnSpPr>
        <p:spPr>
          <a:xfrm flipH="1" rot="10800000">
            <a:off x="3781958" y="1488644"/>
            <a:ext cx="980237" cy="32918"/>
          </a:xfrm>
          <a:prstGeom prst="straightConnector1">
            <a:avLst/>
          </a:prstGeom>
          <a:noFill/>
          <a:ln cap="flat" cmpd="sng" w="12700">
            <a:solidFill>
              <a:srgbClr val="BC933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6" name="Google Shape;436;p30"/>
          <p:cNvCxnSpPr/>
          <p:nvPr/>
        </p:nvCxnSpPr>
        <p:spPr>
          <a:xfrm flipH="1" rot="10800000">
            <a:off x="4762195" y="1466697"/>
            <a:ext cx="980237" cy="21946"/>
          </a:xfrm>
          <a:prstGeom prst="straightConnector1">
            <a:avLst/>
          </a:prstGeom>
          <a:noFill/>
          <a:ln cap="flat" cmpd="sng" w="12700">
            <a:solidFill>
              <a:srgbClr val="BC933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7" name="Google Shape;437;p30"/>
          <p:cNvSpPr/>
          <p:nvPr/>
        </p:nvSpPr>
        <p:spPr>
          <a:xfrm>
            <a:off x="790956" y="1745590"/>
            <a:ext cx="100584" cy="100584"/>
          </a:xfrm>
          <a:prstGeom prst="ellipse">
            <a:avLst/>
          </a:prstGeom>
          <a:solidFill>
            <a:srgbClr val="BC933E"/>
          </a:solidFill>
          <a:ln cap="flat" cmpd="sng" w="12700">
            <a:solidFill>
              <a:srgbClr val="BC93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30"/>
          <p:cNvSpPr/>
          <p:nvPr/>
        </p:nvSpPr>
        <p:spPr>
          <a:xfrm>
            <a:off x="1771193" y="1613916"/>
            <a:ext cx="100584" cy="100584"/>
          </a:xfrm>
          <a:prstGeom prst="ellipse">
            <a:avLst/>
          </a:prstGeom>
          <a:solidFill>
            <a:srgbClr val="BC933E"/>
          </a:solidFill>
          <a:ln cap="flat" cmpd="sng" w="12700">
            <a:solidFill>
              <a:srgbClr val="BC93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30"/>
          <p:cNvSpPr/>
          <p:nvPr/>
        </p:nvSpPr>
        <p:spPr>
          <a:xfrm>
            <a:off x="2751430" y="1526134"/>
            <a:ext cx="100584" cy="100584"/>
          </a:xfrm>
          <a:prstGeom prst="ellipse">
            <a:avLst/>
          </a:prstGeom>
          <a:solidFill>
            <a:srgbClr val="BC933E"/>
          </a:solidFill>
          <a:ln cap="flat" cmpd="sng" w="12700">
            <a:solidFill>
              <a:srgbClr val="BC93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30"/>
          <p:cNvSpPr/>
          <p:nvPr/>
        </p:nvSpPr>
        <p:spPr>
          <a:xfrm>
            <a:off x="3731666" y="1471270"/>
            <a:ext cx="100584" cy="100584"/>
          </a:xfrm>
          <a:prstGeom prst="ellipse">
            <a:avLst/>
          </a:prstGeom>
          <a:solidFill>
            <a:srgbClr val="BC933E"/>
          </a:solidFill>
          <a:ln cap="flat" cmpd="sng" w="12700">
            <a:solidFill>
              <a:srgbClr val="BC93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30"/>
          <p:cNvSpPr/>
          <p:nvPr/>
        </p:nvSpPr>
        <p:spPr>
          <a:xfrm>
            <a:off x="4711903" y="1438351"/>
            <a:ext cx="100584" cy="100584"/>
          </a:xfrm>
          <a:prstGeom prst="ellipse">
            <a:avLst/>
          </a:prstGeom>
          <a:solidFill>
            <a:srgbClr val="BC933E"/>
          </a:solidFill>
          <a:ln cap="flat" cmpd="sng" w="12700">
            <a:solidFill>
              <a:srgbClr val="BC93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30"/>
          <p:cNvSpPr/>
          <p:nvPr/>
        </p:nvSpPr>
        <p:spPr>
          <a:xfrm>
            <a:off x="5692140" y="1416406"/>
            <a:ext cx="100584" cy="100584"/>
          </a:xfrm>
          <a:prstGeom prst="ellipse">
            <a:avLst/>
          </a:prstGeom>
          <a:solidFill>
            <a:srgbClr val="BC933E"/>
          </a:solidFill>
          <a:ln cap="flat" cmpd="sng" w="12700">
            <a:solidFill>
              <a:srgbClr val="BC93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3" name="Google Shape;443;p30"/>
          <p:cNvCxnSpPr/>
          <p:nvPr/>
        </p:nvCxnSpPr>
        <p:spPr>
          <a:xfrm>
            <a:off x="932688" y="2551176"/>
            <a:ext cx="182880" cy="0"/>
          </a:xfrm>
          <a:prstGeom prst="straightConnector1">
            <a:avLst/>
          </a:prstGeom>
          <a:noFill/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4" name="Google Shape;444;p30"/>
          <p:cNvSpPr/>
          <p:nvPr/>
        </p:nvSpPr>
        <p:spPr>
          <a:xfrm>
            <a:off x="978408" y="2505456"/>
            <a:ext cx="91440" cy="91440"/>
          </a:xfrm>
          <a:prstGeom prst="ellipse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30"/>
          <p:cNvSpPr/>
          <p:nvPr/>
        </p:nvSpPr>
        <p:spPr>
          <a:xfrm>
            <a:off x="1152144" y="2487168"/>
            <a:ext cx="1143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444848"/>
                </a:solidFill>
                <a:latin typeface="Arial"/>
                <a:ea typeface="Arial"/>
                <a:cs typeface="Arial"/>
                <a:sym typeface="Arial"/>
              </a:rPr>
              <a:t>M3 TCR %</a:t>
            </a:r>
            <a:endParaRPr b="0" i="0" sz="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6" name="Google Shape;446;p30"/>
          <p:cNvCxnSpPr/>
          <p:nvPr/>
        </p:nvCxnSpPr>
        <p:spPr>
          <a:xfrm>
            <a:off x="2350008" y="2551176"/>
            <a:ext cx="182880" cy="0"/>
          </a:xfrm>
          <a:prstGeom prst="straightConnector1">
            <a:avLst/>
          </a:prstGeom>
          <a:noFill/>
          <a:ln cap="flat" cmpd="sng" w="12700">
            <a:solidFill>
              <a:srgbClr val="BC933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7" name="Google Shape;447;p30"/>
          <p:cNvSpPr/>
          <p:nvPr/>
        </p:nvSpPr>
        <p:spPr>
          <a:xfrm>
            <a:off x="2395728" y="2505456"/>
            <a:ext cx="91500" cy="91500"/>
          </a:xfrm>
          <a:prstGeom prst="ellipse">
            <a:avLst/>
          </a:prstGeom>
          <a:solidFill>
            <a:srgbClr val="BC933E"/>
          </a:solidFill>
          <a:ln cap="flat" cmpd="sng" w="12700">
            <a:solidFill>
              <a:srgbClr val="BC93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30"/>
          <p:cNvSpPr/>
          <p:nvPr/>
        </p:nvSpPr>
        <p:spPr>
          <a:xfrm>
            <a:off x="2230214" y="2578556"/>
            <a:ext cx="1143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444848"/>
                </a:solidFill>
                <a:latin typeface="Arial"/>
                <a:ea typeface="Arial"/>
                <a:cs typeface="Arial"/>
                <a:sym typeface="Arial"/>
              </a:rPr>
              <a:t>M4 TCR %</a:t>
            </a:r>
            <a:endParaRPr b="0" i="0" sz="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30"/>
          <p:cNvSpPr/>
          <p:nvPr/>
        </p:nvSpPr>
        <p:spPr>
          <a:xfrm>
            <a:off x="457200" y="2907792"/>
            <a:ext cx="5394960" cy="1737360"/>
          </a:xfrm>
          <a:prstGeom prst="rect">
            <a:avLst/>
          </a:prstGeom>
          <a:solidFill>
            <a:srgbClr val="EAE8E4"/>
          </a:solidFill>
          <a:ln cap="flat" cmpd="sng" w="12700">
            <a:solidFill>
              <a:srgbClr val="EAE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30"/>
          <p:cNvSpPr/>
          <p:nvPr/>
        </p:nvSpPr>
        <p:spPr>
          <a:xfrm>
            <a:off x="457200" y="2944368"/>
            <a:ext cx="5394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4A0D0B"/>
                </a:solidFill>
                <a:latin typeface="Calibri"/>
                <a:ea typeface="Calibri"/>
                <a:cs typeface="Calibri"/>
                <a:sym typeface="Calibri"/>
              </a:rPr>
              <a:t>Queue Backlog  W_q  Over Time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1" name="Google Shape;451;p30"/>
          <p:cNvCxnSpPr/>
          <p:nvPr/>
        </p:nvCxnSpPr>
        <p:spPr>
          <a:xfrm>
            <a:off x="841248" y="3255264"/>
            <a:ext cx="4901184" cy="0"/>
          </a:xfrm>
          <a:prstGeom prst="straightConnector1">
            <a:avLst/>
          </a:prstGeom>
          <a:noFill/>
          <a:ln cap="flat" cmpd="sng" w="12700">
            <a:solidFill>
              <a:srgbClr val="D4D0C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2" name="Google Shape;452;p30"/>
          <p:cNvSpPr/>
          <p:nvPr/>
        </p:nvSpPr>
        <p:spPr>
          <a:xfrm>
            <a:off x="457200" y="3163824"/>
            <a:ext cx="33832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52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3" name="Google Shape;453;p30"/>
          <p:cNvCxnSpPr/>
          <p:nvPr/>
        </p:nvCxnSpPr>
        <p:spPr>
          <a:xfrm>
            <a:off x="841248" y="3529584"/>
            <a:ext cx="4901184" cy="0"/>
          </a:xfrm>
          <a:prstGeom prst="straightConnector1">
            <a:avLst/>
          </a:prstGeom>
          <a:noFill/>
          <a:ln cap="flat" cmpd="sng" w="12700">
            <a:solidFill>
              <a:srgbClr val="D4D0C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4" name="Google Shape;454;p30"/>
          <p:cNvSpPr/>
          <p:nvPr/>
        </p:nvSpPr>
        <p:spPr>
          <a:xfrm>
            <a:off x="457200" y="3438144"/>
            <a:ext cx="33832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39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5" name="Google Shape;455;p30"/>
          <p:cNvCxnSpPr/>
          <p:nvPr/>
        </p:nvCxnSpPr>
        <p:spPr>
          <a:xfrm>
            <a:off x="841248" y="3803904"/>
            <a:ext cx="4901184" cy="0"/>
          </a:xfrm>
          <a:prstGeom prst="straightConnector1">
            <a:avLst/>
          </a:prstGeom>
          <a:noFill/>
          <a:ln cap="flat" cmpd="sng" w="12700">
            <a:solidFill>
              <a:srgbClr val="D4D0C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6" name="Google Shape;456;p30"/>
          <p:cNvSpPr/>
          <p:nvPr/>
        </p:nvSpPr>
        <p:spPr>
          <a:xfrm>
            <a:off x="457200" y="3712464"/>
            <a:ext cx="33832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26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7" name="Google Shape;457;p30"/>
          <p:cNvCxnSpPr/>
          <p:nvPr/>
        </p:nvCxnSpPr>
        <p:spPr>
          <a:xfrm>
            <a:off x="841248" y="4078224"/>
            <a:ext cx="4901184" cy="0"/>
          </a:xfrm>
          <a:prstGeom prst="straightConnector1">
            <a:avLst/>
          </a:prstGeom>
          <a:noFill/>
          <a:ln cap="flat" cmpd="sng" w="12700">
            <a:solidFill>
              <a:srgbClr val="D4D0C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8" name="Google Shape;458;p30"/>
          <p:cNvSpPr/>
          <p:nvPr/>
        </p:nvSpPr>
        <p:spPr>
          <a:xfrm>
            <a:off x="457200" y="3986784"/>
            <a:ext cx="33832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9" name="Google Shape;459;p30"/>
          <p:cNvCxnSpPr/>
          <p:nvPr/>
        </p:nvCxnSpPr>
        <p:spPr>
          <a:xfrm>
            <a:off x="841248" y="4352544"/>
            <a:ext cx="4901184" cy="0"/>
          </a:xfrm>
          <a:prstGeom prst="straightConnector1">
            <a:avLst/>
          </a:prstGeom>
          <a:noFill/>
          <a:ln cap="flat" cmpd="sng" w="12700">
            <a:solidFill>
              <a:srgbClr val="D4D0C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0" name="Google Shape;460;p30"/>
          <p:cNvSpPr/>
          <p:nvPr/>
        </p:nvSpPr>
        <p:spPr>
          <a:xfrm>
            <a:off x="457200" y="4261104"/>
            <a:ext cx="33832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30"/>
          <p:cNvSpPr/>
          <p:nvPr/>
        </p:nvSpPr>
        <p:spPr>
          <a:xfrm>
            <a:off x="676656" y="4389120"/>
            <a:ext cx="32918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2" name="Google Shape;462;p30"/>
          <p:cNvCxnSpPr/>
          <p:nvPr/>
        </p:nvCxnSpPr>
        <p:spPr>
          <a:xfrm>
            <a:off x="841248" y="4352544"/>
            <a:ext cx="0" cy="45720"/>
          </a:xfrm>
          <a:prstGeom prst="straightConnector1">
            <a:avLst/>
          </a:prstGeom>
          <a:noFill/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3" name="Google Shape;463;p30"/>
          <p:cNvSpPr/>
          <p:nvPr/>
        </p:nvSpPr>
        <p:spPr>
          <a:xfrm>
            <a:off x="1656893" y="4389120"/>
            <a:ext cx="32918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200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4" name="Google Shape;464;p30"/>
          <p:cNvCxnSpPr/>
          <p:nvPr/>
        </p:nvCxnSpPr>
        <p:spPr>
          <a:xfrm>
            <a:off x="1821485" y="4352544"/>
            <a:ext cx="0" cy="45720"/>
          </a:xfrm>
          <a:prstGeom prst="straightConnector1">
            <a:avLst/>
          </a:prstGeom>
          <a:noFill/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5" name="Google Shape;465;p30"/>
          <p:cNvSpPr/>
          <p:nvPr/>
        </p:nvSpPr>
        <p:spPr>
          <a:xfrm>
            <a:off x="2637130" y="4389120"/>
            <a:ext cx="32918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400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6" name="Google Shape;466;p30"/>
          <p:cNvCxnSpPr/>
          <p:nvPr/>
        </p:nvCxnSpPr>
        <p:spPr>
          <a:xfrm>
            <a:off x="2801722" y="4352544"/>
            <a:ext cx="0" cy="45720"/>
          </a:xfrm>
          <a:prstGeom prst="straightConnector1">
            <a:avLst/>
          </a:prstGeom>
          <a:noFill/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7" name="Google Shape;467;p30"/>
          <p:cNvSpPr/>
          <p:nvPr/>
        </p:nvSpPr>
        <p:spPr>
          <a:xfrm>
            <a:off x="3617366" y="4389120"/>
            <a:ext cx="32918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800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8" name="Google Shape;468;p30"/>
          <p:cNvCxnSpPr/>
          <p:nvPr/>
        </p:nvCxnSpPr>
        <p:spPr>
          <a:xfrm>
            <a:off x="3781958" y="4352544"/>
            <a:ext cx="0" cy="45720"/>
          </a:xfrm>
          <a:prstGeom prst="straightConnector1">
            <a:avLst/>
          </a:prstGeom>
          <a:noFill/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9" name="Google Shape;469;p30"/>
          <p:cNvSpPr/>
          <p:nvPr/>
        </p:nvSpPr>
        <p:spPr>
          <a:xfrm>
            <a:off x="4597603" y="4389120"/>
            <a:ext cx="32918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1200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0" name="Google Shape;470;p30"/>
          <p:cNvCxnSpPr/>
          <p:nvPr/>
        </p:nvCxnSpPr>
        <p:spPr>
          <a:xfrm>
            <a:off x="4762195" y="4352544"/>
            <a:ext cx="0" cy="45720"/>
          </a:xfrm>
          <a:prstGeom prst="straightConnector1">
            <a:avLst/>
          </a:prstGeom>
          <a:noFill/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1" name="Google Shape;471;p30"/>
          <p:cNvSpPr/>
          <p:nvPr/>
        </p:nvSpPr>
        <p:spPr>
          <a:xfrm>
            <a:off x="5577840" y="4389120"/>
            <a:ext cx="32918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1500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2" name="Google Shape;472;p30"/>
          <p:cNvCxnSpPr/>
          <p:nvPr/>
        </p:nvCxnSpPr>
        <p:spPr>
          <a:xfrm>
            <a:off x="5742432" y="4352544"/>
            <a:ext cx="0" cy="45720"/>
          </a:xfrm>
          <a:prstGeom prst="straightConnector1">
            <a:avLst/>
          </a:prstGeom>
          <a:noFill/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3" name="Google Shape;473;p30"/>
          <p:cNvCxnSpPr/>
          <p:nvPr/>
        </p:nvCxnSpPr>
        <p:spPr>
          <a:xfrm>
            <a:off x="841248" y="3255264"/>
            <a:ext cx="0" cy="1097280"/>
          </a:xfrm>
          <a:prstGeom prst="straightConnector1">
            <a:avLst/>
          </a:prstGeom>
          <a:noFill/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4" name="Google Shape;474;p30"/>
          <p:cNvCxnSpPr/>
          <p:nvPr/>
        </p:nvCxnSpPr>
        <p:spPr>
          <a:xfrm>
            <a:off x="841248" y="4352544"/>
            <a:ext cx="4901184" cy="0"/>
          </a:xfrm>
          <a:prstGeom prst="straightConnector1">
            <a:avLst/>
          </a:prstGeom>
          <a:noFill/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5" name="Google Shape;475;p30"/>
          <p:cNvCxnSpPr/>
          <p:nvPr/>
        </p:nvCxnSpPr>
        <p:spPr>
          <a:xfrm flipH="1" rot="10800000">
            <a:off x="841248" y="4310341"/>
            <a:ext cx="980237" cy="42203"/>
          </a:xfrm>
          <a:prstGeom prst="straightConnector1">
            <a:avLst/>
          </a:prstGeom>
          <a:noFill/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6" name="Google Shape;476;p30"/>
          <p:cNvCxnSpPr/>
          <p:nvPr/>
        </p:nvCxnSpPr>
        <p:spPr>
          <a:xfrm flipH="1" rot="10800000">
            <a:off x="1821485" y="4204833"/>
            <a:ext cx="980237" cy="105508"/>
          </a:xfrm>
          <a:prstGeom prst="straightConnector1">
            <a:avLst/>
          </a:prstGeom>
          <a:noFill/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7" name="Google Shape;477;p30"/>
          <p:cNvCxnSpPr/>
          <p:nvPr/>
        </p:nvCxnSpPr>
        <p:spPr>
          <a:xfrm flipH="1" rot="10800000">
            <a:off x="2801722" y="3761701"/>
            <a:ext cx="980237" cy="443132"/>
          </a:xfrm>
          <a:prstGeom prst="straightConnector1">
            <a:avLst/>
          </a:prstGeom>
          <a:noFill/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8" name="Google Shape;478;p30"/>
          <p:cNvCxnSpPr/>
          <p:nvPr/>
        </p:nvCxnSpPr>
        <p:spPr>
          <a:xfrm flipH="1" rot="10800000">
            <a:off x="3781958" y="3402975"/>
            <a:ext cx="980237" cy="358726"/>
          </a:xfrm>
          <a:prstGeom prst="straightConnector1">
            <a:avLst/>
          </a:prstGeom>
          <a:noFill/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9" name="Google Shape;479;p30"/>
          <p:cNvCxnSpPr/>
          <p:nvPr/>
        </p:nvCxnSpPr>
        <p:spPr>
          <a:xfrm flipH="1" rot="10800000">
            <a:off x="4762195" y="3255264"/>
            <a:ext cx="980237" cy="147711"/>
          </a:xfrm>
          <a:prstGeom prst="straightConnector1">
            <a:avLst/>
          </a:prstGeom>
          <a:noFill/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0" name="Google Shape;480;p30"/>
          <p:cNvSpPr/>
          <p:nvPr/>
        </p:nvSpPr>
        <p:spPr>
          <a:xfrm>
            <a:off x="790956" y="4302252"/>
            <a:ext cx="100584" cy="100584"/>
          </a:xfrm>
          <a:prstGeom prst="ellipse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30"/>
          <p:cNvSpPr/>
          <p:nvPr/>
        </p:nvSpPr>
        <p:spPr>
          <a:xfrm>
            <a:off x="1771193" y="4260049"/>
            <a:ext cx="100584" cy="100584"/>
          </a:xfrm>
          <a:prstGeom prst="ellipse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30"/>
          <p:cNvSpPr/>
          <p:nvPr/>
        </p:nvSpPr>
        <p:spPr>
          <a:xfrm>
            <a:off x="2751430" y="4154541"/>
            <a:ext cx="100584" cy="100584"/>
          </a:xfrm>
          <a:prstGeom prst="ellipse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30"/>
          <p:cNvSpPr/>
          <p:nvPr/>
        </p:nvSpPr>
        <p:spPr>
          <a:xfrm>
            <a:off x="3731666" y="3711409"/>
            <a:ext cx="100584" cy="100584"/>
          </a:xfrm>
          <a:prstGeom prst="ellipse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30"/>
          <p:cNvSpPr/>
          <p:nvPr/>
        </p:nvSpPr>
        <p:spPr>
          <a:xfrm>
            <a:off x="4711903" y="3352683"/>
            <a:ext cx="100584" cy="100584"/>
          </a:xfrm>
          <a:prstGeom prst="ellipse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30"/>
          <p:cNvSpPr/>
          <p:nvPr/>
        </p:nvSpPr>
        <p:spPr>
          <a:xfrm>
            <a:off x="5692140" y="3204972"/>
            <a:ext cx="100584" cy="100584"/>
          </a:xfrm>
          <a:prstGeom prst="ellipse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6" name="Google Shape;486;p30"/>
          <p:cNvCxnSpPr/>
          <p:nvPr/>
        </p:nvCxnSpPr>
        <p:spPr>
          <a:xfrm flipH="1" rot="10800000">
            <a:off x="841248" y="4344103"/>
            <a:ext cx="980237" cy="8441"/>
          </a:xfrm>
          <a:prstGeom prst="straightConnector1">
            <a:avLst/>
          </a:prstGeom>
          <a:noFill/>
          <a:ln cap="flat" cmpd="sng" w="12700">
            <a:solidFill>
              <a:srgbClr val="BC933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7" name="Google Shape;487;p30"/>
          <p:cNvCxnSpPr/>
          <p:nvPr/>
        </p:nvCxnSpPr>
        <p:spPr>
          <a:xfrm flipH="1" rot="10800000">
            <a:off x="1821485" y="4337773"/>
            <a:ext cx="980237" cy="6330"/>
          </a:xfrm>
          <a:prstGeom prst="straightConnector1">
            <a:avLst/>
          </a:prstGeom>
          <a:noFill/>
          <a:ln cap="flat" cmpd="sng" w="12700">
            <a:solidFill>
              <a:srgbClr val="BC933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8" name="Google Shape;488;p30"/>
          <p:cNvCxnSpPr/>
          <p:nvPr/>
        </p:nvCxnSpPr>
        <p:spPr>
          <a:xfrm flipH="1" rot="10800000">
            <a:off x="2801722" y="4329332"/>
            <a:ext cx="980237" cy="8441"/>
          </a:xfrm>
          <a:prstGeom prst="straightConnector1">
            <a:avLst/>
          </a:prstGeom>
          <a:noFill/>
          <a:ln cap="flat" cmpd="sng" w="12700">
            <a:solidFill>
              <a:srgbClr val="BC933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9" name="Google Shape;489;p30"/>
          <p:cNvCxnSpPr/>
          <p:nvPr/>
        </p:nvCxnSpPr>
        <p:spPr>
          <a:xfrm>
            <a:off x="3781958" y="4329332"/>
            <a:ext cx="980237" cy="0"/>
          </a:xfrm>
          <a:prstGeom prst="straightConnector1">
            <a:avLst/>
          </a:prstGeom>
          <a:noFill/>
          <a:ln cap="flat" cmpd="sng" w="12700">
            <a:solidFill>
              <a:srgbClr val="BC933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0" name="Google Shape;490;p30"/>
          <p:cNvCxnSpPr/>
          <p:nvPr/>
        </p:nvCxnSpPr>
        <p:spPr>
          <a:xfrm flipH="1" rot="10800000">
            <a:off x="4762195" y="4325112"/>
            <a:ext cx="980237" cy="4220"/>
          </a:xfrm>
          <a:prstGeom prst="straightConnector1">
            <a:avLst/>
          </a:prstGeom>
          <a:noFill/>
          <a:ln cap="flat" cmpd="sng" w="12700">
            <a:solidFill>
              <a:srgbClr val="BC933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1" name="Google Shape;491;p30"/>
          <p:cNvSpPr/>
          <p:nvPr/>
        </p:nvSpPr>
        <p:spPr>
          <a:xfrm>
            <a:off x="790956" y="4302252"/>
            <a:ext cx="100584" cy="100584"/>
          </a:xfrm>
          <a:prstGeom prst="ellipse">
            <a:avLst/>
          </a:prstGeom>
          <a:solidFill>
            <a:srgbClr val="BC933E"/>
          </a:solidFill>
          <a:ln cap="flat" cmpd="sng" w="12700">
            <a:solidFill>
              <a:srgbClr val="BC93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30"/>
          <p:cNvSpPr/>
          <p:nvPr/>
        </p:nvSpPr>
        <p:spPr>
          <a:xfrm>
            <a:off x="1771193" y="4293811"/>
            <a:ext cx="100584" cy="100584"/>
          </a:xfrm>
          <a:prstGeom prst="ellipse">
            <a:avLst/>
          </a:prstGeom>
          <a:solidFill>
            <a:srgbClr val="BC933E"/>
          </a:solidFill>
          <a:ln cap="flat" cmpd="sng" w="12700">
            <a:solidFill>
              <a:srgbClr val="BC93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30"/>
          <p:cNvSpPr/>
          <p:nvPr/>
        </p:nvSpPr>
        <p:spPr>
          <a:xfrm>
            <a:off x="2751430" y="4287481"/>
            <a:ext cx="100584" cy="100584"/>
          </a:xfrm>
          <a:prstGeom prst="ellipse">
            <a:avLst/>
          </a:prstGeom>
          <a:solidFill>
            <a:srgbClr val="BC933E"/>
          </a:solidFill>
          <a:ln cap="flat" cmpd="sng" w="12700">
            <a:solidFill>
              <a:srgbClr val="BC93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30"/>
          <p:cNvSpPr/>
          <p:nvPr/>
        </p:nvSpPr>
        <p:spPr>
          <a:xfrm>
            <a:off x="3731666" y="4279040"/>
            <a:ext cx="100584" cy="100584"/>
          </a:xfrm>
          <a:prstGeom prst="ellipse">
            <a:avLst/>
          </a:prstGeom>
          <a:solidFill>
            <a:srgbClr val="BC933E"/>
          </a:solidFill>
          <a:ln cap="flat" cmpd="sng" w="12700">
            <a:solidFill>
              <a:srgbClr val="BC93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30"/>
          <p:cNvSpPr/>
          <p:nvPr/>
        </p:nvSpPr>
        <p:spPr>
          <a:xfrm>
            <a:off x="4711903" y="4279040"/>
            <a:ext cx="100584" cy="100584"/>
          </a:xfrm>
          <a:prstGeom prst="ellipse">
            <a:avLst/>
          </a:prstGeom>
          <a:solidFill>
            <a:srgbClr val="BC933E"/>
          </a:solidFill>
          <a:ln cap="flat" cmpd="sng" w="12700">
            <a:solidFill>
              <a:srgbClr val="BC93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30"/>
          <p:cNvSpPr/>
          <p:nvPr/>
        </p:nvSpPr>
        <p:spPr>
          <a:xfrm>
            <a:off x="5692140" y="4274820"/>
            <a:ext cx="100584" cy="100584"/>
          </a:xfrm>
          <a:prstGeom prst="ellipse">
            <a:avLst/>
          </a:prstGeom>
          <a:solidFill>
            <a:srgbClr val="BC933E"/>
          </a:solidFill>
          <a:ln cap="flat" cmpd="sng" w="12700">
            <a:solidFill>
              <a:srgbClr val="BC93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7" name="Google Shape;497;p30"/>
          <p:cNvCxnSpPr/>
          <p:nvPr/>
        </p:nvCxnSpPr>
        <p:spPr>
          <a:xfrm>
            <a:off x="932688" y="4471416"/>
            <a:ext cx="182880" cy="0"/>
          </a:xfrm>
          <a:prstGeom prst="straightConnector1">
            <a:avLst/>
          </a:prstGeom>
          <a:noFill/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8" name="Google Shape;498;p30"/>
          <p:cNvSpPr/>
          <p:nvPr/>
        </p:nvSpPr>
        <p:spPr>
          <a:xfrm>
            <a:off x="978408" y="4425696"/>
            <a:ext cx="91440" cy="91440"/>
          </a:xfrm>
          <a:prstGeom prst="ellipse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30"/>
          <p:cNvSpPr/>
          <p:nvPr/>
        </p:nvSpPr>
        <p:spPr>
          <a:xfrm>
            <a:off x="1152144" y="4407408"/>
            <a:ext cx="1143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444848"/>
                </a:solidFill>
                <a:latin typeface="Arial"/>
                <a:ea typeface="Arial"/>
                <a:cs typeface="Arial"/>
                <a:sym typeface="Arial"/>
              </a:rPr>
              <a:t>M3 W_q (s)</a:t>
            </a:r>
            <a:endParaRPr b="0" i="0" sz="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0" name="Google Shape;500;p30"/>
          <p:cNvCxnSpPr/>
          <p:nvPr/>
        </p:nvCxnSpPr>
        <p:spPr>
          <a:xfrm>
            <a:off x="2350008" y="4471416"/>
            <a:ext cx="182880" cy="0"/>
          </a:xfrm>
          <a:prstGeom prst="straightConnector1">
            <a:avLst/>
          </a:prstGeom>
          <a:noFill/>
          <a:ln cap="flat" cmpd="sng" w="12700">
            <a:solidFill>
              <a:srgbClr val="BC933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1" name="Google Shape;501;p30"/>
          <p:cNvSpPr/>
          <p:nvPr/>
        </p:nvSpPr>
        <p:spPr>
          <a:xfrm>
            <a:off x="2395728" y="4425696"/>
            <a:ext cx="91440" cy="91440"/>
          </a:xfrm>
          <a:prstGeom prst="ellipse">
            <a:avLst/>
          </a:prstGeom>
          <a:solidFill>
            <a:srgbClr val="BC933E"/>
          </a:solidFill>
          <a:ln cap="flat" cmpd="sng" w="12700">
            <a:solidFill>
              <a:srgbClr val="BC93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30"/>
          <p:cNvSpPr/>
          <p:nvPr/>
        </p:nvSpPr>
        <p:spPr>
          <a:xfrm>
            <a:off x="2249426" y="4470698"/>
            <a:ext cx="1225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444848"/>
                </a:solidFill>
                <a:latin typeface="Arial"/>
                <a:ea typeface="Arial"/>
                <a:cs typeface="Arial"/>
                <a:sym typeface="Arial"/>
              </a:rPr>
              <a:t>M4 W_q (s)</a:t>
            </a:r>
            <a:endParaRPr b="0" i="0" sz="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30"/>
          <p:cNvSpPr/>
          <p:nvPr/>
        </p:nvSpPr>
        <p:spPr>
          <a:xfrm>
            <a:off x="5989325" y="987550"/>
            <a:ext cx="2926200" cy="465900"/>
          </a:xfrm>
          <a:prstGeom prst="rect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30"/>
          <p:cNvSpPr/>
          <p:nvPr/>
        </p:nvSpPr>
        <p:spPr>
          <a:xfrm>
            <a:off x="5989325" y="987550"/>
            <a:ext cx="29262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M4 8-PANEL DASHBOARD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30"/>
          <p:cNvSpPr/>
          <p:nvPr/>
        </p:nvSpPr>
        <p:spPr>
          <a:xfrm>
            <a:off x="5989325" y="1575801"/>
            <a:ext cx="1371600" cy="661800"/>
          </a:xfrm>
          <a:prstGeom prst="rect">
            <a:avLst/>
          </a:prstGeom>
          <a:solidFill>
            <a:srgbClr val="EAE8E4"/>
          </a:solidFill>
          <a:ln cap="flat" cmpd="sng" w="12700">
            <a:solidFill>
              <a:srgbClr val="EAE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30"/>
          <p:cNvSpPr/>
          <p:nvPr/>
        </p:nvSpPr>
        <p:spPr>
          <a:xfrm>
            <a:off x="5989325" y="1575801"/>
            <a:ext cx="63900" cy="661800"/>
          </a:xfrm>
          <a:prstGeom prst="rect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30"/>
          <p:cNvSpPr/>
          <p:nvPr/>
        </p:nvSpPr>
        <p:spPr>
          <a:xfrm>
            <a:off x="6099053" y="1637077"/>
            <a:ext cx="1225200" cy="22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n-US" sz="1050" u="none" cap="none" strike="noStrike">
                <a:solidFill>
                  <a:srgbClr val="444848"/>
                </a:solidFill>
                <a:latin typeface="Calibri"/>
                <a:ea typeface="Calibri"/>
                <a:cs typeface="Calibri"/>
                <a:sym typeface="Calibri"/>
              </a:rPr>
              <a:t>P1 · TCR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30"/>
          <p:cNvSpPr/>
          <p:nvPr/>
        </p:nvSpPr>
        <p:spPr>
          <a:xfrm>
            <a:off x="6099053" y="1833161"/>
            <a:ext cx="12252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550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97–99%</a:t>
            </a:r>
            <a:endParaRPr b="0" i="0" sz="15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30"/>
          <p:cNvSpPr/>
          <p:nvPr/>
        </p:nvSpPr>
        <p:spPr>
          <a:xfrm>
            <a:off x="6099053" y="2078265"/>
            <a:ext cx="1225200" cy="15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1" lang="en-US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(M3: 0.4%)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30"/>
          <p:cNvSpPr/>
          <p:nvPr/>
        </p:nvSpPr>
        <p:spPr>
          <a:xfrm>
            <a:off x="7434075" y="1575801"/>
            <a:ext cx="1371600" cy="661800"/>
          </a:xfrm>
          <a:prstGeom prst="rect">
            <a:avLst/>
          </a:prstGeom>
          <a:solidFill>
            <a:srgbClr val="EAE8E4"/>
          </a:solidFill>
          <a:ln cap="flat" cmpd="sng" w="12700">
            <a:solidFill>
              <a:srgbClr val="EAE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30"/>
          <p:cNvSpPr/>
          <p:nvPr/>
        </p:nvSpPr>
        <p:spPr>
          <a:xfrm>
            <a:off x="7434075" y="1575801"/>
            <a:ext cx="63900" cy="661800"/>
          </a:xfrm>
          <a:prstGeom prst="rect">
            <a:avLst/>
          </a:prstGeom>
          <a:solidFill>
            <a:srgbClr val="BC933E"/>
          </a:solidFill>
          <a:ln cap="flat" cmpd="sng" w="12700">
            <a:solidFill>
              <a:srgbClr val="BC93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30"/>
          <p:cNvSpPr/>
          <p:nvPr/>
        </p:nvSpPr>
        <p:spPr>
          <a:xfrm>
            <a:off x="7543802" y="1637077"/>
            <a:ext cx="1225200" cy="22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n-US" sz="1050" u="none" cap="none" strike="noStrike">
                <a:solidFill>
                  <a:srgbClr val="444848"/>
                </a:solidFill>
                <a:latin typeface="Calibri"/>
                <a:ea typeface="Calibri"/>
                <a:cs typeface="Calibri"/>
                <a:sym typeface="Calibri"/>
              </a:rPr>
              <a:t>P2 · Tail Lat P95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30"/>
          <p:cNvSpPr/>
          <p:nvPr/>
        </p:nvSpPr>
        <p:spPr>
          <a:xfrm>
            <a:off x="7543802" y="1833161"/>
            <a:ext cx="12252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550" u="none" cap="none" strike="noStrike">
                <a:solidFill>
                  <a:srgbClr val="BC933E"/>
                </a:solidFill>
                <a:latin typeface="Calibri"/>
                <a:ea typeface="Calibri"/>
                <a:cs typeface="Calibri"/>
                <a:sym typeface="Calibri"/>
              </a:rPr>
              <a:t>~4s</a:t>
            </a:r>
            <a:endParaRPr b="0" i="0" sz="15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30"/>
          <p:cNvSpPr/>
          <p:nvPr/>
        </p:nvSpPr>
        <p:spPr>
          <a:xfrm>
            <a:off x="7543802" y="2078265"/>
            <a:ext cx="1225200" cy="15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1" lang="en-US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(M3: &gt;50s)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30"/>
          <p:cNvSpPr/>
          <p:nvPr/>
        </p:nvSpPr>
        <p:spPr>
          <a:xfrm>
            <a:off x="5989325" y="2335625"/>
            <a:ext cx="1371600" cy="661800"/>
          </a:xfrm>
          <a:prstGeom prst="rect">
            <a:avLst/>
          </a:prstGeom>
          <a:solidFill>
            <a:srgbClr val="EAE8E4"/>
          </a:solidFill>
          <a:ln cap="flat" cmpd="sng" w="12700">
            <a:solidFill>
              <a:srgbClr val="EAE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30"/>
          <p:cNvSpPr/>
          <p:nvPr/>
        </p:nvSpPr>
        <p:spPr>
          <a:xfrm>
            <a:off x="5989325" y="2335625"/>
            <a:ext cx="63900" cy="661800"/>
          </a:xfrm>
          <a:prstGeom prst="rect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30"/>
          <p:cNvSpPr/>
          <p:nvPr/>
        </p:nvSpPr>
        <p:spPr>
          <a:xfrm>
            <a:off x="6099053" y="2396901"/>
            <a:ext cx="1225200" cy="22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n-US" sz="1050" u="none" cap="none" strike="noStrike">
                <a:solidFill>
                  <a:srgbClr val="444848"/>
                </a:solidFill>
                <a:latin typeface="Calibri"/>
                <a:ea typeface="Calibri"/>
                <a:cs typeface="Calibri"/>
                <a:sym typeface="Calibri"/>
              </a:rPr>
              <a:t>P3 · Strategy Mix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30"/>
          <p:cNvSpPr/>
          <p:nvPr/>
        </p:nvSpPr>
        <p:spPr>
          <a:xfrm>
            <a:off x="6099053" y="2592985"/>
            <a:ext cx="12252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550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89.8%</a:t>
            </a:r>
            <a:endParaRPr b="0" i="0" sz="15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30"/>
          <p:cNvSpPr/>
          <p:nvPr/>
        </p:nvSpPr>
        <p:spPr>
          <a:xfrm>
            <a:off x="6099053" y="2838090"/>
            <a:ext cx="1225200" cy="15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1" lang="en-US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Exploit / 10.2% Ex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30"/>
          <p:cNvSpPr/>
          <p:nvPr/>
        </p:nvSpPr>
        <p:spPr>
          <a:xfrm>
            <a:off x="7434075" y="2335625"/>
            <a:ext cx="1371600" cy="661800"/>
          </a:xfrm>
          <a:prstGeom prst="rect">
            <a:avLst/>
          </a:prstGeom>
          <a:solidFill>
            <a:srgbClr val="EAE8E4"/>
          </a:solidFill>
          <a:ln cap="flat" cmpd="sng" w="12700">
            <a:solidFill>
              <a:srgbClr val="EAE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30"/>
          <p:cNvSpPr/>
          <p:nvPr/>
        </p:nvSpPr>
        <p:spPr>
          <a:xfrm>
            <a:off x="7434075" y="2335625"/>
            <a:ext cx="63900" cy="661800"/>
          </a:xfrm>
          <a:prstGeom prst="rect">
            <a:avLst/>
          </a:prstGeom>
          <a:solidFill>
            <a:srgbClr val="BC933E"/>
          </a:solidFill>
          <a:ln cap="flat" cmpd="sng" w="12700">
            <a:solidFill>
              <a:srgbClr val="BC93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30"/>
          <p:cNvSpPr/>
          <p:nvPr/>
        </p:nvSpPr>
        <p:spPr>
          <a:xfrm>
            <a:off x="7543802" y="2396901"/>
            <a:ext cx="1225200" cy="22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n-US" sz="1050" u="none" cap="none" strike="noStrike">
                <a:solidFill>
                  <a:srgbClr val="444848"/>
                </a:solidFill>
                <a:latin typeface="Calibri"/>
                <a:ea typeface="Calibri"/>
                <a:cs typeface="Calibri"/>
                <a:sym typeface="Calibri"/>
              </a:rPr>
              <a:t>P4 · Utilisation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30"/>
          <p:cNvSpPr/>
          <p:nvPr/>
        </p:nvSpPr>
        <p:spPr>
          <a:xfrm>
            <a:off x="7543802" y="2592985"/>
            <a:ext cx="12252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550" u="none" cap="none" strike="noStrike">
                <a:solidFill>
                  <a:srgbClr val="BC933E"/>
                </a:solidFill>
                <a:latin typeface="Calibri"/>
                <a:ea typeface="Calibri"/>
                <a:cs typeface="Calibri"/>
                <a:sym typeface="Calibri"/>
              </a:rPr>
              <a:t>Distributed</a:t>
            </a:r>
            <a:endParaRPr b="0" i="0" sz="15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30"/>
          <p:cNvSpPr/>
          <p:nvPr/>
        </p:nvSpPr>
        <p:spPr>
          <a:xfrm>
            <a:off x="7543802" y="2838090"/>
            <a:ext cx="1225200" cy="15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1" lang="en-US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(M3 monopolised)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30"/>
          <p:cNvSpPr/>
          <p:nvPr/>
        </p:nvSpPr>
        <p:spPr>
          <a:xfrm>
            <a:off x="5989325" y="3095449"/>
            <a:ext cx="1371600" cy="661800"/>
          </a:xfrm>
          <a:prstGeom prst="rect">
            <a:avLst/>
          </a:prstGeom>
          <a:solidFill>
            <a:srgbClr val="EAE8E4"/>
          </a:solidFill>
          <a:ln cap="flat" cmpd="sng" w="12700">
            <a:solidFill>
              <a:srgbClr val="EAE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30"/>
          <p:cNvSpPr/>
          <p:nvPr/>
        </p:nvSpPr>
        <p:spPr>
          <a:xfrm>
            <a:off x="5989325" y="3095449"/>
            <a:ext cx="63900" cy="661800"/>
          </a:xfrm>
          <a:prstGeom prst="rect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30"/>
          <p:cNvSpPr/>
          <p:nvPr/>
        </p:nvSpPr>
        <p:spPr>
          <a:xfrm>
            <a:off x="6099053" y="3156725"/>
            <a:ext cx="1225200" cy="22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n-US" sz="1050" u="none" cap="none" strike="noStrike">
                <a:solidFill>
                  <a:srgbClr val="444848"/>
                </a:solidFill>
                <a:latin typeface="Calibri"/>
                <a:ea typeface="Calibri"/>
                <a:cs typeface="Calibri"/>
                <a:sym typeface="Calibri"/>
              </a:rPr>
              <a:t>P5 · W_q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30"/>
          <p:cNvSpPr/>
          <p:nvPr/>
        </p:nvSpPr>
        <p:spPr>
          <a:xfrm>
            <a:off x="6099053" y="3352809"/>
            <a:ext cx="12252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550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&lt;1.5s</a:t>
            </a:r>
            <a:endParaRPr b="0" i="0" sz="15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30"/>
          <p:cNvSpPr/>
          <p:nvPr/>
        </p:nvSpPr>
        <p:spPr>
          <a:xfrm>
            <a:off x="6099053" y="3597914"/>
            <a:ext cx="1225200" cy="15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1" lang="en-US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(M3: &gt;50s spikes)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30"/>
          <p:cNvSpPr/>
          <p:nvPr/>
        </p:nvSpPr>
        <p:spPr>
          <a:xfrm>
            <a:off x="7434075" y="3095449"/>
            <a:ext cx="1371600" cy="661800"/>
          </a:xfrm>
          <a:prstGeom prst="rect">
            <a:avLst/>
          </a:prstGeom>
          <a:solidFill>
            <a:srgbClr val="EAE8E4"/>
          </a:solidFill>
          <a:ln cap="flat" cmpd="sng" w="12700">
            <a:solidFill>
              <a:srgbClr val="EAE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30"/>
          <p:cNvSpPr/>
          <p:nvPr/>
        </p:nvSpPr>
        <p:spPr>
          <a:xfrm>
            <a:off x="7434075" y="3095449"/>
            <a:ext cx="63900" cy="661800"/>
          </a:xfrm>
          <a:prstGeom prst="rect">
            <a:avLst/>
          </a:prstGeom>
          <a:solidFill>
            <a:srgbClr val="BC933E"/>
          </a:solidFill>
          <a:ln cap="flat" cmpd="sng" w="12700">
            <a:solidFill>
              <a:srgbClr val="BC93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30"/>
          <p:cNvSpPr/>
          <p:nvPr/>
        </p:nvSpPr>
        <p:spPr>
          <a:xfrm>
            <a:off x="7543802" y="3156725"/>
            <a:ext cx="1225200" cy="22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n-US" sz="1050" u="none" cap="none" strike="noStrike">
                <a:solidFill>
                  <a:srgbClr val="444848"/>
                </a:solidFill>
                <a:latin typeface="Calibri"/>
                <a:ea typeface="Calibri"/>
                <a:cs typeface="Calibri"/>
                <a:sym typeface="Calibri"/>
              </a:rPr>
              <a:t>P6 · Throughput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30"/>
          <p:cNvSpPr/>
          <p:nvPr/>
        </p:nvSpPr>
        <p:spPr>
          <a:xfrm>
            <a:off x="7543802" y="3352809"/>
            <a:ext cx="12252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550" u="none" cap="none" strike="noStrike">
                <a:solidFill>
                  <a:srgbClr val="BC933E"/>
                </a:solidFill>
                <a:latin typeface="Calibri"/>
                <a:ea typeface="Calibri"/>
                <a:cs typeface="Calibri"/>
                <a:sym typeface="Calibri"/>
              </a:rPr>
              <a:t>0.30 t/s</a:t>
            </a:r>
            <a:endParaRPr b="0" i="0" sz="15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30"/>
          <p:cNvSpPr/>
          <p:nvPr/>
        </p:nvSpPr>
        <p:spPr>
          <a:xfrm>
            <a:off x="7543802" y="3597914"/>
            <a:ext cx="1225200" cy="15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1" lang="en-US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stable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30"/>
          <p:cNvSpPr/>
          <p:nvPr/>
        </p:nvSpPr>
        <p:spPr>
          <a:xfrm>
            <a:off x="5989325" y="3855273"/>
            <a:ext cx="1371600" cy="661800"/>
          </a:xfrm>
          <a:prstGeom prst="rect">
            <a:avLst/>
          </a:prstGeom>
          <a:solidFill>
            <a:srgbClr val="EAE8E4"/>
          </a:solidFill>
          <a:ln cap="flat" cmpd="sng" w="12700">
            <a:solidFill>
              <a:srgbClr val="EAE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30"/>
          <p:cNvSpPr/>
          <p:nvPr/>
        </p:nvSpPr>
        <p:spPr>
          <a:xfrm>
            <a:off x="5989325" y="3855273"/>
            <a:ext cx="63900" cy="661800"/>
          </a:xfrm>
          <a:prstGeom prst="rect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30"/>
          <p:cNvSpPr/>
          <p:nvPr/>
        </p:nvSpPr>
        <p:spPr>
          <a:xfrm>
            <a:off x="6099053" y="3916550"/>
            <a:ext cx="1225200" cy="22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n-US" sz="1050" u="none" cap="none" strike="noStrike">
                <a:solidFill>
                  <a:srgbClr val="444848"/>
                </a:solidFill>
                <a:latin typeface="Calibri"/>
                <a:ea typeface="Calibri"/>
                <a:cs typeface="Calibri"/>
                <a:sym typeface="Calibri"/>
              </a:rPr>
              <a:t>P7 · Joint PDF ρ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30"/>
          <p:cNvSpPr/>
          <p:nvPr/>
        </p:nvSpPr>
        <p:spPr>
          <a:xfrm>
            <a:off x="6099053" y="4112633"/>
            <a:ext cx="12252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550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+0.57</a:t>
            </a:r>
            <a:endParaRPr b="0" i="0" sz="15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30"/>
          <p:cNvSpPr/>
          <p:nvPr/>
        </p:nvSpPr>
        <p:spPr>
          <a:xfrm>
            <a:off x="6099053" y="4357738"/>
            <a:ext cx="1225200" cy="15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1" lang="en-US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confirms Y=5X+ε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30"/>
          <p:cNvSpPr/>
          <p:nvPr/>
        </p:nvSpPr>
        <p:spPr>
          <a:xfrm>
            <a:off x="7434075" y="3855273"/>
            <a:ext cx="1371600" cy="661800"/>
          </a:xfrm>
          <a:prstGeom prst="rect">
            <a:avLst/>
          </a:prstGeom>
          <a:solidFill>
            <a:srgbClr val="EAE8E4"/>
          </a:solidFill>
          <a:ln cap="flat" cmpd="sng" w="12700">
            <a:solidFill>
              <a:srgbClr val="EAE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30"/>
          <p:cNvSpPr/>
          <p:nvPr/>
        </p:nvSpPr>
        <p:spPr>
          <a:xfrm>
            <a:off x="7434075" y="3855273"/>
            <a:ext cx="63900" cy="661800"/>
          </a:xfrm>
          <a:prstGeom prst="rect">
            <a:avLst/>
          </a:prstGeom>
          <a:solidFill>
            <a:srgbClr val="BC933E"/>
          </a:solidFill>
          <a:ln cap="flat" cmpd="sng" w="12700">
            <a:solidFill>
              <a:srgbClr val="BC93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30"/>
          <p:cNvSpPr/>
          <p:nvPr/>
        </p:nvSpPr>
        <p:spPr>
          <a:xfrm>
            <a:off x="7543802" y="3916550"/>
            <a:ext cx="1225200" cy="22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n-US" sz="1050" u="none" cap="none" strike="noStrike">
                <a:solidFill>
                  <a:srgbClr val="444848"/>
                </a:solidFill>
                <a:latin typeface="Calibri"/>
                <a:ea typeface="Calibri"/>
                <a:cs typeface="Calibri"/>
                <a:sym typeface="Calibri"/>
              </a:rPr>
              <a:t>P8 · Jain Fairness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30"/>
          <p:cNvSpPr/>
          <p:nvPr/>
        </p:nvSpPr>
        <p:spPr>
          <a:xfrm>
            <a:off x="7543802" y="4112633"/>
            <a:ext cx="12252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550" u="none" cap="none" strike="noStrike">
                <a:solidFill>
                  <a:srgbClr val="BC933E"/>
                </a:solidFill>
                <a:latin typeface="Calibri"/>
                <a:ea typeface="Calibri"/>
                <a:cs typeface="Calibri"/>
                <a:sym typeface="Calibri"/>
              </a:rPr>
              <a:t>0.20→0.60</a:t>
            </a:r>
            <a:endParaRPr b="0" i="0" sz="15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30"/>
          <p:cNvSpPr/>
          <p:nvPr/>
        </p:nvSpPr>
        <p:spPr>
          <a:xfrm>
            <a:off x="7543802" y="4357738"/>
            <a:ext cx="1225200" cy="15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1" lang="en-US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load balanced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1EE"/>
        </a:solidFill>
      </p:bgPr>
    </p:bg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1916"/>
              </a:buClr>
              <a:buSzPts val="2600"/>
              <a:buFont typeface="Calibri"/>
              <a:buNone/>
            </a:pPr>
            <a:r>
              <a:rPr b="1" i="0" lang="en-US" sz="3500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M/G/1 Queue Framework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10"/>
          <p:cNvSpPr/>
          <p:nvPr/>
        </p:nvSpPr>
        <p:spPr>
          <a:xfrm>
            <a:off x="457200" y="868680"/>
            <a:ext cx="8229600" cy="22860"/>
          </a:xfrm>
          <a:prstGeom prst="rect">
            <a:avLst/>
          </a:prstGeom>
          <a:solidFill>
            <a:srgbClr val="EAE8E4"/>
          </a:solidFill>
          <a:ln cap="flat" cmpd="sng" w="12700">
            <a:solidFill>
              <a:srgbClr val="EAE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10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10"/>
          <p:cNvSpPr/>
          <p:nvPr/>
        </p:nvSpPr>
        <p:spPr>
          <a:xfrm>
            <a:off x="4507992" y="4892040"/>
            <a:ext cx="128016" cy="128016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10"/>
          <p:cNvSpPr/>
          <p:nvPr/>
        </p:nvSpPr>
        <p:spPr>
          <a:xfrm>
            <a:off x="7498080" y="450799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2026   |   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10"/>
          <p:cNvSpPr/>
          <p:nvPr/>
        </p:nvSpPr>
        <p:spPr>
          <a:xfrm>
            <a:off x="457200" y="987552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1916"/>
              </a:buClr>
              <a:buSzPts val="1250"/>
              <a:buFont typeface="Calibri"/>
              <a:buNone/>
            </a:pPr>
            <a:r>
              <a:rPr b="1" i="0" lang="en-US" sz="1650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M/G/1 Notation:  </a:t>
            </a:r>
            <a:r>
              <a:rPr b="0" i="0" lang="en-US" sz="16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 = Markovian (Poisson) arrivals  ·  G = General service times  ·  1 = Single server (CPU)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0"/>
          <p:cNvSpPr/>
          <p:nvPr/>
        </p:nvSpPr>
        <p:spPr>
          <a:xfrm>
            <a:off x="457200" y="1463040"/>
            <a:ext cx="2606040" cy="2103120"/>
          </a:xfrm>
          <a:prstGeom prst="rect">
            <a:avLst/>
          </a:prstGeom>
          <a:solidFill>
            <a:srgbClr val="EAE8E4"/>
          </a:solidFill>
          <a:ln cap="flat" cmpd="sng" w="12700">
            <a:solidFill>
              <a:srgbClr val="EAE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10"/>
          <p:cNvSpPr/>
          <p:nvPr/>
        </p:nvSpPr>
        <p:spPr>
          <a:xfrm>
            <a:off x="457200" y="1463040"/>
            <a:ext cx="2606040" cy="384048"/>
          </a:xfrm>
          <a:prstGeom prst="rect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10"/>
          <p:cNvSpPr/>
          <p:nvPr/>
        </p:nvSpPr>
        <p:spPr>
          <a:xfrm>
            <a:off x="548640" y="1481328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POLLACZEK–KHINCHINE FORMULA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10"/>
          <p:cNvSpPr/>
          <p:nvPr/>
        </p:nvSpPr>
        <p:spPr>
          <a:xfrm>
            <a:off x="566928" y="1901952"/>
            <a:ext cx="2386584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848"/>
              </a:buClr>
              <a:buSzPts val="11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Average queue wait: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848"/>
              </a:buClr>
              <a:buSzPts val="11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W_q = λE[S²] / (2(1 − ρ))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848"/>
              </a:buClr>
              <a:buSzPts val="11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 variance → big E[S²] → longer waits even at the same average speed.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10"/>
          <p:cNvSpPr/>
          <p:nvPr/>
        </p:nvSpPr>
        <p:spPr>
          <a:xfrm>
            <a:off x="3246120" y="1463040"/>
            <a:ext cx="2606040" cy="2103120"/>
          </a:xfrm>
          <a:prstGeom prst="rect">
            <a:avLst/>
          </a:prstGeom>
          <a:solidFill>
            <a:srgbClr val="EAE8E4"/>
          </a:solidFill>
          <a:ln cap="flat" cmpd="sng" w="12700">
            <a:solidFill>
              <a:srgbClr val="EAE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10"/>
          <p:cNvSpPr/>
          <p:nvPr/>
        </p:nvSpPr>
        <p:spPr>
          <a:xfrm>
            <a:off x="3246120" y="1463040"/>
            <a:ext cx="2606040" cy="384048"/>
          </a:xfrm>
          <a:prstGeom prst="rect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10"/>
          <p:cNvSpPr/>
          <p:nvPr/>
        </p:nvSpPr>
        <p:spPr>
          <a:xfrm>
            <a:off x="3337560" y="1481328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STABILITY CONDITION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10"/>
          <p:cNvSpPr/>
          <p:nvPr/>
        </p:nvSpPr>
        <p:spPr>
          <a:xfrm>
            <a:off x="3355848" y="1901952"/>
            <a:ext cx="2386584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848"/>
              </a:buClr>
              <a:buSzPts val="11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Traffic intensity ρ = λ/μ &lt; 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848"/>
              </a:buClr>
              <a:buSzPts val="11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tasks arrive faster than served (λ ≥ μ), queue grows forever. Like a bank with more arrivals than the teller can serve.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0"/>
          <p:cNvSpPr/>
          <p:nvPr/>
        </p:nvSpPr>
        <p:spPr>
          <a:xfrm>
            <a:off x="6035040" y="1463040"/>
            <a:ext cx="2651760" cy="2103120"/>
          </a:xfrm>
          <a:prstGeom prst="rect">
            <a:avLst/>
          </a:prstGeom>
          <a:solidFill>
            <a:srgbClr val="EAE8E4"/>
          </a:solidFill>
          <a:ln cap="flat" cmpd="sng" w="12700">
            <a:solidFill>
              <a:srgbClr val="EAE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10"/>
          <p:cNvSpPr/>
          <p:nvPr/>
        </p:nvSpPr>
        <p:spPr>
          <a:xfrm>
            <a:off x="6035040" y="1463040"/>
            <a:ext cx="2651760" cy="384048"/>
          </a:xfrm>
          <a:prstGeom prst="rect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10"/>
          <p:cNvSpPr/>
          <p:nvPr/>
        </p:nvSpPr>
        <p:spPr>
          <a:xfrm>
            <a:off x="6126480" y="1481328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TASK DISTRIBUTIONS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10"/>
          <p:cNvSpPr/>
          <p:nvPr/>
        </p:nvSpPr>
        <p:spPr>
          <a:xfrm>
            <a:off x="6144768" y="1901952"/>
            <a:ext cx="2432304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848"/>
              </a:buClr>
              <a:buSzPts val="11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 Tasks: Gamma(α=2, β=1.5)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848"/>
              </a:buClr>
              <a:buSzPts val="11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Mean=3.0 s, Var=4.5 s² — high variance.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848"/>
              </a:buClr>
              <a:buSzPts val="11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BeautyCam: Exponential(1.0)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848"/>
              </a:buClr>
              <a:buSzPts val="11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Mean=1.0 s, Var=1.0 s² — lighter.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10"/>
          <p:cNvSpPr/>
          <p:nvPr/>
        </p:nvSpPr>
        <p:spPr>
          <a:xfrm>
            <a:off x="457200" y="3730752"/>
            <a:ext cx="8229600" cy="502920"/>
          </a:xfrm>
          <a:prstGeom prst="rect">
            <a:avLst/>
          </a:prstGeom>
          <a:solidFill>
            <a:srgbClr val="EAE8E4"/>
          </a:solidFill>
          <a:ln cap="flat" cmpd="sng" w="12700">
            <a:solidFill>
              <a:srgbClr val="EAE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10"/>
          <p:cNvSpPr/>
          <p:nvPr/>
        </p:nvSpPr>
        <p:spPr>
          <a:xfrm>
            <a:off x="594360" y="3767328"/>
            <a:ext cx="79552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1916"/>
              </a:buClr>
              <a:buSzPts val="1200"/>
              <a:buFont typeface="Calibri"/>
              <a:buNone/>
            </a:pPr>
            <a:r>
              <a:rPr b="1" i="0" lang="en-US" sz="1500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Queue Update Rule: </a:t>
            </a:r>
            <a:r>
              <a:rPr b="1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W_q(t) = max{0,  W_q(t−1) + Y/f_i − T_inter} </a:t>
            </a:r>
            <a:r>
              <a:rPr b="0" i="0" lang="en-US" sz="1500" u="none" cap="none" strike="noStrike">
                <a:solidFill>
                  <a:srgbClr val="444848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b="1" i="0" lang="en-US" sz="1500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  ← Primary driver of the Herd Effect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1EE"/>
        </a:solidFill>
      </p:bgPr>
    </p:bg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11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1916"/>
              </a:buClr>
              <a:buSzPts val="2600"/>
              <a:buFont typeface="Calibri"/>
              <a:buNone/>
            </a:pPr>
            <a:r>
              <a:rPr b="1" i="0" lang="en-US" sz="3400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Deterministic Approach: SDF Algorithm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11"/>
          <p:cNvSpPr/>
          <p:nvPr/>
        </p:nvSpPr>
        <p:spPr>
          <a:xfrm>
            <a:off x="457200" y="868680"/>
            <a:ext cx="8229600" cy="22860"/>
          </a:xfrm>
          <a:prstGeom prst="rect">
            <a:avLst/>
          </a:prstGeom>
          <a:solidFill>
            <a:srgbClr val="EAE8E4"/>
          </a:solidFill>
          <a:ln cap="flat" cmpd="sng" w="12700">
            <a:solidFill>
              <a:srgbClr val="EAE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11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11"/>
          <p:cNvSpPr/>
          <p:nvPr/>
        </p:nvSpPr>
        <p:spPr>
          <a:xfrm>
            <a:off x="4507992" y="4892040"/>
            <a:ext cx="128016" cy="128016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11"/>
          <p:cNvSpPr/>
          <p:nvPr/>
        </p:nvSpPr>
        <p:spPr>
          <a:xfrm>
            <a:off x="7498080" y="450799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2026   |   16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11"/>
          <p:cNvSpPr/>
          <p:nvPr/>
        </p:nvSpPr>
        <p:spPr>
          <a:xfrm>
            <a:off x="457200" y="987552"/>
            <a:ext cx="8229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1916"/>
              </a:buClr>
              <a:buSzPts val="1500"/>
              <a:buFont typeface="Calibri"/>
              <a:buNone/>
            </a:pPr>
            <a:r>
              <a:rPr b="1" i="0" lang="en-US" sz="1700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Shortest Delay First (SDF) — The Greedy Baseline (Milestone 3)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11"/>
          <p:cNvSpPr/>
          <p:nvPr/>
        </p:nvSpPr>
        <p:spPr>
          <a:xfrm>
            <a:off x="457200" y="1389888"/>
            <a:ext cx="8229600" cy="594360"/>
          </a:xfrm>
          <a:prstGeom prst="rect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11"/>
          <p:cNvSpPr/>
          <p:nvPr/>
        </p:nvSpPr>
        <p:spPr>
          <a:xfrm>
            <a:off x="548640" y="1426464"/>
            <a:ext cx="8046720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Decision  =  argmin_j  D_j     (Route task to the node with minimum estimated delay)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11"/>
          <p:cNvSpPr/>
          <p:nvPr/>
        </p:nvSpPr>
        <p:spPr>
          <a:xfrm>
            <a:off x="457200" y="2121408"/>
            <a:ext cx="3840480" cy="1481328"/>
          </a:xfrm>
          <a:prstGeom prst="rect">
            <a:avLst/>
          </a:prstGeom>
          <a:solidFill>
            <a:srgbClr val="EAE8E4"/>
          </a:solidFill>
          <a:ln cap="flat" cmpd="sng" w="12700">
            <a:solidFill>
              <a:srgbClr val="EAE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11"/>
          <p:cNvSpPr/>
          <p:nvPr/>
        </p:nvSpPr>
        <p:spPr>
          <a:xfrm>
            <a:off x="566928" y="2176272"/>
            <a:ext cx="3611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1916"/>
              </a:buClr>
              <a:buSzPts val="1300"/>
              <a:buFont typeface="Calibri"/>
              <a:buNone/>
            </a:pPr>
            <a:r>
              <a:rPr b="1" i="0" lang="en-US" sz="1600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Local Processing Delay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11"/>
          <p:cNvSpPr/>
          <p:nvPr/>
        </p:nvSpPr>
        <p:spPr>
          <a:xfrm>
            <a:off x="566928" y="2505456"/>
            <a:ext cx="3611880" cy="9875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848"/>
              </a:buClr>
              <a:buSzPts val="1200"/>
              <a:buFont typeface="Calibri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D_local  =  W_q,source  +  C_k / f_source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848"/>
              </a:buClr>
              <a:buSzPts val="1200"/>
              <a:buFont typeface="Calibri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Queue wait at local device + execution time on local CPU.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11"/>
          <p:cNvSpPr/>
          <p:nvPr/>
        </p:nvSpPr>
        <p:spPr>
          <a:xfrm>
            <a:off x="4846320" y="2121408"/>
            <a:ext cx="3840480" cy="1481328"/>
          </a:xfrm>
          <a:prstGeom prst="rect">
            <a:avLst/>
          </a:prstGeom>
          <a:solidFill>
            <a:srgbClr val="EAE8E4"/>
          </a:solidFill>
          <a:ln cap="flat" cmpd="sng" w="12700">
            <a:solidFill>
              <a:srgbClr val="EAE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11"/>
          <p:cNvSpPr/>
          <p:nvPr/>
        </p:nvSpPr>
        <p:spPr>
          <a:xfrm>
            <a:off x="4956048" y="2176272"/>
            <a:ext cx="3611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1916"/>
              </a:buClr>
              <a:buSzPts val="1300"/>
              <a:buFont typeface="Calibri"/>
              <a:buNone/>
            </a:pPr>
            <a:r>
              <a:rPr b="1" i="0" lang="en-US" sz="1600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Remote Offloading Delay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11"/>
          <p:cNvSpPr/>
          <p:nvPr/>
        </p:nvSpPr>
        <p:spPr>
          <a:xfrm>
            <a:off x="4956048" y="2505456"/>
            <a:ext cx="3611880" cy="9875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848"/>
              </a:buClr>
              <a:buSzPts val="1200"/>
              <a:buFont typeface="Calibri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D_remote,j  =  t_trans  +  W_q,j  +  C_k / f_j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848"/>
              </a:buClr>
              <a:buSzPts val="1200"/>
              <a:buFont typeface="Calibri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Transmission + remote queue wait + remote execution.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11"/>
          <p:cNvSpPr/>
          <p:nvPr/>
        </p:nvSpPr>
        <p:spPr>
          <a:xfrm>
            <a:off x="457200" y="3703320"/>
            <a:ext cx="8229600" cy="548640"/>
          </a:xfrm>
          <a:prstGeom prst="rect">
            <a:avLst/>
          </a:prstGeom>
          <a:solidFill>
            <a:srgbClr val="EAE8E4"/>
          </a:solidFill>
          <a:ln cap="flat" cmpd="sng" w="12700">
            <a:solidFill>
              <a:srgbClr val="EAE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11"/>
          <p:cNvSpPr/>
          <p:nvPr/>
        </p:nvSpPr>
        <p:spPr>
          <a:xfrm>
            <a:off x="457200" y="3703320"/>
            <a:ext cx="91440" cy="548640"/>
          </a:xfrm>
          <a:prstGeom prst="rect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11"/>
          <p:cNvSpPr/>
          <p:nvPr/>
        </p:nvSpPr>
        <p:spPr>
          <a:xfrm>
            <a:off x="658368" y="3749040"/>
            <a:ext cx="78638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1916"/>
              </a:buClr>
              <a:buSzPts val="1200"/>
              <a:buFont typeface="Calibri"/>
              <a:buNone/>
            </a:pPr>
            <a:r>
              <a:rPr b="1" i="0" lang="en-US" sz="1500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Why SDF is MYOPIC:  </a:t>
            </a: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uses the CURRENT W_q value — but by the time the task arrives, all 5 devices may have simultaneously flooded the same node. Information is stale.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6F3"/>
        </a:solidFill>
      </p:bgPr>
    </p:bg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3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700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SDF Algorithm — Step-by-Step Flowchart &amp; Why It Fails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31"/>
          <p:cNvSpPr/>
          <p:nvPr/>
        </p:nvSpPr>
        <p:spPr>
          <a:xfrm>
            <a:off x="457200" y="713232"/>
            <a:ext cx="8229600" cy="27432"/>
          </a:xfrm>
          <a:prstGeom prst="rect">
            <a:avLst/>
          </a:prstGeom>
          <a:solidFill>
            <a:srgbClr val="EAE8E4"/>
          </a:solidFill>
          <a:ln cap="flat" cmpd="sng" w="12700">
            <a:solidFill>
              <a:srgbClr val="EAE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31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31"/>
          <p:cNvSpPr/>
          <p:nvPr/>
        </p:nvSpPr>
        <p:spPr>
          <a:xfrm>
            <a:off x="4399680" y="4361815"/>
            <a:ext cx="111600" cy="111600"/>
          </a:xfrm>
          <a:prstGeom prst="ellipse">
            <a:avLst/>
          </a:prstGeom>
          <a:solidFill>
            <a:srgbClr val="FFFFFF"/>
          </a:solidFill>
          <a:ln cap="flat" cmpd="sng" w="110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9875" lIns="79775" spcFirstLastPara="1" rIns="79775" wrap="square" tIns="39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2"/>
              <a:buFont typeface="Arial"/>
              <a:buNone/>
            </a:pPr>
            <a:r>
              <a:t/>
            </a:r>
            <a:endParaRPr b="0" i="0" sz="122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31"/>
          <p:cNvSpPr/>
          <p:nvPr/>
        </p:nvSpPr>
        <p:spPr>
          <a:xfrm>
            <a:off x="7659478" y="4541520"/>
            <a:ext cx="1276800" cy="23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3"/>
              <a:buFont typeface="Arial"/>
              <a:buNone/>
            </a:pPr>
            <a:r>
              <a:rPr b="0" i="0" lang="en-US" sz="873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2026   |   17</a:t>
            </a:r>
            <a:endParaRPr b="0" i="0" sz="87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31"/>
          <p:cNvSpPr/>
          <p:nvPr/>
        </p:nvSpPr>
        <p:spPr>
          <a:xfrm>
            <a:off x="457200" y="822960"/>
            <a:ext cx="3017520" cy="365760"/>
          </a:xfrm>
          <a:prstGeom prst="rect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31"/>
          <p:cNvSpPr/>
          <p:nvPr/>
        </p:nvSpPr>
        <p:spPr>
          <a:xfrm>
            <a:off x="512064" y="850392"/>
            <a:ext cx="290779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Task Arrives at Source Node i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3" name="Google Shape;603;p31"/>
          <p:cNvCxnSpPr/>
          <p:nvPr/>
        </p:nvCxnSpPr>
        <p:spPr>
          <a:xfrm>
            <a:off x="1965960" y="1188720"/>
            <a:ext cx="0" cy="109728"/>
          </a:xfrm>
          <a:prstGeom prst="straightConnector1">
            <a:avLst/>
          </a:prstGeom>
          <a:noFill/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4" name="Google Shape;604;p31"/>
          <p:cNvSpPr/>
          <p:nvPr/>
        </p:nvSpPr>
        <p:spPr>
          <a:xfrm>
            <a:off x="457200" y="1298448"/>
            <a:ext cx="3017520" cy="365760"/>
          </a:xfrm>
          <a:prstGeom prst="rect">
            <a:avLst/>
          </a:prstGeom>
          <a:solidFill>
            <a:srgbClr val="EAE8E4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31"/>
          <p:cNvSpPr/>
          <p:nvPr/>
        </p:nvSpPr>
        <p:spPr>
          <a:xfrm>
            <a:off x="512064" y="1325880"/>
            <a:ext cx="290779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Observe current W_q at all 5 nodes (snapshot — may be stale)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6" name="Google Shape;606;p31"/>
          <p:cNvCxnSpPr/>
          <p:nvPr/>
        </p:nvCxnSpPr>
        <p:spPr>
          <a:xfrm>
            <a:off x="1965960" y="1664208"/>
            <a:ext cx="0" cy="109728"/>
          </a:xfrm>
          <a:prstGeom prst="straightConnector1">
            <a:avLst/>
          </a:prstGeom>
          <a:noFill/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7" name="Google Shape;607;p31"/>
          <p:cNvSpPr/>
          <p:nvPr/>
        </p:nvSpPr>
        <p:spPr>
          <a:xfrm>
            <a:off x="457200" y="1773936"/>
            <a:ext cx="3017520" cy="365760"/>
          </a:xfrm>
          <a:prstGeom prst="rect">
            <a:avLst/>
          </a:prstGeom>
          <a:solidFill>
            <a:srgbClr val="EAE8E4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31"/>
          <p:cNvSpPr/>
          <p:nvPr/>
        </p:nvSpPr>
        <p:spPr>
          <a:xfrm>
            <a:off x="512064" y="1801368"/>
            <a:ext cx="290779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Compute D_local = W_q,src + C_k / f_src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9" name="Google Shape;609;p31"/>
          <p:cNvCxnSpPr/>
          <p:nvPr/>
        </p:nvCxnSpPr>
        <p:spPr>
          <a:xfrm>
            <a:off x="1965960" y="2139696"/>
            <a:ext cx="0" cy="109728"/>
          </a:xfrm>
          <a:prstGeom prst="straightConnector1">
            <a:avLst/>
          </a:prstGeom>
          <a:noFill/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0" name="Google Shape;610;p31"/>
          <p:cNvSpPr/>
          <p:nvPr/>
        </p:nvSpPr>
        <p:spPr>
          <a:xfrm>
            <a:off x="457200" y="2249424"/>
            <a:ext cx="3017520" cy="365760"/>
          </a:xfrm>
          <a:prstGeom prst="rect">
            <a:avLst/>
          </a:prstGeom>
          <a:solidFill>
            <a:srgbClr val="EAE8E4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31"/>
          <p:cNvSpPr/>
          <p:nvPr/>
        </p:nvSpPr>
        <p:spPr>
          <a:xfrm>
            <a:off x="512064" y="2276856"/>
            <a:ext cx="290779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Compute D_remote,j = t_trans + W_q,j + C_k/f_j  for each j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2" name="Google Shape;612;p31"/>
          <p:cNvCxnSpPr/>
          <p:nvPr/>
        </p:nvCxnSpPr>
        <p:spPr>
          <a:xfrm>
            <a:off x="1965960" y="2615184"/>
            <a:ext cx="0" cy="109728"/>
          </a:xfrm>
          <a:prstGeom prst="straightConnector1">
            <a:avLst/>
          </a:prstGeom>
          <a:noFill/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3" name="Google Shape;613;p31"/>
          <p:cNvSpPr/>
          <p:nvPr/>
        </p:nvSpPr>
        <p:spPr>
          <a:xfrm>
            <a:off x="457200" y="2724912"/>
            <a:ext cx="3017520" cy="365760"/>
          </a:xfrm>
          <a:prstGeom prst="rect">
            <a:avLst/>
          </a:prstGeom>
          <a:solidFill>
            <a:srgbClr val="EAE8E4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31"/>
          <p:cNvSpPr/>
          <p:nvPr/>
        </p:nvSpPr>
        <p:spPr>
          <a:xfrm>
            <a:off x="512064" y="2752344"/>
            <a:ext cx="290779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Apply 1.2× penalty if W_q,j &gt; 2s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5" name="Google Shape;615;p31"/>
          <p:cNvCxnSpPr/>
          <p:nvPr/>
        </p:nvCxnSpPr>
        <p:spPr>
          <a:xfrm>
            <a:off x="1965960" y="3090672"/>
            <a:ext cx="0" cy="109728"/>
          </a:xfrm>
          <a:prstGeom prst="straightConnector1">
            <a:avLst/>
          </a:prstGeom>
          <a:noFill/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6" name="Google Shape;616;p31"/>
          <p:cNvSpPr/>
          <p:nvPr/>
        </p:nvSpPr>
        <p:spPr>
          <a:xfrm>
            <a:off x="457200" y="3200400"/>
            <a:ext cx="3017520" cy="420624"/>
          </a:xfrm>
          <a:prstGeom prst="rect">
            <a:avLst/>
          </a:prstGeom>
          <a:solidFill>
            <a:srgbClr val="BC933E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31"/>
          <p:cNvSpPr/>
          <p:nvPr/>
        </p:nvSpPr>
        <p:spPr>
          <a:xfrm>
            <a:off x="512064" y="3227832"/>
            <a:ext cx="29077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Decision = argmin_j D_j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(always pick the minimum)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8" name="Google Shape;618;p31"/>
          <p:cNvCxnSpPr/>
          <p:nvPr/>
        </p:nvCxnSpPr>
        <p:spPr>
          <a:xfrm>
            <a:off x="1965960" y="3621024"/>
            <a:ext cx="0" cy="109728"/>
          </a:xfrm>
          <a:prstGeom prst="straightConnector1">
            <a:avLst/>
          </a:prstGeom>
          <a:noFill/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9" name="Google Shape;619;p31"/>
          <p:cNvSpPr/>
          <p:nvPr/>
        </p:nvSpPr>
        <p:spPr>
          <a:xfrm>
            <a:off x="457200" y="3730752"/>
            <a:ext cx="3017520" cy="365760"/>
          </a:xfrm>
          <a:prstGeom prst="rect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31"/>
          <p:cNvSpPr/>
          <p:nvPr/>
        </p:nvSpPr>
        <p:spPr>
          <a:xfrm>
            <a:off x="512064" y="3758184"/>
            <a:ext cx="290779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Route task → chosen node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31"/>
          <p:cNvSpPr/>
          <p:nvPr/>
        </p:nvSpPr>
        <p:spPr>
          <a:xfrm>
            <a:off x="3657600" y="822951"/>
            <a:ext cx="4388700" cy="319200"/>
          </a:xfrm>
          <a:prstGeom prst="rect">
            <a:avLst/>
          </a:prstGeom>
          <a:solidFill>
            <a:srgbClr val="7D1916"/>
          </a:solidFill>
          <a:ln cap="flat" cmpd="sng" w="11075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9875" lIns="79775" spcFirstLastPara="1" rIns="79775" wrap="square" tIns="39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2"/>
              <a:buFont typeface="Arial"/>
              <a:buNone/>
            </a:pPr>
            <a:r>
              <a:t/>
            </a:r>
            <a:endParaRPr b="0" i="0" sz="122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31"/>
          <p:cNvSpPr/>
          <p:nvPr/>
        </p:nvSpPr>
        <p:spPr>
          <a:xfrm>
            <a:off x="3657600" y="822951"/>
            <a:ext cx="4388700" cy="3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"/>
              <a:buFont typeface="Arial"/>
              <a:buNone/>
            </a:pPr>
            <a:r>
              <a:rPr b="1" i="0" lang="en-US" sz="126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WHY SDF IS MYOPIC — THE 3 FATAL FLAWS</a:t>
            </a:r>
            <a:endParaRPr b="0" i="0" sz="126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31"/>
          <p:cNvSpPr/>
          <p:nvPr/>
        </p:nvSpPr>
        <p:spPr>
          <a:xfrm>
            <a:off x="3657600" y="1221921"/>
            <a:ext cx="4388700" cy="845700"/>
          </a:xfrm>
          <a:prstGeom prst="rect">
            <a:avLst/>
          </a:prstGeom>
          <a:solidFill>
            <a:srgbClr val="EAE8E4"/>
          </a:solidFill>
          <a:ln cap="flat" cmpd="sng" w="11075">
            <a:solidFill>
              <a:srgbClr val="EAE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9875" lIns="79775" spcFirstLastPara="1" rIns="79775" wrap="square" tIns="39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2"/>
              <a:buFont typeface="Arial"/>
              <a:buNone/>
            </a:pPr>
            <a:r>
              <a:t/>
            </a:r>
            <a:endParaRPr b="0" i="0" sz="122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31"/>
          <p:cNvSpPr/>
          <p:nvPr/>
        </p:nvSpPr>
        <p:spPr>
          <a:xfrm>
            <a:off x="3721435" y="1317674"/>
            <a:ext cx="287400" cy="287400"/>
          </a:xfrm>
          <a:prstGeom prst="ellipse">
            <a:avLst/>
          </a:prstGeom>
          <a:solidFill>
            <a:srgbClr val="7D1916"/>
          </a:solidFill>
          <a:ln cap="flat" cmpd="sng" w="11075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9875" lIns="79775" spcFirstLastPara="1" rIns="79775" wrap="square" tIns="39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2"/>
              <a:buFont typeface="Arial"/>
              <a:buNone/>
            </a:pPr>
            <a:r>
              <a:t/>
            </a:r>
            <a:endParaRPr b="0" i="0" sz="122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31"/>
          <p:cNvSpPr/>
          <p:nvPr/>
        </p:nvSpPr>
        <p:spPr>
          <a:xfrm>
            <a:off x="3721435" y="1317674"/>
            <a:ext cx="2874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7"/>
              <a:buFont typeface="Arial"/>
              <a:buNone/>
            </a:pPr>
            <a:r>
              <a:rPr b="1" i="0" lang="en-US" sz="104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①</a:t>
            </a:r>
            <a:endParaRPr b="0" i="0" sz="104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31"/>
          <p:cNvSpPr/>
          <p:nvPr/>
        </p:nvSpPr>
        <p:spPr>
          <a:xfrm>
            <a:off x="4088485" y="1285756"/>
            <a:ext cx="3878100" cy="20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"/>
              <a:buFont typeface="Arial"/>
              <a:buNone/>
            </a:pPr>
            <a:r>
              <a:rPr b="1" i="0" lang="en-US" sz="960" u="none" cap="none" strike="noStrike">
                <a:solidFill>
                  <a:srgbClr val="4A0D0B"/>
                </a:solidFill>
                <a:latin typeface="Calibri"/>
                <a:ea typeface="Calibri"/>
                <a:cs typeface="Calibri"/>
                <a:sym typeface="Calibri"/>
              </a:rPr>
              <a:t>Stale Information</a:t>
            </a:r>
            <a:endParaRPr b="0" i="0" sz="96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31"/>
          <p:cNvSpPr/>
          <p:nvPr/>
        </p:nvSpPr>
        <p:spPr>
          <a:xfrm>
            <a:off x="4088485" y="1509180"/>
            <a:ext cx="3878100" cy="49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9"/>
              <a:buFont typeface="Arial"/>
              <a:buNone/>
            </a:pPr>
            <a:r>
              <a:rPr b="0" i="0" lang="en-US" sz="112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Uses current W_q, but by the time the task arrives, all 5 devices have already flooded that node. Decision based on outdated data.</a:t>
            </a:r>
            <a:endParaRPr b="0" i="0" sz="1129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31"/>
          <p:cNvSpPr/>
          <p:nvPr/>
        </p:nvSpPr>
        <p:spPr>
          <a:xfrm>
            <a:off x="3657600" y="2163490"/>
            <a:ext cx="4388700" cy="845700"/>
          </a:xfrm>
          <a:prstGeom prst="rect">
            <a:avLst/>
          </a:prstGeom>
          <a:solidFill>
            <a:srgbClr val="EAE8E4"/>
          </a:solidFill>
          <a:ln cap="flat" cmpd="sng" w="11075">
            <a:solidFill>
              <a:srgbClr val="EAE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9875" lIns="79775" spcFirstLastPara="1" rIns="79775" wrap="square" tIns="39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2"/>
              <a:buFont typeface="Arial"/>
              <a:buNone/>
            </a:pPr>
            <a:r>
              <a:t/>
            </a:r>
            <a:endParaRPr b="0" i="0" sz="122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31"/>
          <p:cNvSpPr/>
          <p:nvPr/>
        </p:nvSpPr>
        <p:spPr>
          <a:xfrm>
            <a:off x="3721435" y="2259243"/>
            <a:ext cx="287400" cy="287400"/>
          </a:xfrm>
          <a:prstGeom prst="ellipse">
            <a:avLst/>
          </a:prstGeom>
          <a:solidFill>
            <a:srgbClr val="7D1916"/>
          </a:solidFill>
          <a:ln cap="flat" cmpd="sng" w="11075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9875" lIns="79775" spcFirstLastPara="1" rIns="79775" wrap="square" tIns="39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2"/>
              <a:buFont typeface="Arial"/>
              <a:buNone/>
            </a:pPr>
            <a:r>
              <a:t/>
            </a:r>
            <a:endParaRPr b="0" i="0" sz="122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31"/>
          <p:cNvSpPr/>
          <p:nvPr/>
        </p:nvSpPr>
        <p:spPr>
          <a:xfrm>
            <a:off x="3721435" y="2259243"/>
            <a:ext cx="2874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7"/>
              <a:buFont typeface="Arial"/>
              <a:buNone/>
            </a:pPr>
            <a:r>
              <a:rPr b="1" i="0" lang="en-US" sz="104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②</a:t>
            </a:r>
            <a:endParaRPr b="0" i="0" sz="104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31"/>
          <p:cNvSpPr/>
          <p:nvPr/>
        </p:nvSpPr>
        <p:spPr>
          <a:xfrm>
            <a:off x="4088485" y="2227325"/>
            <a:ext cx="3878100" cy="20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"/>
              <a:buFont typeface="Arial"/>
              <a:buNone/>
            </a:pPr>
            <a:r>
              <a:rPr b="1" i="0" lang="en-US" sz="960" u="none" cap="none" strike="noStrike">
                <a:solidFill>
                  <a:srgbClr val="4A0D0B"/>
                </a:solidFill>
                <a:latin typeface="Calibri"/>
                <a:ea typeface="Calibri"/>
                <a:cs typeface="Calibri"/>
                <a:sym typeface="Calibri"/>
              </a:rPr>
              <a:t>No Future Lookahead</a:t>
            </a:r>
            <a:endParaRPr b="0" i="0" sz="96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31"/>
          <p:cNvSpPr/>
          <p:nvPr/>
        </p:nvSpPr>
        <p:spPr>
          <a:xfrm>
            <a:off x="4088485" y="2450749"/>
            <a:ext cx="3878100" cy="49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9"/>
              <a:buFont typeface="Arial"/>
              <a:buNone/>
            </a:pPr>
            <a:r>
              <a:rPr b="0" i="0" lang="en-US" sz="112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SDF minimises delay RIGHT NOW. It doesn't ask: will my choice cause congestion for the next 10 tasks? Purely reactive.</a:t>
            </a:r>
            <a:endParaRPr b="0" i="0" sz="1129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31"/>
          <p:cNvSpPr/>
          <p:nvPr/>
        </p:nvSpPr>
        <p:spPr>
          <a:xfrm>
            <a:off x="3657600" y="3105059"/>
            <a:ext cx="4388700" cy="845700"/>
          </a:xfrm>
          <a:prstGeom prst="rect">
            <a:avLst/>
          </a:prstGeom>
          <a:solidFill>
            <a:srgbClr val="EAE8E4"/>
          </a:solidFill>
          <a:ln cap="flat" cmpd="sng" w="11075">
            <a:solidFill>
              <a:srgbClr val="EAE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9875" lIns="79775" spcFirstLastPara="1" rIns="79775" wrap="square" tIns="39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2"/>
              <a:buFont typeface="Arial"/>
              <a:buNone/>
            </a:pPr>
            <a:r>
              <a:t/>
            </a:r>
            <a:endParaRPr b="0" i="0" sz="122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31"/>
          <p:cNvSpPr/>
          <p:nvPr/>
        </p:nvSpPr>
        <p:spPr>
          <a:xfrm>
            <a:off x="3721435" y="3200812"/>
            <a:ext cx="287400" cy="287400"/>
          </a:xfrm>
          <a:prstGeom prst="ellipse">
            <a:avLst/>
          </a:prstGeom>
          <a:solidFill>
            <a:srgbClr val="7D1916"/>
          </a:solidFill>
          <a:ln cap="flat" cmpd="sng" w="11075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9875" lIns="79775" spcFirstLastPara="1" rIns="79775" wrap="square" tIns="39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2"/>
              <a:buFont typeface="Arial"/>
              <a:buNone/>
            </a:pPr>
            <a:r>
              <a:t/>
            </a:r>
            <a:endParaRPr b="0" i="0" sz="122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31"/>
          <p:cNvSpPr/>
          <p:nvPr/>
        </p:nvSpPr>
        <p:spPr>
          <a:xfrm>
            <a:off x="3721435" y="3200812"/>
            <a:ext cx="2874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7"/>
              <a:buFont typeface="Arial"/>
              <a:buNone/>
            </a:pPr>
            <a:r>
              <a:rPr b="1" i="0" lang="en-US" sz="104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③</a:t>
            </a:r>
            <a:endParaRPr b="0" i="0" sz="104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31"/>
          <p:cNvSpPr/>
          <p:nvPr/>
        </p:nvSpPr>
        <p:spPr>
          <a:xfrm>
            <a:off x="4088485" y="3168895"/>
            <a:ext cx="3878100" cy="20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"/>
              <a:buFont typeface="Arial"/>
              <a:buNone/>
            </a:pPr>
            <a:r>
              <a:rPr b="1" i="0" lang="en-US" sz="960" u="none" cap="none" strike="noStrike">
                <a:solidFill>
                  <a:srgbClr val="4A0D0B"/>
                </a:solidFill>
                <a:latin typeface="Calibri"/>
                <a:ea typeface="Calibri"/>
                <a:cs typeface="Calibri"/>
                <a:sym typeface="Calibri"/>
              </a:rPr>
              <a:t>Deterministic Synchronisation</a:t>
            </a:r>
            <a:endParaRPr b="0" i="0" sz="96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31"/>
          <p:cNvSpPr/>
          <p:nvPr/>
        </p:nvSpPr>
        <p:spPr>
          <a:xfrm>
            <a:off x="4088485" y="3392318"/>
            <a:ext cx="3878100" cy="49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9"/>
              <a:buFont typeface="Arial"/>
              <a:buNone/>
            </a:pPr>
            <a:r>
              <a:rPr b="0" i="0" lang="en-US" sz="112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5 devices see the same state + apply the same rule = same conclusion simultaneously. Probability all 5 choose the same node → 1.0. Stampede inevitable.</a:t>
            </a:r>
            <a:endParaRPr b="0" i="0" sz="1129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31"/>
          <p:cNvSpPr/>
          <p:nvPr/>
        </p:nvSpPr>
        <p:spPr>
          <a:xfrm>
            <a:off x="3657600" y="4062587"/>
            <a:ext cx="4388700" cy="255300"/>
          </a:xfrm>
          <a:prstGeom prst="rect">
            <a:avLst/>
          </a:prstGeom>
          <a:solidFill>
            <a:srgbClr val="4A0D0B"/>
          </a:solidFill>
          <a:ln cap="flat" cmpd="sng" w="11075">
            <a:solidFill>
              <a:srgbClr val="4A0D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9875" lIns="79775" spcFirstLastPara="1" rIns="79775" wrap="square" tIns="39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2"/>
              <a:buFont typeface="Arial"/>
              <a:buNone/>
            </a:pPr>
            <a:r>
              <a:t/>
            </a:r>
            <a:endParaRPr b="0" i="0" sz="122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31"/>
          <p:cNvSpPr/>
          <p:nvPr/>
        </p:nvSpPr>
        <p:spPr>
          <a:xfrm>
            <a:off x="3657600" y="4062587"/>
            <a:ext cx="43887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5"/>
              <a:buFont typeface="Arial"/>
              <a:buNone/>
            </a:pPr>
            <a:r>
              <a:rPr b="1" i="0" lang="en-US" sz="78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M3 Outcome:  TCR → 0.40%   |   W_q → &gt;50s   |   Jain Fairness → 0.20 (max unfairness)</a:t>
            </a:r>
            <a:endParaRPr b="0" i="0" sz="78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1EE"/>
        </a:solidFill>
      </p:bgPr>
    </p:bg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12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1916"/>
              </a:buClr>
              <a:buSzPts val="2600"/>
              <a:buFont typeface="Calibri"/>
              <a:buNone/>
            </a:pPr>
            <a:r>
              <a:rPr b="1" i="0" lang="en-US" sz="3400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The Herd Effect: A Catastrophic Discovery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12"/>
          <p:cNvSpPr/>
          <p:nvPr/>
        </p:nvSpPr>
        <p:spPr>
          <a:xfrm>
            <a:off x="457200" y="868680"/>
            <a:ext cx="8229600" cy="22860"/>
          </a:xfrm>
          <a:prstGeom prst="rect">
            <a:avLst/>
          </a:prstGeom>
          <a:solidFill>
            <a:srgbClr val="EAE8E4"/>
          </a:solidFill>
          <a:ln cap="flat" cmpd="sng" w="12700">
            <a:solidFill>
              <a:srgbClr val="EAE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12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p12"/>
          <p:cNvSpPr/>
          <p:nvPr/>
        </p:nvSpPr>
        <p:spPr>
          <a:xfrm>
            <a:off x="4507992" y="4892040"/>
            <a:ext cx="128016" cy="128016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649" name="Google Shape;64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174" y="4462274"/>
            <a:ext cx="1074450" cy="384052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12"/>
          <p:cNvSpPr/>
          <p:nvPr/>
        </p:nvSpPr>
        <p:spPr>
          <a:xfrm>
            <a:off x="7498080" y="450799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2026   |   18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12"/>
          <p:cNvSpPr/>
          <p:nvPr/>
        </p:nvSpPr>
        <p:spPr>
          <a:xfrm>
            <a:off x="457200" y="987552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848"/>
              </a:buClr>
              <a:buSzPts val="1300"/>
              <a:buFont typeface="Calibri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rational agents independently making the same rational choice = collective system collapse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12"/>
          <p:cNvSpPr/>
          <p:nvPr/>
        </p:nvSpPr>
        <p:spPr>
          <a:xfrm>
            <a:off x="416064" y="4187950"/>
            <a:ext cx="6677100" cy="502800"/>
          </a:xfrm>
          <a:prstGeom prst="rect">
            <a:avLst/>
          </a:prstGeom>
          <a:solidFill>
            <a:srgbClr val="EAE8E4"/>
          </a:solidFill>
          <a:ln cap="flat" cmpd="sng" w="12700">
            <a:solidFill>
              <a:srgbClr val="EAE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12"/>
          <p:cNvSpPr/>
          <p:nvPr/>
        </p:nvSpPr>
        <p:spPr>
          <a:xfrm>
            <a:off x="531175" y="4224525"/>
            <a:ext cx="67887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1916"/>
              </a:buClr>
              <a:buSzPts val="1200"/>
              <a:buFont typeface="Calibri"/>
              <a:buNone/>
            </a:pPr>
            <a:r>
              <a:rPr b="1" i="0" lang="en-US" sz="1300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M3 Result:</a:t>
            </a:r>
            <a:r>
              <a:rPr b="1" i="0" lang="en-US" sz="900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TCR collapsed to 0.40%  ·  Queue backlogs exceeded 50 seconds  ·  Jain Fairness Index ≈ 0.20 (maximum unfairness)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12"/>
          <p:cNvSpPr/>
          <p:nvPr/>
        </p:nvSpPr>
        <p:spPr>
          <a:xfrm>
            <a:off x="457200" y="1335025"/>
            <a:ext cx="6172800" cy="2853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  <a:effectLst>
            <a:outerShdw blurRad="66863" rotWithShape="0" algn="bl" dir="8100000" dist="25074">
              <a:srgbClr val="000000">
                <a:alpha val="12156"/>
              </a:srgbClr>
            </a:outerShdw>
          </a:effectLst>
        </p:spPr>
        <p:txBody>
          <a:bodyPr anchorCtr="0" anchor="ctr" bIns="60175" lIns="60175" spcFirstLastPara="1" rIns="60175" wrap="square" tIns="601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12"/>
          <p:cNvSpPr/>
          <p:nvPr/>
        </p:nvSpPr>
        <p:spPr>
          <a:xfrm>
            <a:off x="457200" y="1335025"/>
            <a:ext cx="6172800" cy="220200"/>
          </a:xfrm>
          <a:prstGeom prst="rect">
            <a:avLst/>
          </a:prstGeom>
          <a:solidFill>
            <a:srgbClr val="4A0D0B"/>
          </a:solidFill>
          <a:ln cap="flat" cmpd="sng" w="9525">
            <a:solidFill>
              <a:srgbClr val="4A0D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175" lIns="60175" spcFirstLastPara="1" rIns="60175" wrap="square" tIns="601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12"/>
          <p:cNvSpPr/>
          <p:nvPr/>
        </p:nvSpPr>
        <p:spPr>
          <a:xfrm>
            <a:off x="562271" y="1335025"/>
            <a:ext cx="5997900" cy="22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425" lIns="33425" spcFirstLastPara="1" rIns="33425" wrap="square" tIns="33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6"/>
              <a:buFont typeface="Calibri"/>
              <a:buNone/>
            </a:pPr>
            <a:r>
              <a:rPr b="1" i="0" lang="en-US" sz="85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Herd Effect — Step-by-Step Flowchart</a:t>
            </a:r>
            <a:endParaRPr b="0" i="0" sz="856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12"/>
          <p:cNvSpPr/>
          <p:nvPr/>
        </p:nvSpPr>
        <p:spPr>
          <a:xfrm>
            <a:off x="571027" y="1675361"/>
            <a:ext cx="455400" cy="260100"/>
          </a:xfrm>
          <a:prstGeom prst="ellipse">
            <a:avLst/>
          </a:prstGeom>
          <a:solidFill>
            <a:srgbClr val="4A0D0B"/>
          </a:solidFill>
          <a:ln cap="flat" cmpd="sng" w="9525">
            <a:solidFill>
              <a:srgbClr val="4A0D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175" lIns="60175" spcFirstLastPara="1" rIns="60175" wrap="square" tIns="601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12"/>
          <p:cNvSpPr/>
          <p:nvPr/>
        </p:nvSpPr>
        <p:spPr>
          <a:xfrm>
            <a:off x="571027" y="1680366"/>
            <a:ext cx="4554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3"/>
              <a:buFont typeface="Calibri"/>
              <a:buNone/>
            </a:pPr>
            <a:r>
              <a:rPr b="1" i="0" lang="en-US" sz="105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05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12"/>
          <p:cNvSpPr/>
          <p:nvPr/>
        </p:nvSpPr>
        <p:spPr>
          <a:xfrm>
            <a:off x="1078873" y="1605292"/>
            <a:ext cx="5446500" cy="360600"/>
          </a:xfrm>
          <a:prstGeom prst="rect">
            <a:avLst/>
          </a:prstGeom>
          <a:solidFill>
            <a:srgbClr val="4A0D0B">
              <a:alpha val="7058"/>
            </a:srgbClr>
          </a:solidFill>
          <a:ln cap="flat" cmpd="sng" w="9525">
            <a:solidFill>
              <a:srgbClr val="4A0D0B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175" lIns="60175" spcFirstLastPara="1" rIns="60175" wrap="square" tIns="601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p12"/>
          <p:cNvSpPr/>
          <p:nvPr/>
        </p:nvSpPr>
        <p:spPr>
          <a:xfrm>
            <a:off x="1078873" y="1605292"/>
            <a:ext cx="61200" cy="360600"/>
          </a:xfrm>
          <a:prstGeom prst="rect">
            <a:avLst/>
          </a:prstGeom>
          <a:solidFill>
            <a:srgbClr val="4A0D0B"/>
          </a:solidFill>
          <a:ln cap="flat" cmpd="sng" w="9525">
            <a:solidFill>
              <a:srgbClr val="4A0D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175" lIns="60175" spcFirstLastPara="1" rIns="60175" wrap="square" tIns="601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12"/>
          <p:cNvSpPr/>
          <p:nvPr/>
        </p:nvSpPr>
        <p:spPr>
          <a:xfrm>
            <a:off x="1201456" y="1605292"/>
            <a:ext cx="1313400" cy="3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0D0B"/>
              </a:buClr>
              <a:buSzPts val="757"/>
              <a:buFont typeface="Calibri"/>
              <a:buNone/>
            </a:pPr>
            <a:r>
              <a:rPr b="1" i="0" lang="en-US" sz="1057" u="none" cap="none" strike="noStrike">
                <a:solidFill>
                  <a:srgbClr val="4A0D0B"/>
                </a:solidFill>
                <a:latin typeface="Calibri"/>
                <a:ea typeface="Calibri"/>
                <a:cs typeface="Calibri"/>
                <a:sym typeface="Calibri"/>
              </a:rPr>
              <a:t>OBSERVE</a:t>
            </a:r>
            <a:endParaRPr b="0" i="0" sz="105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12"/>
          <p:cNvSpPr/>
          <p:nvPr/>
        </p:nvSpPr>
        <p:spPr>
          <a:xfrm>
            <a:off x="2558629" y="1605292"/>
            <a:ext cx="3896400" cy="3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691"/>
              <a:buFont typeface="Calibri"/>
              <a:buNone/>
            </a:pPr>
            <a:r>
              <a:rPr b="0" i="0" lang="en-US" sz="119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5 devices check queue lengths. Node 3 has shortest W_q at this moment.</a:t>
            </a:r>
            <a:endParaRPr b="0" i="0" sz="119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63" name="Google Shape;663;p12"/>
          <p:cNvCxnSpPr/>
          <p:nvPr/>
        </p:nvCxnSpPr>
        <p:spPr>
          <a:xfrm>
            <a:off x="798682" y="1965648"/>
            <a:ext cx="0" cy="50100"/>
          </a:xfrm>
          <a:prstGeom prst="straightConnector1">
            <a:avLst/>
          </a:prstGeom>
          <a:noFill/>
          <a:ln cap="flat" cmpd="sng" w="16725">
            <a:solidFill>
              <a:srgbClr val="BC933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64" name="Google Shape;664;p12"/>
          <p:cNvSpPr/>
          <p:nvPr/>
        </p:nvSpPr>
        <p:spPr>
          <a:xfrm>
            <a:off x="571027" y="2085766"/>
            <a:ext cx="455400" cy="260100"/>
          </a:xfrm>
          <a:prstGeom prst="ellipse">
            <a:avLst/>
          </a:prstGeom>
          <a:solidFill>
            <a:srgbClr val="4A0D0B"/>
          </a:solidFill>
          <a:ln cap="flat" cmpd="sng" w="9525">
            <a:solidFill>
              <a:srgbClr val="4A0D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175" lIns="60175" spcFirstLastPara="1" rIns="60175" wrap="square" tIns="601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p12"/>
          <p:cNvSpPr/>
          <p:nvPr/>
        </p:nvSpPr>
        <p:spPr>
          <a:xfrm>
            <a:off x="571027" y="2090771"/>
            <a:ext cx="4554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3"/>
              <a:buFont typeface="Calibri"/>
              <a:buNone/>
            </a:pPr>
            <a:r>
              <a:rPr b="1" i="0" lang="en-US" sz="105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5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12"/>
          <p:cNvSpPr/>
          <p:nvPr/>
        </p:nvSpPr>
        <p:spPr>
          <a:xfrm>
            <a:off x="1078873" y="2015697"/>
            <a:ext cx="5446500" cy="360600"/>
          </a:xfrm>
          <a:prstGeom prst="rect">
            <a:avLst/>
          </a:prstGeom>
          <a:solidFill>
            <a:srgbClr val="4A0D0B">
              <a:alpha val="7058"/>
            </a:srgbClr>
          </a:solidFill>
          <a:ln cap="flat" cmpd="sng" w="9525">
            <a:solidFill>
              <a:srgbClr val="4A0D0B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175" lIns="60175" spcFirstLastPara="1" rIns="60175" wrap="square" tIns="601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p12"/>
          <p:cNvSpPr/>
          <p:nvPr/>
        </p:nvSpPr>
        <p:spPr>
          <a:xfrm>
            <a:off x="1078873" y="2015697"/>
            <a:ext cx="61200" cy="360600"/>
          </a:xfrm>
          <a:prstGeom prst="rect">
            <a:avLst/>
          </a:prstGeom>
          <a:solidFill>
            <a:srgbClr val="4A0D0B"/>
          </a:solidFill>
          <a:ln cap="flat" cmpd="sng" w="9525">
            <a:solidFill>
              <a:srgbClr val="4A0D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175" lIns="60175" spcFirstLastPara="1" rIns="60175" wrap="square" tIns="601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12"/>
          <p:cNvSpPr/>
          <p:nvPr/>
        </p:nvSpPr>
        <p:spPr>
          <a:xfrm>
            <a:off x="1201456" y="2015697"/>
            <a:ext cx="1313400" cy="3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0D0B"/>
              </a:buClr>
              <a:buSzPts val="757"/>
              <a:buFont typeface="Calibri"/>
              <a:buNone/>
            </a:pPr>
            <a:r>
              <a:rPr b="1" i="0" lang="en-US" sz="1057" u="none" cap="none" strike="noStrike">
                <a:solidFill>
                  <a:srgbClr val="4A0D0B"/>
                </a:solidFill>
                <a:latin typeface="Calibri"/>
                <a:ea typeface="Calibri"/>
                <a:cs typeface="Calibri"/>
                <a:sym typeface="Calibri"/>
              </a:rPr>
              <a:t>DECIDE</a:t>
            </a:r>
            <a:endParaRPr b="0" i="0" sz="105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12"/>
          <p:cNvSpPr/>
          <p:nvPr/>
        </p:nvSpPr>
        <p:spPr>
          <a:xfrm>
            <a:off x="2558629" y="2015697"/>
            <a:ext cx="3896400" cy="3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691"/>
              <a:buFont typeface="Calibri"/>
              <a:buNone/>
            </a:pPr>
            <a:r>
              <a:rPr b="0" i="0" lang="en-US" sz="119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5 independently compute argmin D_j and reach SAME conclusion: Node 3.</a:t>
            </a:r>
            <a:endParaRPr b="0" i="0" sz="119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70" name="Google Shape;670;p12"/>
          <p:cNvCxnSpPr/>
          <p:nvPr/>
        </p:nvCxnSpPr>
        <p:spPr>
          <a:xfrm>
            <a:off x="798682" y="2376053"/>
            <a:ext cx="0" cy="50100"/>
          </a:xfrm>
          <a:prstGeom prst="straightConnector1">
            <a:avLst/>
          </a:prstGeom>
          <a:noFill/>
          <a:ln cap="flat" cmpd="sng" w="16725">
            <a:solidFill>
              <a:srgbClr val="BC933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71" name="Google Shape;671;p12"/>
          <p:cNvSpPr/>
          <p:nvPr/>
        </p:nvSpPr>
        <p:spPr>
          <a:xfrm>
            <a:off x="571027" y="2496171"/>
            <a:ext cx="455400" cy="260100"/>
          </a:xfrm>
          <a:prstGeom prst="ellipse">
            <a:avLst/>
          </a:prstGeom>
          <a:solidFill>
            <a:srgbClr val="7D1916"/>
          </a:solidFill>
          <a:ln cap="flat" cmpd="sng" w="9525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175" lIns="60175" spcFirstLastPara="1" rIns="60175" wrap="square" tIns="601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p12"/>
          <p:cNvSpPr/>
          <p:nvPr/>
        </p:nvSpPr>
        <p:spPr>
          <a:xfrm>
            <a:off x="571027" y="2501176"/>
            <a:ext cx="4554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3"/>
              <a:buFont typeface="Calibri"/>
              <a:buNone/>
            </a:pPr>
            <a:r>
              <a:rPr b="1" i="0" lang="en-US" sz="105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5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12"/>
          <p:cNvSpPr/>
          <p:nvPr/>
        </p:nvSpPr>
        <p:spPr>
          <a:xfrm>
            <a:off x="1078873" y="2426102"/>
            <a:ext cx="5446500" cy="360600"/>
          </a:xfrm>
          <a:prstGeom prst="rect">
            <a:avLst/>
          </a:prstGeom>
          <a:solidFill>
            <a:srgbClr val="7D1916">
              <a:alpha val="7058"/>
            </a:srgbClr>
          </a:solidFill>
          <a:ln cap="flat" cmpd="sng" w="9525">
            <a:solidFill>
              <a:srgbClr val="7D1916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175" lIns="60175" spcFirstLastPara="1" rIns="60175" wrap="square" tIns="601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p12"/>
          <p:cNvSpPr/>
          <p:nvPr/>
        </p:nvSpPr>
        <p:spPr>
          <a:xfrm>
            <a:off x="1078873" y="2426102"/>
            <a:ext cx="61200" cy="360600"/>
          </a:xfrm>
          <a:prstGeom prst="rect">
            <a:avLst/>
          </a:prstGeom>
          <a:solidFill>
            <a:srgbClr val="7D1916"/>
          </a:solidFill>
          <a:ln cap="flat" cmpd="sng" w="9525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175" lIns="60175" spcFirstLastPara="1" rIns="60175" wrap="square" tIns="601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p12"/>
          <p:cNvSpPr/>
          <p:nvPr/>
        </p:nvSpPr>
        <p:spPr>
          <a:xfrm>
            <a:off x="1201456" y="2426102"/>
            <a:ext cx="1313400" cy="3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1916"/>
              </a:buClr>
              <a:buSzPts val="757"/>
              <a:buFont typeface="Calibri"/>
              <a:buNone/>
            </a:pPr>
            <a:r>
              <a:rPr b="1" i="0" lang="en-US" sz="1057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FLOOD</a:t>
            </a:r>
            <a:endParaRPr b="0" i="0" sz="105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12"/>
          <p:cNvSpPr/>
          <p:nvPr/>
        </p:nvSpPr>
        <p:spPr>
          <a:xfrm>
            <a:off x="2558629" y="2426102"/>
            <a:ext cx="3896400" cy="3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691"/>
              <a:buFont typeface="Calibri"/>
              <a:buNone/>
            </a:pPr>
            <a:r>
              <a:rPr b="0" i="0" lang="en-US" sz="119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5 send tasks to Node 3 simultaneously — it receives 5× expected load.</a:t>
            </a:r>
            <a:endParaRPr b="0" i="0" sz="119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77" name="Google Shape;677;p12"/>
          <p:cNvCxnSpPr/>
          <p:nvPr/>
        </p:nvCxnSpPr>
        <p:spPr>
          <a:xfrm>
            <a:off x="798682" y="2786458"/>
            <a:ext cx="0" cy="50100"/>
          </a:xfrm>
          <a:prstGeom prst="straightConnector1">
            <a:avLst/>
          </a:prstGeom>
          <a:noFill/>
          <a:ln cap="flat" cmpd="sng" w="16725">
            <a:solidFill>
              <a:srgbClr val="BC933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78" name="Google Shape;678;p12"/>
          <p:cNvSpPr/>
          <p:nvPr/>
        </p:nvSpPr>
        <p:spPr>
          <a:xfrm>
            <a:off x="571027" y="2906576"/>
            <a:ext cx="455400" cy="260100"/>
          </a:xfrm>
          <a:prstGeom prst="ellipse">
            <a:avLst/>
          </a:prstGeom>
          <a:solidFill>
            <a:srgbClr val="7D1916"/>
          </a:solidFill>
          <a:ln cap="flat" cmpd="sng" w="9525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175" lIns="60175" spcFirstLastPara="1" rIns="60175" wrap="square" tIns="601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p12"/>
          <p:cNvSpPr/>
          <p:nvPr/>
        </p:nvSpPr>
        <p:spPr>
          <a:xfrm>
            <a:off x="571027" y="2911581"/>
            <a:ext cx="4554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3"/>
              <a:buFont typeface="Calibri"/>
              <a:buNone/>
            </a:pPr>
            <a:r>
              <a:rPr b="1" i="0" lang="en-US" sz="105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05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12"/>
          <p:cNvSpPr/>
          <p:nvPr/>
        </p:nvSpPr>
        <p:spPr>
          <a:xfrm>
            <a:off x="1078873" y="2836507"/>
            <a:ext cx="5446500" cy="360600"/>
          </a:xfrm>
          <a:prstGeom prst="rect">
            <a:avLst/>
          </a:prstGeom>
          <a:solidFill>
            <a:srgbClr val="7D1916">
              <a:alpha val="7058"/>
            </a:srgbClr>
          </a:solidFill>
          <a:ln cap="flat" cmpd="sng" w="9525">
            <a:solidFill>
              <a:srgbClr val="7D1916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175" lIns="60175" spcFirstLastPara="1" rIns="60175" wrap="square" tIns="601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12"/>
          <p:cNvSpPr/>
          <p:nvPr/>
        </p:nvSpPr>
        <p:spPr>
          <a:xfrm>
            <a:off x="1078873" y="2836507"/>
            <a:ext cx="61200" cy="360600"/>
          </a:xfrm>
          <a:prstGeom prst="rect">
            <a:avLst/>
          </a:prstGeom>
          <a:solidFill>
            <a:srgbClr val="7D1916"/>
          </a:solidFill>
          <a:ln cap="flat" cmpd="sng" w="9525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175" lIns="60175" spcFirstLastPara="1" rIns="60175" wrap="square" tIns="601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12"/>
          <p:cNvSpPr/>
          <p:nvPr/>
        </p:nvSpPr>
        <p:spPr>
          <a:xfrm>
            <a:off x="1201456" y="2836507"/>
            <a:ext cx="1313400" cy="3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1916"/>
              </a:buClr>
              <a:buSzPts val="757"/>
              <a:buFont typeface="Calibri"/>
              <a:buNone/>
            </a:pPr>
            <a:r>
              <a:rPr b="1" i="0" lang="en-US" sz="1057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COLLAPSE</a:t>
            </a:r>
            <a:endParaRPr b="0" i="0" sz="105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12"/>
          <p:cNvSpPr/>
          <p:nvPr/>
        </p:nvSpPr>
        <p:spPr>
          <a:xfrm>
            <a:off x="2558629" y="2836507"/>
            <a:ext cx="3896400" cy="3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691"/>
              <a:buFont typeface="Calibri"/>
              <a:buNone/>
            </a:pPr>
            <a:r>
              <a:rPr b="0" i="0" lang="en-US" sz="119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Node 3's queue explodes. All devices now see Node 1 as shortest queue.</a:t>
            </a:r>
            <a:endParaRPr b="0" i="0" sz="119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84" name="Google Shape;684;p12"/>
          <p:cNvCxnSpPr/>
          <p:nvPr/>
        </p:nvCxnSpPr>
        <p:spPr>
          <a:xfrm>
            <a:off x="798682" y="3196863"/>
            <a:ext cx="0" cy="50100"/>
          </a:xfrm>
          <a:prstGeom prst="straightConnector1">
            <a:avLst/>
          </a:prstGeom>
          <a:noFill/>
          <a:ln cap="flat" cmpd="sng" w="16725">
            <a:solidFill>
              <a:srgbClr val="BC933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85" name="Google Shape;685;p12"/>
          <p:cNvSpPr/>
          <p:nvPr/>
        </p:nvSpPr>
        <p:spPr>
          <a:xfrm>
            <a:off x="571027" y="3316982"/>
            <a:ext cx="455400" cy="260100"/>
          </a:xfrm>
          <a:prstGeom prst="ellipse">
            <a:avLst/>
          </a:prstGeom>
          <a:solidFill>
            <a:srgbClr val="7D1916"/>
          </a:solidFill>
          <a:ln cap="flat" cmpd="sng" w="9525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175" lIns="60175" spcFirstLastPara="1" rIns="60175" wrap="square" tIns="601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p12"/>
          <p:cNvSpPr/>
          <p:nvPr/>
        </p:nvSpPr>
        <p:spPr>
          <a:xfrm>
            <a:off x="571027" y="3321986"/>
            <a:ext cx="4554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3"/>
              <a:buFont typeface="Calibri"/>
              <a:buNone/>
            </a:pPr>
            <a:r>
              <a:rPr b="1" i="0" lang="en-US" sz="105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05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12"/>
          <p:cNvSpPr/>
          <p:nvPr/>
        </p:nvSpPr>
        <p:spPr>
          <a:xfrm>
            <a:off x="1078873" y="3246912"/>
            <a:ext cx="5446500" cy="360600"/>
          </a:xfrm>
          <a:prstGeom prst="rect">
            <a:avLst/>
          </a:prstGeom>
          <a:solidFill>
            <a:srgbClr val="7D1916">
              <a:alpha val="7058"/>
            </a:srgbClr>
          </a:solidFill>
          <a:ln cap="flat" cmpd="sng" w="9525">
            <a:solidFill>
              <a:srgbClr val="7D1916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175" lIns="60175" spcFirstLastPara="1" rIns="60175" wrap="square" tIns="601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8" name="Google Shape;688;p12"/>
          <p:cNvSpPr/>
          <p:nvPr/>
        </p:nvSpPr>
        <p:spPr>
          <a:xfrm>
            <a:off x="1078873" y="3246912"/>
            <a:ext cx="61200" cy="360600"/>
          </a:xfrm>
          <a:prstGeom prst="rect">
            <a:avLst/>
          </a:prstGeom>
          <a:solidFill>
            <a:srgbClr val="7D1916"/>
          </a:solidFill>
          <a:ln cap="flat" cmpd="sng" w="9525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175" lIns="60175" spcFirstLastPara="1" rIns="60175" wrap="square" tIns="601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p12"/>
          <p:cNvSpPr/>
          <p:nvPr/>
        </p:nvSpPr>
        <p:spPr>
          <a:xfrm>
            <a:off x="1201456" y="3246912"/>
            <a:ext cx="1313400" cy="3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1916"/>
              </a:buClr>
              <a:buSzPts val="757"/>
              <a:buFont typeface="Calibri"/>
              <a:buNone/>
            </a:pPr>
            <a:r>
              <a:rPr b="1" i="0" lang="en-US" sz="1057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REPEAT</a:t>
            </a:r>
            <a:endParaRPr b="0" i="0" sz="105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12"/>
          <p:cNvSpPr/>
          <p:nvPr/>
        </p:nvSpPr>
        <p:spPr>
          <a:xfrm>
            <a:off x="2558629" y="3246912"/>
            <a:ext cx="3896400" cy="3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691"/>
              <a:buFont typeface="Calibri"/>
              <a:buNone/>
            </a:pPr>
            <a:r>
              <a:rPr b="0" i="0" lang="en-US" sz="119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5 flood Node 1. It collapses. Oscillating waves of congestion propagate.</a:t>
            </a:r>
            <a:endParaRPr b="0" i="0" sz="119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91" name="Google Shape;691;p12"/>
          <p:cNvCxnSpPr/>
          <p:nvPr/>
        </p:nvCxnSpPr>
        <p:spPr>
          <a:xfrm>
            <a:off x="798682" y="3607268"/>
            <a:ext cx="0" cy="50100"/>
          </a:xfrm>
          <a:prstGeom prst="straightConnector1">
            <a:avLst/>
          </a:prstGeom>
          <a:noFill/>
          <a:ln cap="flat" cmpd="sng" w="16725">
            <a:solidFill>
              <a:srgbClr val="BC933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92" name="Google Shape;692;p12"/>
          <p:cNvSpPr/>
          <p:nvPr/>
        </p:nvSpPr>
        <p:spPr>
          <a:xfrm>
            <a:off x="571027" y="3727387"/>
            <a:ext cx="455400" cy="260100"/>
          </a:xfrm>
          <a:prstGeom prst="ellipse">
            <a:avLst/>
          </a:prstGeom>
          <a:solidFill>
            <a:srgbClr val="4A0D0B"/>
          </a:solidFill>
          <a:ln cap="flat" cmpd="sng" w="9525">
            <a:solidFill>
              <a:srgbClr val="4A0D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175" lIns="60175" spcFirstLastPara="1" rIns="60175" wrap="square" tIns="601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p12"/>
          <p:cNvSpPr/>
          <p:nvPr/>
        </p:nvSpPr>
        <p:spPr>
          <a:xfrm>
            <a:off x="571027" y="3732392"/>
            <a:ext cx="4554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3"/>
              <a:buFont typeface="Calibri"/>
              <a:buNone/>
            </a:pPr>
            <a:r>
              <a:rPr b="1" i="0" lang="en-US" sz="105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05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12"/>
          <p:cNvSpPr/>
          <p:nvPr/>
        </p:nvSpPr>
        <p:spPr>
          <a:xfrm>
            <a:off x="1078873" y="3657317"/>
            <a:ext cx="5446500" cy="360600"/>
          </a:xfrm>
          <a:prstGeom prst="rect">
            <a:avLst/>
          </a:prstGeom>
          <a:solidFill>
            <a:srgbClr val="4A0D0B">
              <a:alpha val="7058"/>
            </a:srgbClr>
          </a:solidFill>
          <a:ln cap="flat" cmpd="sng" w="9525">
            <a:solidFill>
              <a:srgbClr val="4A0D0B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175" lIns="60175" spcFirstLastPara="1" rIns="60175" wrap="square" tIns="601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p12"/>
          <p:cNvSpPr/>
          <p:nvPr/>
        </p:nvSpPr>
        <p:spPr>
          <a:xfrm>
            <a:off x="1078873" y="3657317"/>
            <a:ext cx="61200" cy="360600"/>
          </a:xfrm>
          <a:prstGeom prst="rect">
            <a:avLst/>
          </a:prstGeom>
          <a:solidFill>
            <a:srgbClr val="4A0D0B"/>
          </a:solidFill>
          <a:ln cap="flat" cmpd="sng" w="9525">
            <a:solidFill>
              <a:srgbClr val="4A0D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175" lIns="60175" spcFirstLastPara="1" rIns="60175" wrap="square" tIns="601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p12"/>
          <p:cNvSpPr/>
          <p:nvPr/>
        </p:nvSpPr>
        <p:spPr>
          <a:xfrm>
            <a:off x="1201456" y="3657317"/>
            <a:ext cx="1313400" cy="3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0D0B"/>
              </a:buClr>
              <a:buSzPts val="757"/>
              <a:buFont typeface="Calibri"/>
              <a:buNone/>
            </a:pPr>
            <a:r>
              <a:rPr b="1" i="0" lang="en-US" sz="1057" u="none" cap="none" strike="noStrike">
                <a:solidFill>
                  <a:srgbClr val="4A0D0B"/>
                </a:solidFill>
                <a:latin typeface="Calibri"/>
                <a:ea typeface="Calibri"/>
                <a:cs typeface="Calibri"/>
                <a:sym typeface="Calibri"/>
              </a:rPr>
              <a:t>CATASTROPHE</a:t>
            </a:r>
            <a:endParaRPr b="0" i="0" sz="105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12"/>
          <p:cNvSpPr/>
          <p:nvPr/>
        </p:nvSpPr>
        <p:spPr>
          <a:xfrm>
            <a:off x="2558629" y="3657317"/>
            <a:ext cx="3896400" cy="3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691"/>
              <a:buFont typeface="Calibri"/>
              <a:buNone/>
            </a:pPr>
            <a:r>
              <a:rPr b="0" i="0" lang="en-US" sz="119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TCR → 0.40%  |  W_q → &gt;50s  |  Jain's Fairness → 0.20 (worst possible).</a:t>
            </a:r>
            <a:endParaRPr b="0" i="0" sz="119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1EE"/>
        </a:solidFill>
      </p:bgPr>
    </p:bg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13"/>
          <p:cNvSpPr/>
          <p:nvPr/>
        </p:nvSpPr>
        <p:spPr>
          <a:xfrm>
            <a:off x="457200" y="256032"/>
            <a:ext cx="82296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1916"/>
              </a:buClr>
              <a:buSzPts val="2600"/>
              <a:buFont typeface="Calibri"/>
              <a:buNone/>
            </a:pPr>
            <a:r>
              <a:rPr b="1" i="0" lang="en-US" sz="3100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Milestone 3: </a:t>
            </a:r>
            <a:r>
              <a:rPr b="1" i="0" lang="en-US" sz="2900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 — Monte Carlo </a:t>
            </a:r>
            <a:r>
              <a:rPr b="1" i="0" lang="en-US" sz="3100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Simulation Evidence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13"/>
          <p:cNvSpPr/>
          <p:nvPr/>
        </p:nvSpPr>
        <p:spPr>
          <a:xfrm>
            <a:off x="457200" y="868680"/>
            <a:ext cx="8229600" cy="22800"/>
          </a:xfrm>
          <a:prstGeom prst="rect">
            <a:avLst/>
          </a:prstGeom>
          <a:solidFill>
            <a:srgbClr val="EAE8E4"/>
          </a:solidFill>
          <a:ln cap="flat" cmpd="sng" w="12700">
            <a:solidFill>
              <a:srgbClr val="EAE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13"/>
          <p:cNvSpPr/>
          <p:nvPr/>
        </p:nvSpPr>
        <p:spPr>
          <a:xfrm>
            <a:off x="0" y="4919472"/>
            <a:ext cx="9144000" cy="224100"/>
          </a:xfrm>
          <a:prstGeom prst="rect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13"/>
          <p:cNvSpPr/>
          <p:nvPr/>
        </p:nvSpPr>
        <p:spPr>
          <a:xfrm>
            <a:off x="4507992" y="4892040"/>
            <a:ext cx="128100" cy="128100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13"/>
          <p:cNvSpPr/>
          <p:nvPr/>
        </p:nvSpPr>
        <p:spPr>
          <a:xfrm>
            <a:off x="7457405" y="4512142"/>
            <a:ext cx="1463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2026   |   19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08" name="Google Shape;708;p13"/>
          <p:cNvGraphicFramePr/>
          <p:nvPr/>
        </p:nvGraphicFramePr>
        <p:xfrm>
          <a:off x="365760" y="98755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{3027E2C3-9FC2-4D8F-B117-58EA10EDBB89}</a:tableStyleId>
              </a:tblPr>
              <a:tblGrid>
                <a:gridCol w="1453825"/>
                <a:gridCol w="1825500"/>
                <a:gridCol w="2098700"/>
              </a:tblGrid>
              <a:tr h="271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Metric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D19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M3 SDF Result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D19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Status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D1916"/>
                    </a:solidFill>
                  </a:tcPr>
                </a:tc>
              </a:tr>
              <a:tr h="377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848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444848"/>
                          </a:solidFill>
                        </a:rPr>
                        <a:t>Average TCR</a:t>
                      </a:r>
                      <a:endParaRPr sz="11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8E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848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444848"/>
                          </a:solidFill>
                        </a:rPr>
                        <a:t>~0.40%</a:t>
                      </a:r>
                      <a:endParaRPr sz="11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8E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D1916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7D1916"/>
                          </a:solidFill>
                        </a:rPr>
                        <a:t>Catastrophic Failure</a:t>
                      </a:r>
                      <a:endParaRPr sz="11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8E4"/>
                    </a:solidFill>
                  </a:tcPr>
                </a:tc>
              </a:tr>
              <a:tr h="377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848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444848"/>
                          </a:solidFill>
                        </a:rPr>
                        <a:t>Queue Backlog W_q</a:t>
                      </a:r>
                      <a:endParaRPr sz="11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A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848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444848"/>
                          </a:solidFill>
                        </a:rPr>
                        <a:t>Divergent (&gt;50 seconds)</a:t>
                      </a:r>
                      <a:endParaRPr sz="11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A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D1916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7D1916"/>
                          </a:solidFill>
                        </a:rPr>
                        <a:t>Never Stabilises</a:t>
                      </a:r>
                      <a:endParaRPr sz="11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AE6"/>
                    </a:solidFill>
                  </a:tcPr>
                </a:tc>
              </a:tr>
              <a:tr h="377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848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444848"/>
                          </a:solidFill>
                        </a:rPr>
                        <a:t>Jain's Fairness Index</a:t>
                      </a:r>
                      <a:endParaRPr sz="11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8E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848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444848"/>
                          </a:solidFill>
                        </a:rPr>
                        <a:t>≈ 0.20 (max unfairness)</a:t>
                      </a:r>
                      <a:endParaRPr sz="11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8E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D1916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7D1916"/>
                          </a:solidFill>
                        </a:rPr>
                        <a:t>Severe Imbalance</a:t>
                      </a:r>
                      <a:endParaRPr sz="11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8E4"/>
                    </a:solidFill>
                  </a:tcPr>
                </a:tc>
              </a:tr>
              <a:tr h="377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848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444848"/>
                          </a:solidFill>
                        </a:rPr>
                        <a:t>Tail Latency (95th pct)</a:t>
                      </a:r>
                      <a:endParaRPr sz="11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A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848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444848"/>
                          </a:solidFill>
                        </a:rPr>
                        <a:t>&gt;50 seconds</a:t>
                      </a:r>
                      <a:endParaRPr sz="11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A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D1916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7D1916"/>
                          </a:solidFill>
                        </a:rPr>
                        <a:t>Completely Unacceptable</a:t>
                      </a:r>
                      <a:endParaRPr sz="11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AE6"/>
                    </a:solidFill>
                  </a:tcPr>
                </a:tc>
              </a:tr>
              <a:tr h="377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848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444848"/>
                          </a:solidFill>
                        </a:rPr>
                        <a:t>Jensen Gap</a:t>
                      </a:r>
                      <a:endParaRPr sz="11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8E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848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444848"/>
                          </a:solidFill>
                        </a:rPr>
                        <a:t>Rapidly Growing after task 800</a:t>
                      </a:r>
                      <a:endParaRPr sz="11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8E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D1916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7D1916"/>
                          </a:solidFill>
                        </a:rPr>
                        <a:t>Variance Dominating</a:t>
                      </a:r>
                      <a:endParaRPr sz="11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CE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8E4"/>
                    </a:solidFill>
                  </a:tcPr>
                </a:tc>
              </a:tr>
            </a:tbl>
          </a:graphicData>
        </a:graphic>
      </p:graphicFrame>
      <p:sp>
        <p:nvSpPr>
          <p:cNvPr id="709" name="Google Shape;709;p13"/>
          <p:cNvSpPr/>
          <p:nvPr/>
        </p:nvSpPr>
        <p:spPr>
          <a:xfrm>
            <a:off x="365760" y="3383362"/>
            <a:ext cx="8412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1916"/>
              </a:buClr>
              <a:buSzPts val="1300"/>
              <a:buFont typeface="Calibri"/>
              <a:buNone/>
            </a:pPr>
            <a:r>
              <a:rPr b="1" i="0" lang="en-US" sz="1500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M3 Four-Panel Dashboard Findings: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13"/>
          <p:cNvSpPr/>
          <p:nvPr/>
        </p:nvSpPr>
        <p:spPr>
          <a:xfrm>
            <a:off x="365750" y="3677975"/>
            <a:ext cx="5378100" cy="100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Panel 1: System Reliability (TCR %) — Starts high, crashes to ~0.40% by task 1,500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Panel 2: Workload Mix — 50.8% AR vs 49.2% BeautyCam (confirms unbiased generation)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Panel 3: Queue Delay — Diverges past 50s, confirming Herd Effect in action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Panel 4: Jensen Gap — Explosive growth after task 800; variance is the real culprit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11" name="Google Shape;711;p13"/>
          <p:cNvGraphicFramePr/>
          <p:nvPr/>
        </p:nvGraphicFramePr>
        <p:xfrm>
          <a:off x="5970258" y="131664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{3027E2C3-9FC2-4D8F-B117-58EA10EDBB89}</a:tableStyleId>
              </a:tblPr>
              <a:tblGrid>
                <a:gridCol w="872425"/>
                <a:gridCol w="1889325"/>
              </a:tblGrid>
              <a:tr h="298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94C00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894C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Language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6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Python 3 + NumPy + PyTorch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6F3"/>
                    </a:solidFill>
                  </a:tcPr>
                </a:tc>
              </a:tr>
              <a:tr h="34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D1916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7D191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Topology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5-node D2D mesh (fully connected)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94C00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894C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M3 Tasks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6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600,000 total + 1,500-task burst study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6F3"/>
                    </a:solidFill>
                  </a:tcPr>
                </a:tc>
              </a:tr>
              <a:tr h="34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D1916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7D191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Task Mix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 50.8% (Gamma) + BeautyCam 49.2% (Exp)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69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94C00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894C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CPU freq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6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f_i ~ Uniform(1.0–2.5 GHz)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6F3"/>
                    </a:solidFill>
                  </a:tcPr>
                </a:tc>
              </a:tr>
              <a:tr h="298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D1916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7D191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Distance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d_ij ~ Uniform(5–50 metres)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94C00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894C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Monte Carlo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6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 trials, λ swept 0.1 → 1.4 tasks/s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6F3"/>
                    </a:solidFill>
                  </a:tcPr>
                </a:tc>
              </a:tr>
              <a:tr h="34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D1916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7D191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Policy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SDF — Shortest Delay First (deterministic)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94C00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894C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X,Y model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6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Modelled as INDEPENDENT (M3 flaw — ρ was +0.55)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6F3"/>
                    </a:solidFill>
                  </a:tcPr>
                </a:tc>
              </a:tr>
            </a:tbl>
          </a:graphicData>
        </a:graphic>
      </p:graphicFrame>
      <p:sp>
        <p:nvSpPr>
          <p:cNvPr id="712" name="Google Shape;712;p13"/>
          <p:cNvSpPr txBox="1"/>
          <p:nvPr/>
        </p:nvSpPr>
        <p:spPr>
          <a:xfrm>
            <a:off x="5970200" y="891475"/>
            <a:ext cx="2761800" cy="384900"/>
          </a:xfrm>
          <a:prstGeom prst="rect">
            <a:avLst/>
          </a:prstGeom>
          <a:solidFill>
            <a:srgbClr val="7D1916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Simulation Setup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1EE"/>
        </a:solidFill>
      </p:bgPr>
    </p:bg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14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1916"/>
              </a:buClr>
              <a:buSzPts val="2600"/>
              <a:buFont typeface="Calibri"/>
              <a:buNone/>
            </a:pPr>
            <a:r>
              <a:rPr b="1" i="0" lang="en-US" sz="3400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Why Randomness Is the Solution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14"/>
          <p:cNvSpPr/>
          <p:nvPr/>
        </p:nvSpPr>
        <p:spPr>
          <a:xfrm>
            <a:off x="457200" y="868680"/>
            <a:ext cx="8229600" cy="22860"/>
          </a:xfrm>
          <a:prstGeom prst="rect">
            <a:avLst/>
          </a:prstGeom>
          <a:solidFill>
            <a:srgbClr val="EAE8E4"/>
          </a:solidFill>
          <a:ln cap="flat" cmpd="sng" w="12700">
            <a:solidFill>
              <a:srgbClr val="EAE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p14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p14"/>
          <p:cNvSpPr/>
          <p:nvPr/>
        </p:nvSpPr>
        <p:spPr>
          <a:xfrm>
            <a:off x="4507992" y="4892040"/>
            <a:ext cx="128016" cy="128016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722" name="Google Shape;72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175" y="4384909"/>
            <a:ext cx="1280156" cy="275744"/>
          </a:xfrm>
          <a:prstGeom prst="rect">
            <a:avLst/>
          </a:prstGeom>
          <a:noFill/>
          <a:ln>
            <a:noFill/>
          </a:ln>
        </p:spPr>
      </p:pic>
      <p:sp>
        <p:nvSpPr>
          <p:cNvPr id="723" name="Google Shape;723;p14"/>
          <p:cNvSpPr/>
          <p:nvPr/>
        </p:nvSpPr>
        <p:spPr>
          <a:xfrm>
            <a:off x="7508245" y="4507992"/>
            <a:ext cx="1463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2026   |   20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14"/>
          <p:cNvSpPr/>
          <p:nvPr/>
        </p:nvSpPr>
        <p:spPr>
          <a:xfrm>
            <a:off x="457200" y="987552"/>
            <a:ext cx="8229600" cy="804672"/>
          </a:xfrm>
          <a:prstGeom prst="rect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5" name="Google Shape;725;p14"/>
          <p:cNvSpPr/>
          <p:nvPr/>
        </p:nvSpPr>
        <p:spPr>
          <a:xfrm>
            <a:off x="594360" y="1024128"/>
            <a:ext cx="79552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Root Cause of Herd Effect:  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DETERMINISM.  All devices apply the same rule to the same state → identical conclusion → flooding.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14"/>
          <p:cNvSpPr/>
          <p:nvPr/>
        </p:nvSpPr>
        <p:spPr>
          <a:xfrm>
            <a:off x="457200" y="1938528"/>
            <a:ext cx="3840480" cy="2148840"/>
          </a:xfrm>
          <a:prstGeom prst="rect">
            <a:avLst/>
          </a:prstGeom>
          <a:solidFill>
            <a:srgbClr val="EAE8E4"/>
          </a:solidFill>
          <a:ln cap="flat" cmpd="sng" w="12700">
            <a:solidFill>
              <a:srgbClr val="EAE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14"/>
          <p:cNvSpPr/>
          <p:nvPr/>
        </p:nvSpPr>
        <p:spPr>
          <a:xfrm>
            <a:off x="457200" y="1938528"/>
            <a:ext cx="3840480" cy="365760"/>
          </a:xfrm>
          <a:prstGeom prst="rect">
            <a:avLst/>
          </a:prstGeom>
          <a:solidFill>
            <a:srgbClr val="B0A09E"/>
          </a:solidFill>
          <a:ln cap="flat" cmpd="sng" w="12700">
            <a:solidFill>
              <a:srgbClr val="B0A0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14"/>
          <p:cNvSpPr/>
          <p:nvPr/>
        </p:nvSpPr>
        <p:spPr>
          <a:xfrm>
            <a:off x="548640" y="1956816"/>
            <a:ext cx="3657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M3: DETERMINISTIC SDF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14"/>
          <p:cNvSpPr/>
          <p:nvPr/>
        </p:nvSpPr>
        <p:spPr>
          <a:xfrm>
            <a:off x="566928" y="2359152"/>
            <a:ext cx="361188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848"/>
              </a:buClr>
              <a:buSzPts val="1200"/>
              <a:buFont typeface="Calibri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Action = argmin_j D_j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848"/>
              </a:buClr>
              <a:buSzPts val="1200"/>
              <a:buFont typeface="Calibri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Always picks the single best node. All devices agree. All flood the same node. System collapses.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14"/>
          <p:cNvSpPr/>
          <p:nvPr/>
        </p:nvSpPr>
        <p:spPr>
          <a:xfrm>
            <a:off x="4846320" y="1938528"/>
            <a:ext cx="3840480" cy="2148840"/>
          </a:xfrm>
          <a:prstGeom prst="rect">
            <a:avLst/>
          </a:prstGeom>
          <a:solidFill>
            <a:srgbClr val="EAE8E4"/>
          </a:solidFill>
          <a:ln cap="flat" cmpd="sng" w="12700">
            <a:solidFill>
              <a:srgbClr val="EAE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p14"/>
          <p:cNvSpPr/>
          <p:nvPr/>
        </p:nvSpPr>
        <p:spPr>
          <a:xfrm>
            <a:off x="4846320" y="1938528"/>
            <a:ext cx="3840480" cy="365760"/>
          </a:xfrm>
          <a:prstGeom prst="rect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" name="Google Shape;732;p14"/>
          <p:cNvSpPr/>
          <p:nvPr/>
        </p:nvSpPr>
        <p:spPr>
          <a:xfrm>
            <a:off x="4937760" y="1956816"/>
            <a:ext cx="3657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M4: STOCHASTIC DDQN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14"/>
          <p:cNvSpPr/>
          <p:nvPr/>
        </p:nvSpPr>
        <p:spPr>
          <a:xfrm>
            <a:off x="4956048" y="2359152"/>
            <a:ext cx="361188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848"/>
              </a:buClr>
              <a:buSzPts val="1200"/>
              <a:buFont typeface="Calibri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Action ~ π(A | S)  [Boltzmann sampling]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848"/>
              </a:buClr>
              <a:buSzPts val="1200"/>
              <a:buFont typeface="Calibri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device samples a different random action. Tasks spread naturally across nodes. Herd Effect broken.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14"/>
          <p:cNvSpPr/>
          <p:nvPr/>
        </p:nvSpPr>
        <p:spPr>
          <a:xfrm>
            <a:off x="4361688" y="2743200"/>
            <a:ext cx="420624" cy="320040"/>
          </a:xfrm>
          <a:prstGeom prst="rect">
            <a:avLst/>
          </a:prstGeom>
          <a:solidFill>
            <a:srgbClr val="EAE8E4"/>
          </a:solidFill>
          <a:ln cap="flat" cmpd="sng" w="12700">
            <a:solidFill>
              <a:srgbClr val="EAE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5" name="Google Shape;735;p14"/>
          <p:cNvSpPr/>
          <p:nvPr/>
        </p:nvSpPr>
        <p:spPr>
          <a:xfrm>
            <a:off x="4361688" y="2743200"/>
            <a:ext cx="42062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1916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14"/>
          <p:cNvSpPr/>
          <p:nvPr/>
        </p:nvSpPr>
        <p:spPr>
          <a:xfrm>
            <a:off x="457207" y="4187951"/>
            <a:ext cx="8229600" cy="361200"/>
          </a:xfrm>
          <a:prstGeom prst="rect">
            <a:avLst/>
          </a:prstGeom>
          <a:solidFill>
            <a:srgbClr val="EAE8E4"/>
          </a:solidFill>
          <a:ln cap="flat" cmpd="sng" w="12700">
            <a:solidFill>
              <a:srgbClr val="EAE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p14"/>
          <p:cNvSpPr/>
          <p:nvPr/>
        </p:nvSpPr>
        <p:spPr>
          <a:xfrm>
            <a:off x="594367" y="4214212"/>
            <a:ext cx="7955400" cy="3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1916"/>
              </a:buClr>
              <a:buSzPts val="1200"/>
              <a:buFont typeface="Calibri"/>
              <a:buNone/>
            </a:pPr>
            <a:r>
              <a:rPr b="1" i="0" lang="en-US" sz="1300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Even just 12.6% randomness  </a:t>
            </a:r>
            <a:r>
              <a:rPr b="0" i="0" lang="en-US" sz="1300" u="none" cap="none" strike="noStrike">
                <a:solidFill>
                  <a:srgbClr val="444848"/>
                </a:solidFill>
                <a:latin typeface="Calibri"/>
                <a:ea typeface="Calibri"/>
                <a:cs typeface="Calibri"/>
                <a:sym typeface="Calibri"/>
              </a:rPr>
              <a:t>is enough to break synchronisation. The probability that ALL 5 devices independently choose the same node collapses dramatically.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1EE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36"/>
          <p:cNvSpPr/>
          <p:nvPr/>
        </p:nvSpPr>
        <p:spPr>
          <a:xfrm>
            <a:off x="457200" y="220000"/>
            <a:ext cx="8229600" cy="53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Why Randomized Wins: The Mathematical Proof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3" name="Google Shape;743;p36"/>
          <p:cNvSpPr/>
          <p:nvPr/>
        </p:nvSpPr>
        <p:spPr>
          <a:xfrm>
            <a:off x="457200" y="800000"/>
            <a:ext cx="8229600" cy="215000"/>
          </a:xfrm>
          <a:prstGeom prst="rect">
            <a:avLst/>
          </a:prstGeom>
          <a:solidFill>
            <a:srgbClr val="7D1916">
              <a:alpha val="65098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Congestion Externality: Why determinism fails and stochasticity succeeds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4" name="Google Shape;744;p36"/>
          <p:cNvSpPr/>
          <p:nvPr/>
        </p:nvSpPr>
        <p:spPr>
          <a:xfrm>
            <a:off x="457200" y="1060000"/>
            <a:ext cx="3930000" cy="220000"/>
          </a:xfrm>
          <a:prstGeom prst="rect">
            <a:avLst/>
          </a:prstGeom>
          <a:solidFill>
            <a:srgbClr val="7D1916">
              <a:alpha val="2784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DETERMINISTIC SDF  [Fails]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p36"/>
          <p:cNvSpPr/>
          <p:nvPr/>
        </p:nvSpPr>
        <p:spPr>
          <a:xfrm>
            <a:off x="457200" y="1280000"/>
            <a:ext cx="3930000" cy="2420000"/>
          </a:xfrm>
          <a:prstGeom prst="rect">
            <a:avLst/>
          </a:prstGeom>
          <a:solidFill>
            <a:srgbClr val="E8D5C0"/>
          </a:solidFill>
          <a:ln cap="flat" cmpd="sng" w="19050">
            <a:solidFill>
              <a:srgbClr val="B0A0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82875" spcFirstLastPara="1" rIns="182875" wrap="square" tIns="9142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200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P(all 5 devices choose Node j)  =  1.0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All 5 devices flood Node j simultaneously: lambda_j = sum of all lambda_n (full load on one node)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150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From M/G/1 CDF: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150" u="none" cap="none" strike="noStrike">
                <a:solidFill>
                  <a:srgbClr val="3B3B3B"/>
                </a:solidFill>
                <a:latin typeface="Calibri"/>
                <a:ea typeface="Calibri"/>
                <a:cs typeface="Calibri"/>
                <a:sym typeface="Calibri"/>
              </a:rPr>
              <a:t>F(tau) = 1 - exp(-(mu_j - lambda_j) x tau_eff)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As lambda_j approaches mu_j: (mu_j - lambda_j) approaches 0, so F(tau) approaches 0. Zero tasks </a:t>
            </a: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complete</a:t>
            </a:r>
            <a:r>
              <a:rPr b="0" i="0" lang="en-US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on time.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1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Negative Dependence: P(S_A and S_B both succeed via Node C) &lt; P(S_A) x P(S_B). Your offload harms everyone else.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p36"/>
          <p:cNvSpPr/>
          <p:nvPr/>
        </p:nvSpPr>
        <p:spPr>
          <a:xfrm>
            <a:off x="4756800" y="1060000"/>
            <a:ext cx="3930000" cy="220000"/>
          </a:xfrm>
          <a:prstGeom prst="rect">
            <a:avLst/>
          </a:prstGeom>
          <a:solidFill>
            <a:srgbClr val="7D1916">
              <a:alpha val="2784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STOCHASTIC DDQN  [Succeeds]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36"/>
          <p:cNvSpPr/>
          <p:nvPr/>
        </p:nvSpPr>
        <p:spPr>
          <a:xfrm>
            <a:off x="4756800" y="1280000"/>
            <a:ext cx="3930000" cy="2420000"/>
          </a:xfrm>
          <a:prstGeom prst="rect">
            <a:avLst/>
          </a:prstGeom>
          <a:solidFill>
            <a:srgbClr val="E8D5C0"/>
          </a:solidFill>
          <a:ln cap="flat" cmpd="sng" w="19050">
            <a:solidFill>
              <a:srgbClr val="B0A0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82875" spcFirstLastPara="1" rIns="182875" wrap="square" tIns="9142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P(a|s) = exp(Q(s,a)/T) / sum_k exp(Q(s,k)/T)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Different devices sample different actions. Tasks naturally spread: lambda_j = sum of a_nj x lambda_n (distributed load per node)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Lower lambda_j per node means larger (mu_j - lambda_j), which means higher F(tau) and more tasks completing on time.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Just 12.6% Boltzmann exploration: P(all 5 pick same node) drops dramatically. TCR: 0.40% to &gt;80%.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p36"/>
          <p:cNvSpPr/>
          <p:nvPr/>
        </p:nvSpPr>
        <p:spPr>
          <a:xfrm>
            <a:off x="457200" y="3885300"/>
            <a:ext cx="8229600" cy="622800"/>
          </a:xfrm>
          <a:prstGeom prst="rect">
            <a:avLst/>
          </a:prstGeom>
          <a:solidFill>
            <a:srgbClr val="E8D5C0"/>
          </a:solidFill>
          <a:ln cap="flat" cmpd="sng" w="19050">
            <a:solidFill>
              <a:srgbClr val="B0A0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0950" lIns="182875" spcFirstLastPara="1" rIns="182875" wrap="square" tIns="6095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Insight: Randomness is not a workaround. It mathematically reduces lambda_j per node, restoring the net service rate (mu_j - lambda_j) and the completion probability F(tau). Stochasticity is necessary for stability.</a:t>
            </a:r>
            <a:endParaRPr b="1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36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solidFill>
            <a:srgbClr val="7D1916"/>
          </a:solidFill>
          <a:ln>
            <a:noFill/>
          </a:ln>
        </p:spPr>
        <p:txBody>
          <a:bodyPr anchorCtr="0" anchor="ctr" bIns="45700" lIns="45720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2026   |   Randomized Approach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p36"/>
          <p:cNvSpPr/>
          <p:nvPr/>
        </p:nvSpPr>
        <p:spPr>
          <a:xfrm>
            <a:off x="7498080" y="4507992"/>
            <a:ext cx="1463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2026   |   21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1EE"/>
        </a:solidFill>
      </p:bgPr>
    </p:bg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15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1916"/>
              </a:buClr>
              <a:buSzPts val="2600"/>
              <a:buFont typeface="Calibri"/>
              <a:buNone/>
            </a:pPr>
            <a:r>
              <a:rPr b="1" i="0" lang="en-US" sz="3500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Randomized Approach: DDQN Overview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15"/>
          <p:cNvSpPr/>
          <p:nvPr/>
        </p:nvSpPr>
        <p:spPr>
          <a:xfrm>
            <a:off x="457200" y="868680"/>
            <a:ext cx="8229600" cy="22860"/>
          </a:xfrm>
          <a:prstGeom prst="rect">
            <a:avLst/>
          </a:prstGeom>
          <a:solidFill>
            <a:srgbClr val="EAE8E4"/>
          </a:solidFill>
          <a:ln cap="flat" cmpd="sng" w="12700">
            <a:solidFill>
              <a:srgbClr val="EAE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p15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9" name="Google Shape;759;p15"/>
          <p:cNvSpPr/>
          <p:nvPr/>
        </p:nvSpPr>
        <p:spPr>
          <a:xfrm>
            <a:off x="4507992" y="4892040"/>
            <a:ext cx="128016" cy="128016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15"/>
          <p:cNvSpPr/>
          <p:nvPr/>
        </p:nvSpPr>
        <p:spPr>
          <a:xfrm>
            <a:off x="7498080" y="450799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2026   |   22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15"/>
          <p:cNvSpPr/>
          <p:nvPr/>
        </p:nvSpPr>
        <p:spPr>
          <a:xfrm>
            <a:off x="457200" y="987550"/>
            <a:ext cx="82296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1916"/>
              </a:buClr>
              <a:buSzPts val="1400"/>
              <a:buFont typeface="Calibri"/>
              <a:buNone/>
            </a:pPr>
            <a:r>
              <a:rPr b="1" i="0" lang="en-US" sz="1600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Deep Reinforcement Learning — Learning to Route by Experience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15"/>
          <p:cNvSpPr/>
          <p:nvPr/>
        </p:nvSpPr>
        <p:spPr>
          <a:xfrm>
            <a:off x="457200" y="1333718"/>
            <a:ext cx="8229600" cy="353700"/>
          </a:xfrm>
          <a:prstGeom prst="rect">
            <a:avLst/>
          </a:prstGeom>
          <a:solidFill>
            <a:srgbClr val="EAE8E4"/>
          </a:solidFill>
          <a:ln cap="flat" cmpd="sng" w="12700">
            <a:solidFill>
              <a:srgbClr val="D0CE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3" name="Google Shape;763;p15"/>
          <p:cNvSpPr/>
          <p:nvPr/>
        </p:nvSpPr>
        <p:spPr>
          <a:xfrm>
            <a:off x="594360" y="1355814"/>
            <a:ext cx="79554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1916"/>
              </a:buClr>
              <a:buSzPts val="1250"/>
              <a:buFont typeface="Calibri"/>
              <a:buNone/>
            </a:pPr>
            <a:r>
              <a:rPr b="1" i="0" lang="en-US" sz="1450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Agent:  </a:t>
            </a:r>
            <a:r>
              <a:rPr b="0" i="0" lang="en-US" sz="14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routing policy — decides which node gets each task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15"/>
          <p:cNvSpPr/>
          <p:nvPr/>
        </p:nvSpPr>
        <p:spPr>
          <a:xfrm>
            <a:off x="457200" y="1731443"/>
            <a:ext cx="8229600" cy="353700"/>
          </a:xfrm>
          <a:prstGeom prst="rect">
            <a:avLst/>
          </a:prstGeom>
          <a:solidFill>
            <a:srgbClr val="ECEAE6"/>
          </a:solidFill>
          <a:ln cap="flat" cmpd="sng" w="12700">
            <a:solidFill>
              <a:srgbClr val="D0CE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5" name="Google Shape;765;p15"/>
          <p:cNvSpPr/>
          <p:nvPr/>
        </p:nvSpPr>
        <p:spPr>
          <a:xfrm>
            <a:off x="594360" y="1753539"/>
            <a:ext cx="79554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1916"/>
              </a:buClr>
              <a:buSzPts val="1250"/>
              <a:buFont typeface="Calibri"/>
              <a:buNone/>
            </a:pPr>
            <a:r>
              <a:rPr b="1" i="0" lang="en-US" sz="1450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Environment:  </a:t>
            </a:r>
            <a:r>
              <a:rPr b="0" i="0" lang="en-US" sz="14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D2D network — 5 nodes, queues, random task arrivals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15"/>
          <p:cNvSpPr/>
          <p:nvPr/>
        </p:nvSpPr>
        <p:spPr>
          <a:xfrm>
            <a:off x="457200" y="2129168"/>
            <a:ext cx="8229600" cy="353700"/>
          </a:xfrm>
          <a:prstGeom prst="rect">
            <a:avLst/>
          </a:prstGeom>
          <a:solidFill>
            <a:srgbClr val="EAE8E4"/>
          </a:solidFill>
          <a:ln cap="flat" cmpd="sng" w="12700">
            <a:solidFill>
              <a:srgbClr val="D0CE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7" name="Google Shape;767;p15"/>
          <p:cNvSpPr/>
          <p:nvPr/>
        </p:nvSpPr>
        <p:spPr>
          <a:xfrm>
            <a:off x="594360" y="2151264"/>
            <a:ext cx="79554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1916"/>
              </a:buClr>
              <a:buSzPts val="1250"/>
              <a:buFont typeface="Calibri"/>
              <a:buNone/>
            </a:pPr>
            <a:r>
              <a:rPr b="1" i="0" lang="en-US" sz="1450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State S_t:  </a:t>
            </a:r>
            <a:r>
              <a:rPr b="0" i="0" lang="en-US" sz="14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[W_q,1..5, src, X, Y, τ] — 8-dimensional vector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15"/>
          <p:cNvSpPr/>
          <p:nvPr/>
        </p:nvSpPr>
        <p:spPr>
          <a:xfrm>
            <a:off x="457200" y="2526893"/>
            <a:ext cx="8229600" cy="353700"/>
          </a:xfrm>
          <a:prstGeom prst="rect">
            <a:avLst/>
          </a:prstGeom>
          <a:solidFill>
            <a:srgbClr val="ECEAE6"/>
          </a:solidFill>
          <a:ln cap="flat" cmpd="sng" w="12700">
            <a:solidFill>
              <a:srgbClr val="D0CE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9" name="Google Shape;769;p15"/>
          <p:cNvSpPr/>
          <p:nvPr/>
        </p:nvSpPr>
        <p:spPr>
          <a:xfrm>
            <a:off x="594360" y="2548989"/>
            <a:ext cx="79554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1916"/>
              </a:buClr>
              <a:buSzPts val="1250"/>
              <a:buFont typeface="Calibri"/>
              <a:buNone/>
            </a:pPr>
            <a:r>
              <a:rPr b="1" i="0" lang="en-US" sz="1450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Action A:  </a:t>
            </a:r>
            <a:r>
              <a:rPr b="0" i="0" lang="en-US" sz="14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Which of the 5 nodes to route the current task to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15"/>
          <p:cNvSpPr/>
          <p:nvPr/>
        </p:nvSpPr>
        <p:spPr>
          <a:xfrm>
            <a:off x="457200" y="2924619"/>
            <a:ext cx="8229600" cy="353700"/>
          </a:xfrm>
          <a:prstGeom prst="rect">
            <a:avLst/>
          </a:prstGeom>
          <a:solidFill>
            <a:srgbClr val="EAE8E4"/>
          </a:solidFill>
          <a:ln cap="flat" cmpd="sng" w="12700">
            <a:solidFill>
              <a:srgbClr val="D0CE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Google Shape;771;p15"/>
          <p:cNvSpPr/>
          <p:nvPr/>
        </p:nvSpPr>
        <p:spPr>
          <a:xfrm>
            <a:off x="594360" y="2946714"/>
            <a:ext cx="79554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1916"/>
              </a:buClr>
              <a:buSzPts val="1250"/>
              <a:buFont typeface="Calibri"/>
              <a:buNone/>
            </a:pPr>
            <a:r>
              <a:rPr b="1" i="0" lang="en-US" sz="1450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Reward r:  </a:t>
            </a:r>
            <a:r>
              <a:rPr b="0" i="0" lang="en-US" sz="1450" u="none" cap="none" strike="noStrike">
                <a:solidFill>
                  <a:srgbClr val="444848"/>
                </a:solidFill>
                <a:latin typeface="Calibri"/>
                <a:ea typeface="Calibri"/>
                <a:cs typeface="Calibri"/>
                <a:sym typeface="Calibri"/>
              </a:rPr>
              <a:t>Success: 50/exp(W_q[target])  ·  Failure: −(T²_soj + exp(W_q[target]))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15"/>
          <p:cNvSpPr/>
          <p:nvPr/>
        </p:nvSpPr>
        <p:spPr>
          <a:xfrm>
            <a:off x="457200" y="3366875"/>
            <a:ext cx="8229600" cy="946800"/>
          </a:xfrm>
          <a:prstGeom prst="rect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p15"/>
          <p:cNvSpPr/>
          <p:nvPr/>
        </p:nvSpPr>
        <p:spPr>
          <a:xfrm>
            <a:off x="594350" y="3464951"/>
            <a:ext cx="7955400" cy="78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Neural Network Architecture:   ℝ⁸  →  128 (ReLU)  →  128 (ReLU)  →  ℝ⁵  (Q-values for 5 nodes)     WHY RANDOMIZED BEATS DETERMINISTIC: SDF always picks the same single node (all 5 devices agree = flooding). DDQN samples from a probability distribution so different devices choose different nodes, spreading load. This directly raises (mu_j - lambda_j) per node, which by the M/G/1 CDF formula increases F(tau). The 12.6% Boltzmann exploration is the mechanism; the result is TCR from 0.40% to more than 80%.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6F3"/>
        </a:solidFill>
      </p:bgPr>
    </p:bg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32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800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DDQN Neural Network Architecture &amp; Training Pipeline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9" name="Google Shape;779;p32"/>
          <p:cNvSpPr/>
          <p:nvPr/>
        </p:nvSpPr>
        <p:spPr>
          <a:xfrm>
            <a:off x="457200" y="713232"/>
            <a:ext cx="8229600" cy="27432"/>
          </a:xfrm>
          <a:prstGeom prst="rect">
            <a:avLst/>
          </a:prstGeom>
          <a:solidFill>
            <a:srgbClr val="EAE8E4"/>
          </a:solidFill>
          <a:ln cap="flat" cmpd="sng" w="12700">
            <a:solidFill>
              <a:srgbClr val="EAE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0" name="Google Shape;780;p32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p32"/>
          <p:cNvSpPr/>
          <p:nvPr/>
        </p:nvSpPr>
        <p:spPr>
          <a:xfrm>
            <a:off x="4507998" y="4878326"/>
            <a:ext cx="89700" cy="128100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2" name="Google Shape;782;p32"/>
          <p:cNvSpPr/>
          <p:nvPr/>
        </p:nvSpPr>
        <p:spPr>
          <a:xfrm>
            <a:off x="8094775" y="4384525"/>
            <a:ext cx="7059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2026   |   23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3" name="Google Shape;783;p32"/>
          <p:cNvSpPr/>
          <p:nvPr/>
        </p:nvSpPr>
        <p:spPr>
          <a:xfrm>
            <a:off x="457200" y="804672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4A0D0B"/>
                </a:solidFill>
                <a:latin typeface="Calibri"/>
                <a:ea typeface="Calibri"/>
                <a:cs typeface="Calibri"/>
                <a:sym typeface="Calibri"/>
              </a:rPr>
              <a:t>ℝ⁸ state  →  2 hidden layers (128 ReLU)  →  ℝ⁵ Q-values for 5 target nodes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4" name="Google Shape;784;p32"/>
          <p:cNvSpPr/>
          <p:nvPr/>
        </p:nvSpPr>
        <p:spPr>
          <a:xfrm>
            <a:off x="256032" y="1042416"/>
            <a:ext cx="1554480" cy="365760"/>
          </a:xfrm>
          <a:prstGeom prst="rect">
            <a:avLst/>
          </a:prstGeom>
          <a:solidFill>
            <a:srgbClr val="BC933E"/>
          </a:solidFill>
          <a:ln cap="flat" cmpd="sng" w="12700">
            <a:solidFill>
              <a:srgbClr val="BC93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p32"/>
          <p:cNvSpPr/>
          <p:nvPr/>
        </p:nvSpPr>
        <p:spPr>
          <a:xfrm>
            <a:off x="256032" y="1042416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4A0D0B"/>
                </a:solidFill>
                <a:latin typeface="Arial"/>
                <a:ea typeface="Arial"/>
                <a:cs typeface="Arial"/>
                <a:sym typeface="Arial"/>
              </a:rPr>
              <a:t>INPUT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4A0D0B"/>
                </a:solidFill>
                <a:latin typeface="Arial"/>
                <a:ea typeface="Arial"/>
                <a:cs typeface="Arial"/>
                <a:sym typeface="Arial"/>
              </a:rPr>
              <a:t>State Sₜ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6" name="Google Shape;786;p32"/>
          <p:cNvSpPr/>
          <p:nvPr/>
        </p:nvSpPr>
        <p:spPr>
          <a:xfrm>
            <a:off x="256032" y="1444752"/>
            <a:ext cx="1554480" cy="256032"/>
          </a:xfrm>
          <a:prstGeom prst="rect">
            <a:avLst/>
          </a:prstGeom>
          <a:solidFill>
            <a:srgbClr val="BC933E"/>
          </a:solidFill>
          <a:ln cap="flat" cmpd="sng" w="12700">
            <a:solidFill>
              <a:srgbClr val="BC93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p32"/>
          <p:cNvSpPr/>
          <p:nvPr/>
        </p:nvSpPr>
        <p:spPr>
          <a:xfrm>
            <a:off x="292608" y="1444752"/>
            <a:ext cx="14813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4A0D0B"/>
                </a:solidFill>
                <a:latin typeface="Consolas"/>
                <a:ea typeface="Consolas"/>
                <a:cs typeface="Consolas"/>
                <a:sym typeface="Consolas"/>
              </a:rPr>
              <a:t>W_q,1</a:t>
            </a:r>
            <a:endParaRPr b="0" i="0" sz="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88" name="Google Shape;788;p32"/>
          <p:cNvCxnSpPr/>
          <p:nvPr/>
        </p:nvCxnSpPr>
        <p:spPr>
          <a:xfrm>
            <a:off x="1810512" y="1572768"/>
            <a:ext cx="256032" cy="310896"/>
          </a:xfrm>
          <a:prstGeom prst="straightConnector1">
            <a:avLst/>
          </a:prstGeom>
          <a:noFill/>
          <a:ln cap="flat" cmpd="sng" w="12700">
            <a:solidFill>
              <a:srgbClr val="C8C0B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9" name="Google Shape;789;p32"/>
          <p:cNvCxnSpPr/>
          <p:nvPr/>
        </p:nvCxnSpPr>
        <p:spPr>
          <a:xfrm>
            <a:off x="1810512" y="1572768"/>
            <a:ext cx="256032" cy="1243584"/>
          </a:xfrm>
          <a:prstGeom prst="straightConnector1">
            <a:avLst/>
          </a:prstGeom>
          <a:noFill/>
          <a:ln cap="flat" cmpd="sng" w="12700">
            <a:solidFill>
              <a:srgbClr val="C8C0B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0" name="Google Shape;790;p32"/>
          <p:cNvCxnSpPr/>
          <p:nvPr/>
        </p:nvCxnSpPr>
        <p:spPr>
          <a:xfrm>
            <a:off x="1810512" y="1572768"/>
            <a:ext cx="256032" cy="1865376"/>
          </a:xfrm>
          <a:prstGeom prst="straightConnector1">
            <a:avLst/>
          </a:prstGeom>
          <a:noFill/>
          <a:ln cap="flat" cmpd="sng" w="12700">
            <a:solidFill>
              <a:srgbClr val="C8C0B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91" name="Google Shape;791;p32"/>
          <p:cNvSpPr/>
          <p:nvPr/>
        </p:nvSpPr>
        <p:spPr>
          <a:xfrm>
            <a:off x="256032" y="1755648"/>
            <a:ext cx="1554480" cy="256032"/>
          </a:xfrm>
          <a:prstGeom prst="rect">
            <a:avLst/>
          </a:prstGeom>
          <a:solidFill>
            <a:srgbClr val="BC933E"/>
          </a:solidFill>
          <a:ln cap="flat" cmpd="sng" w="12700">
            <a:solidFill>
              <a:srgbClr val="BC93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2" name="Google Shape;792;p32"/>
          <p:cNvSpPr/>
          <p:nvPr/>
        </p:nvSpPr>
        <p:spPr>
          <a:xfrm>
            <a:off x="292608" y="1755648"/>
            <a:ext cx="14813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4A0D0B"/>
                </a:solidFill>
                <a:latin typeface="Consolas"/>
                <a:ea typeface="Consolas"/>
                <a:cs typeface="Consolas"/>
                <a:sym typeface="Consolas"/>
              </a:rPr>
              <a:t>W_q,2</a:t>
            </a:r>
            <a:endParaRPr b="0" i="0" sz="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93" name="Google Shape;793;p32"/>
          <p:cNvCxnSpPr/>
          <p:nvPr/>
        </p:nvCxnSpPr>
        <p:spPr>
          <a:xfrm>
            <a:off x="1810512" y="1883664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C8C0B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4" name="Google Shape;794;p32"/>
          <p:cNvCxnSpPr/>
          <p:nvPr/>
        </p:nvCxnSpPr>
        <p:spPr>
          <a:xfrm>
            <a:off x="1810512" y="1883664"/>
            <a:ext cx="256032" cy="932688"/>
          </a:xfrm>
          <a:prstGeom prst="straightConnector1">
            <a:avLst/>
          </a:prstGeom>
          <a:noFill/>
          <a:ln cap="flat" cmpd="sng" w="12700">
            <a:solidFill>
              <a:srgbClr val="C8C0B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5" name="Google Shape;795;p32"/>
          <p:cNvCxnSpPr/>
          <p:nvPr/>
        </p:nvCxnSpPr>
        <p:spPr>
          <a:xfrm>
            <a:off x="1810512" y="1883664"/>
            <a:ext cx="256032" cy="1554480"/>
          </a:xfrm>
          <a:prstGeom prst="straightConnector1">
            <a:avLst/>
          </a:prstGeom>
          <a:noFill/>
          <a:ln cap="flat" cmpd="sng" w="12700">
            <a:solidFill>
              <a:srgbClr val="C8C0B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96" name="Google Shape;796;p32"/>
          <p:cNvSpPr/>
          <p:nvPr/>
        </p:nvSpPr>
        <p:spPr>
          <a:xfrm>
            <a:off x="256032" y="2066544"/>
            <a:ext cx="1554480" cy="256032"/>
          </a:xfrm>
          <a:prstGeom prst="rect">
            <a:avLst/>
          </a:prstGeom>
          <a:solidFill>
            <a:srgbClr val="BC933E"/>
          </a:solidFill>
          <a:ln cap="flat" cmpd="sng" w="12700">
            <a:solidFill>
              <a:srgbClr val="BC93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p32"/>
          <p:cNvSpPr/>
          <p:nvPr/>
        </p:nvSpPr>
        <p:spPr>
          <a:xfrm>
            <a:off x="292608" y="2066544"/>
            <a:ext cx="14813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4A0D0B"/>
                </a:solidFill>
                <a:latin typeface="Consolas"/>
                <a:ea typeface="Consolas"/>
                <a:cs typeface="Consolas"/>
                <a:sym typeface="Consolas"/>
              </a:rPr>
              <a:t>W_q,3</a:t>
            </a:r>
            <a:endParaRPr b="0" i="0" sz="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98" name="Google Shape;798;p32"/>
          <p:cNvCxnSpPr/>
          <p:nvPr/>
        </p:nvCxnSpPr>
        <p:spPr>
          <a:xfrm flipH="1" rot="10800000">
            <a:off x="1810512" y="1883664"/>
            <a:ext cx="256032" cy="310896"/>
          </a:xfrm>
          <a:prstGeom prst="straightConnector1">
            <a:avLst/>
          </a:prstGeom>
          <a:noFill/>
          <a:ln cap="flat" cmpd="sng" w="12700">
            <a:solidFill>
              <a:srgbClr val="C8C0B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9" name="Google Shape;799;p32"/>
          <p:cNvCxnSpPr/>
          <p:nvPr/>
        </p:nvCxnSpPr>
        <p:spPr>
          <a:xfrm>
            <a:off x="1810512" y="2194560"/>
            <a:ext cx="256032" cy="621792"/>
          </a:xfrm>
          <a:prstGeom prst="straightConnector1">
            <a:avLst/>
          </a:prstGeom>
          <a:noFill/>
          <a:ln cap="flat" cmpd="sng" w="12700">
            <a:solidFill>
              <a:srgbClr val="C8C0B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00" name="Google Shape;800;p32"/>
          <p:cNvCxnSpPr/>
          <p:nvPr/>
        </p:nvCxnSpPr>
        <p:spPr>
          <a:xfrm>
            <a:off x="1810512" y="2194560"/>
            <a:ext cx="256032" cy="1243584"/>
          </a:xfrm>
          <a:prstGeom prst="straightConnector1">
            <a:avLst/>
          </a:prstGeom>
          <a:noFill/>
          <a:ln cap="flat" cmpd="sng" w="12700">
            <a:solidFill>
              <a:srgbClr val="C8C0B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01" name="Google Shape;801;p32"/>
          <p:cNvSpPr/>
          <p:nvPr/>
        </p:nvSpPr>
        <p:spPr>
          <a:xfrm>
            <a:off x="256032" y="2377440"/>
            <a:ext cx="1554480" cy="256032"/>
          </a:xfrm>
          <a:prstGeom prst="rect">
            <a:avLst/>
          </a:prstGeom>
          <a:solidFill>
            <a:srgbClr val="BC933E"/>
          </a:solidFill>
          <a:ln cap="flat" cmpd="sng" w="12700">
            <a:solidFill>
              <a:srgbClr val="BC93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2" name="Google Shape;802;p32"/>
          <p:cNvSpPr/>
          <p:nvPr/>
        </p:nvSpPr>
        <p:spPr>
          <a:xfrm>
            <a:off x="292608" y="2377440"/>
            <a:ext cx="14813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4A0D0B"/>
                </a:solidFill>
                <a:latin typeface="Consolas"/>
                <a:ea typeface="Consolas"/>
                <a:cs typeface="Consolas"/>
                <a:sym typeface="Consolas"/>
              </a:rPr>
              <a:t>W_q,4</a:t>
            </a:r>
            <a:endParaRPr b="0" i="0" sz="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03" name="Google Shape;803;p32"/>
          <p:cNvCxnSpPr/>
          <p:nvPr/>
        </p:nvCxnSpPr>
        <p:spPr>
          <a:xfrm flipH="1" rot="10800000">
            <a:off x="1810512" y="1883664"/>
            <a:ext cx="256032" cy="621792"/>
          </a:xfrm>
          <a:prstGeom prst="straightConnector1">
            <a:avLst/>
          </a:prstGeom>
          <a:noFill/>
          <a:ln cap="flat" cmpd="sng" w="12700">
            <a:solidFill>
              <a:srgbClr val="C8C0B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04" name="Google Shape;804;p32"/>
          <p:cNvCxnSpPr/>
          <p:nvPr/>
        </p:nvCxnSpPr>
        <p:spPr>
          <a:xfrm>
            <a:off x="1810512" y="2505456"/>
            <a:ext cx="256032" cy="310896"/>
          </a:xfrm>
          <a:prstGeom prst="straightConnector1">
            <a:avLst/>
          </a:prstGeom>
          <a:noFill/>
          <a:ln cap="flat" cmpd="sng" w="12700">
            <a:solidFill>
              <a:srgbClr val="C8C0B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05" name="Google Shape;805;p32"/>
          <p:cNvCxnSpPr/>
          <p:nvPr/>
        </p:nvCxnSpPr>
        <p:spPr>
          <a:xfrm>
            <a:off x="1810512" y="2505456"/>
            <a:ext cx="256032" cy="932688"/>
          </a:xfrm>
          <a:prstGeom prst="straightConnector1">
            <a:avLst/>
          </a:prstGeom>
          <a:noFill/>
          <a:ln cap="flat" cmpd="sng" w="12700">
            <a:solidFill>
              <a:srgbClr val="C8C0B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06" name="Google Shape;806;p32"/>
          <p:cNvSpPr/>
          <p:nvPr/>
        </p:nvSpPr>
        <p:spPr>
          <a:xfrm>
            <a:off x="256032" y="2688336"/>
            <a:ext cx="1554480" cy="256032"/>
          </a:xfrm>
          <a:prstGeom prst="rect">
            <a:avLst/>
          </a:prstGeom>
          <a:solidFill>
            <a:srgbClr val="BC933E"/>
          </a:solidFill>
          <a:ln cap="flat" cmpd="sng" w="12700">
            <a:solidFill>
              <a:srgbClr val="BC93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7" name="Google Shape;807;p32"/>
          <p:cNvSpPr/>
          <p:nvPr/>
        </p:nvSpPr>
        <p:spPr>
          <a:xfrm>
            <a:off x="292608" y="2688336"/>
            <a:ext cx="14813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4A0D0B"/>
                </a:solidFill>
                <a:latin typeface="Consolas"/>
                <a:ea typeface="Consolas"/>
                <a:cs typeface="Consolas"/>
                <a:sym typeface="Consolas"/>
              </a:rPr>
              <a:t>W_q,5</a:t>
            </a:r>
            <a:endParaRPr b="0" i="0" sz="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08" name="Google Shape;808;p32"/>
          <p:cNvCxnSpPr/>
          <p:nvPr/>
        </p:nvCxnSpPr>
        <p:spPr>
          <a:xfrm flipH="1" rot="10800000">
            <a:off x="1810512" y="1883664"/>
            <a:ext cx="256032" cy="932688"/>
          </a:xfrm>
          <a:prstGeom prst="straightConnector1">
            <a:avLst/>
          </a:prstGeom>
          <a:noFill/>
          <a:ln cap="flat" cmpd="sng" w="12700">
            <a:solidFill>
              <a:srgbClr val="C8C0B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09" name="Google Shape;809;p32"/>
          <p:cNvCxnSpPr/>
          <p:nvPr/>
        </p:nvCxnSpPr>
        <p:spPr>
          <a:xfrm>
            <a:off x="1810512" y="2816352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C8C0B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0" name="Google Shape;810;p32"/>
          <p:cNvCxnSpPr/>
          <p:nvPr/>
        </p:nvCxnSpPr>
        <p:spPr>
          <a:xfrm>
            <a:off x="1810512" y="2816352"/>
            <a:ext cx="256032" cy="621792"/>
          </a:xfrm>
          <a:prstGeom prst="straightConnector1">
            <a:avLst/>
          </a:prstGeom>
          <a:noFill/>
          <a:ln cap="flat" cmpd="sng" w="12700">
            <a:solidFill>
              <a:srgbClr val="C8C0B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11" name="Google Shape;811;p32"/>
          <p:cNvSpPr/>
          <p:nvPr/>
        </p:nvSpPr>
        <p:spPr>
          <a:xfrm>
            <a:off x="256032" y="2999232"/>
            <a:ext cx="1554480" cy="256032"/>
          </a:xfrm>
          <a:prstGeom prst="rect">
            <a:avLst/>
          </a:prstGeom>
          <a:solidFill>
            <a:srgbClr val="BC933E"/>
          </a:solidFill>
          <a:ln cap="flat" cmpd="sng" w="12700">
            <a:solidFill>
              <a:srgbClr val="BC93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2" name="Google Shape;812;p32"/>
          <p:cNvSpPr/>
          <p:nvPr/>
        </p:nvSpPr>
        <p:spPr>
          <a:xfrm>
            <a:off x="292608" y="2999232"/>
            <a:ext cx="14813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4A0D0B"/>
                </a:solidFill>
                <a:latin typeface="Consolas"/>
                <a:ea typeface="Consolas"/>
                <a:cs typeface="Consolas"/>
                <a:sym typeface="Consolas"/>
              </a:rPr>
              <a:t>src</a:t>
            </a:r>
            <a:endParaRPr b="0" i="0" sz="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13" name="Google Shape;813;p32"/>
          <p:cNvCxnSpPr/>
          <p:nvPr/>
        </p:nvCxnSpPr>
        <p:spPr>
          <a:xfrm flipH="1" rot="10800000">
            <a:off x="1810512" y="1883664"/>
            <a:ext cx="256032" cy="1243584"/>
          </a:xfrm>
          <a:prstGeom prst="straightConnector1">
            <a:avLst/>
          </a:prstGeom>
          <a:noFill/>
          <a:ln cap="flat" cmpd="sng" w="12700">
            <a:solidFill>
              <a:srgbClr val="C8C0B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4" name="Google Shape;814;p32"/>
          <p:cNvCxnSpPr/>
          <p:nvPr/>
        </p:nvCxnSpPr>
        <p:spPr>
          <a:xfrm flipH="1" rot="10800000">
            <a:off x="1810512" y="2816352"/>
            <a:ext cx="256032" cy="310896"/>
          </a:xfrm>
          <a:prstGeom prst="straightConnector1">
            <a:avLst/>
          </a:prstGeom>
          <a:noFill/>
          <a:ln cap="flat" cmpd="sng" w="12700">
            <a:solidFill>
              <a:srgbClr val="C8C0B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5" name="Google Shape;815;p32"/>
          <p:cNvCxnSpPr/>
          <p:nvPr/>
        </p:nvCxnSpPr>
        <p:spPr>
          <a:xfrm>
            <a:off x="1810512" y="3127248"/>
            <a:ext cx="256032" cy="310896"/>
          </a:xfrm>
          <a:prstGeom prst="straightConnector1">
            <a:avLst/>
          </a:prstGeom>
          <a:noFill/>
          <a:ln cap="flat" cmpd="sng" w="12700">
            <a:solidFill>
              <a:srgbClr val="C8C0B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16" name="Google Shape;816;p32"/>
          <p:cNvSpPr/>
          <p:nvPr/>
        </p:nvSpPr>
        <p:spPr>
          <a:xfrm>
            <a:off x="256032" y="3310128"/>
            <a:ext cx="1554480" cy="256032"/>
          </a:xfrm>
          <a:prstGeom prst="rect">
            <a:avLst/>
          </a:prstGeom>
          <a:solidFill>
            <a:srgbClr val="BC933E"/>
          </a:solidFill>
          <a:ln cap="flat" cmpd="sng" w="12700">
            <a:solidFill>
              <a:srgbClr val="BC93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7" name="Google Shape;817;p32"/>
          <p:cNvSpPr/>
          <p:nvPr/>
        </p:nvSpPr>
        <p:spPr>
          <a:xfrm>
            <a:off x="292608" y="3310128"/>
            <a:ext cx="14813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4A0D0B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endParaRPr b="0" i="0" sz="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18" name="Google Shape;818;p32"/>
          <p:cNvCxnSpPr/>
          <p:nvPr/>
        </p:nvCxnSpPr>
        <p:spPr>
          <a:xfrm flipH="1" rot="10800000">
            <a:off x="1810512" y="1883664"/>
            <a:ext cx="256032" cy="1554480"/>
          </a:xfrm>
          <a:prstGeom prst="straightConnector1">
            <a:avLst/>
          </a:prstGeom>
          <a:noFill/>
          <a:ln cap="flat" cmpd="sng" w="12700">
            <a:solidFill>
              <a:srgbClr val="C8C0B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9" name="Google Shape;819;p32"/>
          <p:cNvCxnSpPr/>
          <p:nvPr/>
        </p:nvCxnSpPr>
        <p:spPr>
          <a:xfrm flipH="1" rot="10800000">
            <a:off x="1810512" y="2816352"/>
            <a:ext cx="256032" cy="621792"/>
          </a:xfrm>
          <a:prstGeom prst="straightConnector1">
            <a:avLst/>
          </a:prstGeom>
          <a:noFill/>
          <a:ln cap="flat" cmpd="sng" w="12700">
            <a:solidFill>
              <a:srgbClr val="C8C0B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0" name="Google Shape;820;p32"/>
          <p:cNvCxnSpPr/>
          <p:nvPr/>
        </p:nvCxnSpPr>
        <p:spPr>
          <a:xfrm>
            <a:off x="1810512" y="3438144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C8C0B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1" name="Google Shape;821;p32"/>
          <p:cNvSpPr/>
          <p:nvPr/>
        </p:nvSpPr>
        <p:spPr>
          <a:xfrm>
            <a:off x="256032" y="3621024"/>
            <a:ext cx="1554480" cy="256032"/>
          </a:xfrm>
          <a:prstGeom prst="rect">
            <a:avLst/>
          </a:prstGeom>
          <a:solidFill>
            <a:srgbClr val="BC933E"/>
          </a:solidFill>
          <a:ln cap="flat" cmpd="sng" w="12700">
            <a:solidFill>
              <a:srgbClr val="BC93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2" name="Google Shape;822;p32"/>
          <p:cNvSpPr/>
          <p:nvPr/>
        </p:nvSpPr>
        <p:spPr>
          <a:xfrm>
            <a:off x="292608" y="3621024"/>
            <a:ext cx="14813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4A0D0B"/>
                </a:solidFill>
                <a:latin typeface="Consolas"/>
                <a:ea typeface="Consolas"/>
                <a:cs typeface="Consolas"/>
                <a:sym typeface="Consolas"/>
              </a:rPr>
              <a:t>Y/τ</a:t>
            </a:r>
            <a:endParaRPr b="0" i="0" sz="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23" name="Google Shape;823;p32"/>
          <p:cNvCxnSpPr/>
          <p:nvPr/>
        </p:nvCxnSpPr>
        <p:spPr>
          <a:xfrm flipH="1" rot="10800000">
            <a:off x="1810512" y="1883664"/>
            <a:ext cx="256032" cy="1865376"/>
          </a:xfrm>
          <a:prstGeom prst="straightConnector1">
            <a:avLst/>
          </a:prstGeom>
          <a:noFill/>
          <a:ln cap="flat" cmpd="sng" w="12700">
            <a:solidFill>
              <a:srgbClr val="C8C0B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4" name="Google Shape;824;p32"/>
          <p:cNvCxnSpPr/>
          <p:nvPr/>
        </p:nvCxnSpPr>
        <p:spPr>
          <a:xfrm flipH="1" rot="10800000">
            <a:off x="1810512" y="2816352"/>
            <a:ext cx="256032" cy="932688"/>
          </a:xfrm>
          <a:prstGeom prst="straightConnector1">
            <a:avLst/>
          </a:prstGeom>
          <a:noFill/>
          <a:ln cap="flat" cmpd="sng" w="12700">
            <a:solidFill>
              <a:srgbClr val="C8C0B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5" name="Google Shape;825;p32"/>
          <p:cNvCxnSpPr/>
          <p:nvPr/>
        </p:nvCxnSpPr>
        <p:spPr>
          <a:xfrm flipH="1" rot="10800000">
            <a:off x="1810512" y="3438144"/>
            <a:ext cx="256032" cy="310896"/>
          </a:xfrm>
          <a:prstGeom prst="straightConnector1">
            <a:avLst/>
          </a:prstGeom>
          <a:noFill/>
          <a:ln cap="flat" cmpd="sng" w="12700">
            <a:solidFill>
              <a:srgbClr val="C8C0B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6" name="Google Shape;826;p32"/>
          <p:cNvSpPr/>
          <p:nvPr/>
        </p:nvSpPr>
        <p:spPr>
          <a:xfrm>
            <a:off x="2066544" y="1042416"/>
            <a:ext cx="1554480" cy="365760"/>
          </a:xfrm>
          <a:prstGeom prst="rect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7" name="Google Shape;827;p32"/>
          <p:cNvSpPr/>
          <p:nvPr/>
        </p:nvSpPr>
        <p:spPr>
          <a:xfrm>
            <a:off x="2066544" y="1042416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HIDDEN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L1 · 128 ReLU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8" name="Google Shape;828;p32"/>
          <p:cNvSpPr/>
          <p:nvPr/>
        </p:nvSpPr>
        <p:spPr>
          <a:xfrm>
            <a:off x="2066544" y="1755648"/>
            <a:ext cx="1554480" cy="256032"/>
          </a:xfrm>
          <a:prstGeom prst="rect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29" name="Google Shape;829;p32"/>
          <p:cNvCxnSpPr/>
          <p:nvPr/>
        </p:nvCxnSpPr>
        <p:spPr>
          <a:xfrm>
            <a:off x="3621024" y="1883664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C8C0B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0" name="Google Shape;830;p32"/>
          <p:cNvCxnSpPr/>
          <p:nvPr/>
        </p:nvCxnSpPr>
        <p:spPr>
          <a:xfrm>
            <a:off x="3621024" y="1883664"/>
            <a:ext cx="256032" cy="932688"/>
          </a:xfrm>
          <a:prstGeom prst="straightConnector1">
            <a:avLst/>
          </a:prstGeom>
          <a:noFill/>
          <a:ln cap="flat" cmpd="sng" w="12700">
            <a:solidFill>
              <a:srgbClr val="C8C0B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1" name="Google Shape;831;p32"/>
          <p:cNvCxnSpPr/>
          <p:nvPr/>
        </p:nvCxnSpPr>
        <p:spPr>
          <a:xfrm>
            <a:off x="3621024" y="1883664"/>
            <a:ext cx="256032" cy="1554480"/>
          </a:xfrm>
          <a:prstGeom prst="straightConnector1">
            <a:avLst/>
          </a:prstGeom>
          <a:noFill/>
          <a:ln cap="flat" cmpd="sng" w="12700">
            <a:solidFill>
              <a:srgbClr val="C8C0B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32" name="Google Shape;832;p32"/>
          <p:cNvSpPr/>
          <p:nvPr/>
        </p:nvSpPr>
        <p:spPr>
          <a:xfrm>
            <a:off x="2066544" y="2066544"/>
            <a:ext cx="1554480" cy="256032"/>
          </a:xfrm>
          <a:prstGeom prst="rect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3" name="Google Shape;833;p32"/>
          <p:cNvCxnSpPr/>
          <p:nvPr/>
        </p:nvCxnSpPr>
        <p:spPr>
          <a:xfrm flipH="1" rot="10800000">
            <a:off x="3621024" y="1883664"/>
            <a:ext cx="256032" cy="310896"/>
          </a:xfrm>
          <a:prstGeom prst="straightConnector1">
            <a:avLst/>
          </a:prstGeom>
          <a:noFill/>
          <a:ln cap="flat" cmpd="sng" w="12700">
            <a:solidFill>
              <a:srgbClr val="C8C0B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4" name="Google Shape;834;p32"/>
          <p:cNvCxnSpPr/>
          <p:nvPr/>
        </p:nvCxnSpPr>
        <p:spPr>
          <a:xfrm>
            <a:off x="3621024" y="2194560"/>
            <a:ext cx="256032" cy="621792"/>
          </a:xfrm>
          <a:prstGeom prst="straightConnector1">
            <a:avLst/>
          </a:prstGeom>
          <a:noFill/>
          <a:ln cap="flat" cmpd="sng" w="12700">
            <a:solidFill>
              <a:srgbClr val="C8C0B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5" name="Google Shape;835;p32"/>
          <p:cNvCxnSpPr/>
          <p:nvPr/>
        </p:nvCxnSpPr>
        <p:spPr>
          <a:xfrm>
            <a:off x="3621024" y="2194560"/>
            <a:ext cx="256032" cy="1243584"/>
          </a:xfrm>
          <a:prstGeom prst="straightConnector1">
            <a:avLst/>
          </a:prstGeom>
          <a:noFill/>
          <a:ln cap="flat" cmpd="sng" w="12700">
            <a:solidFill>
              <a:srgbClr val="C8C0B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36" name="Google Shape;836;p32"/>
          <p:cNvSpPr/>
          <p:nvPr/>
        </p:nvSpPr>
        <p:spPr>
          <a:xfrm>
            <a:off x="2066544" y="2377440"/>
            <a:ext cx="1554480" cy="256032"/>
          </a:xfrm>
          <a:prstGeom prst="rect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7" name="Google Shape;837;p32"/>
          <p:cNvCxnSpPr/>
          <p:nvPr/>
        </p:nvCxnSpPr>
        <p:spPr>
          <a:xfrm flipH="1" rot="10800000">
            <a:off x="3621024" y="1883664"/>
            <a:ext cx="256032" cy="621792"/>
          </a:xfrm>
          <a:prstGeom prst="straightConnector1">
            <a:avLst/>
          </a:prstGeom>
          <a:noFill/>
          <a:ln cap="flat" cmpd="sng" w="12700">
            <a:solidFill>
              <a:srgbClr val="C8C0B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8" name="Google Shape;838;p32"/>
          <p:cNvCxnSpPr/>
          <p:nvPr/>
        </p:nvCxnSpPr>
        <p:spPr>
          <a:xfrm>
            <a:off x="3621024" y="2505456"/>
            <a:ext cx="256032" cy="310896"/>
          </a:xfrm>
          <a:prstGeom prst="straightConnector1">
            <a:avLst/>
          </a:prstGeom>
          <a:noFill/>
          <a:ln cap="flat" cmpd="sng" w="12700">
            <a:solidFill>
              <a:srgbClr val="C8C0B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9" name="Google Shape;839;p32"/>
          <p:cNvCxnSpPr/>
          <p:nvPr/>
        </p:nvCxnSpPr>
        <p:spPr>
          <a:xfrm>
            <a:off x="3621024" y="2505456"/>
            <a:ext cx="256032" cy="932688"/>
          </a:xfrm>
          <a:prstGeom prst="straightConnector1">
            <a:avLst/>
          </a:prstGeom>
          <a:noFill/>
          <a:ln cap="flat" cmpd="sng" w="12700">
            <a:solidFill>
              <a:srgbClr val="C8C0B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0" name="Google Shape;840;p32"/>
          <p:cNvSpPr/>
          <p:nvPr/>
        </p:nvSpPr>
        <p:spPr>
          <a:xfrm>
            <a:off x="2066544" y="2688336"/>
            <a:ext cx="1554480" cy="256032"/>
          </a:xfrm>
          <a:prstGeom prst="rect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41" name="Google Shape;841;p32"/>
          <p:cNvCxnSpPr/>
          <p:nvPr/>
        </p:nvCxnSpPr>
        <p:spPr>
          <a:xfrm flipH="1" rot="10800000">
            <a:off x="3621024" y="1883664"/>
            <a:ext cx="256032" cy="932688"/>
          </a:xfrm>
          <a:prstGeom prst="straightConnector1">
            <a:avLst/>
          </a:prstGeom>
          <a:noFill/>
          <a:ln cap="flat" cmpd="sng" w="12700">
            <a:solidFill>
              <a:srgbClr val="C8C0B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2" name="Google Shape;842;p32"/>
          <p:cNvCxnSpPr/>
          <p:nvPr/>
        </p:nvCxnSpPr>
        <p:spPr>
          <a:xfrm>
            <a:off x="3621024" y="2816352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C8C0B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3" name="Google Shape;843;p32"/>
          <p:cNvCxnSpPr/>
          <p:nvPr/>
        </p:nvCxnSpPr>
        <p:spPr>
          <a:xfrm>
            <a:off x="3621024" y="2816352"/>
            <a:ext cx="256032" cy="621792"/>
          </a:xfrm>
          <a:prstGeom prst="straightConnector1">
            <a:avLst/>
          </a:prstGeom>
          <a:noFill/>
          <a:ln cap="flat" cmpd="sng" w="12700">
            <a:solidFill>
              <a:srgbClr val="C8C0B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4" name="Google Shape;844;p32"/>
          <p:cNvSpPr/>
          <p:nvPr/>
        </p:nvSpPr>
        <p:spPr>
          <a:xfrm>
            <a:off x="2066544" y="2999232"/>
            <a:ext cx="1554480" cy="256032"/>
          </a:xfrm>
          <a:prstGeom prst="rect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45" name="Google Shape;845;p32"/>
          <p:cNvCxnSpPr/>
          <p:nvPr/>
        </p:nvCxnSpPr>
        <p:spPr>
          <a:xfrm flipH="1" rot="10800000">
            <a:off x="3621024" y="1883664"/>
            <a:ext cx="256032" cy="1243584"/>
          </a:xfrm>
          <a:prstGeom prst="straightConnector1">
            <a:avLst/>
          </a:prstGeom>
          <a:noFill/>
          <a:ln cap="flat" cmpd="sng" w="12700">
            <a:solidFill>
              <a:srgbClr val="C8C0B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6" name="Google Shape;846;p32"/>
          <p:cNvCxnSpPr/>
          <p:nvPr/>
        </p:nvCxnSpPr>
        <p:spPr>
          <a:xfrm flipH="1" rot="10800000">
            <a:off x="3621024" y="2816352"/>
            <a:ext cx="256032" cy="310896"/>
          </a:xfrm>
          <a:prstGeom prst="straightConnector1">
            <a:avLst/>
          </a:prstGeom>
          <a:noFill/>
          <a:ln cap="flat" cmpd="sng" w="12700">
            <a:solidFill>
              <a:srgbClr val="C8C0B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7" name="Google Shape;847;p32"/>
          <p:cNvCxnSpPr/>
          <p:nvPr/>
        </p:nvCxnSpPr>
        <p:spPr>
          <a:xfrm>
            <a:off x="3621024" y="3127248"/>
            <a:ext cx="256032" cy="310896"/>
          </a:xfrm>
          <a:prstGeom prst="straightConnector1">
            <a:avLst/>
          </a:prstGeom>
          <a:noFill/>
          <a:ln cap="flat" cmpd="sng" w="12700">
            <a:solidFill>
              <a:srgbClr val="C8C0B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8" name="Google Shape;848;p32"/>
          <p:cNvSpPr/>
          <p:nvPr/>
        </p:nvSpPr>
        <p:spPr>
          <a:xfrm>
            <a:off x="2066544" y="3310128"/>
            <a:ext cx="1554480" cy="256032"/>
          </a:xfrm>
          <a:prstGeom prst="rect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49" name="Google Shape;849;p32"/>
          <p:cNvCxnSpPr/>
          <p:nvPr/>
        </p:nvCxnSpPr>
        <p:spPr>
          <a:xfrm flipH="1" rot="10800000">
            <a:off x="3621024" y="1883664"/>
            <a:ext cx="256032" cy="1554480"/>
          </a:xfrm>
          <a:prstGeom prst="straightConnector1">
            <a:avLst/>
          </a:prstGeom>
          <a:noFill/>
          <a:ln cap="flat" cmpd="sng" w="12700">
            <a:solidFill>
              <a:srgbClr val="C8C0B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0" name="Google Shape;850;p32"/>
          <p:cNvCxnSpPr/>
          <p:nvPr/>
        </p:nvCxnSpPr>
        <p:spPr>
          <a:xfrm flipH="1" rot="10800000">
            <a:off x="3621024" y="2816352"/>
            <a:ext cx="256032" cy="621792"/>
          </a:xfrm>
          <a:prstGeom prst="straightConnector1">
            <a:avLst/>
          </a:prstGeom>
          <a:noFill/>
          <a:ln cap="flat" cmpd="sng" w="12700">
            <a:solidFill>
              <a:srgbClr val="C8C0B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1" name="Google Shape;851;p32"/>
          <p:cNvCxnSpPr/>
          <p:nvPr/>
        </p:nvCxnSpPr>
        <p:spPr>
          <a:xfrm>
            <a:off x="3621024" y="3438144"/>
            <a:ext cx="256032" cy="0"/>
          </a:xfrm>
          <a:prstGeom prst="straightConnector1">
            <a:avLst/>
          </a:prstGeom>
          <a:noFill/>
          <a:ln cap="flat" cmpd="sng" w="12700">
            <a:solidFill>
              <a:srgbClr val="C8C0B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52" name="Google Shape;852;p32"/>
          <p:cNvSpPr/>
          <p:nvPr/>
        </p:nvSpPr>
        <p:spPr>
          <a:xfrm>
            <a:off x="3877056" y="1042416"/>
            <a:ext cx="1554480" cy="365760"/>
          </a:xfrm>
          <a:prstGeom prst="rect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3" name="Google Shape;853;p32"/>
          <p:cNvSpPr/>
          <p:nvPr/>
        </p:nvSpPr>
        <p:spPr>
          <a:xfrm>
            <a:off x="3877056" y="1042416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HIDDEN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L2 · 128 ReLU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4" name="Google Shape;854;p32"/>
          <p:cNvSpPr/>
          <p:nvPr/>
        </p:nvSpPr>
        <p:spPr>
          <a:xfrm>
            <a:off x="3877056" y="1755648"/>
            <a:ext cx="1554480" cy="256032"/>
          </a:xfrm>
          <a:prstGeom prst="rect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55" name="Google Shape;855;p32"/>
          <p:cNvCxnSpPr/>
          <p:nvPr/>
        </p:nvCxnSpPr>
        <p:spPr>
          <a:xfrm>
            <a:off x="5431536" y="1883664"/>
            <a:ext cx="804672" cy="155448"/>
          </a:xfrm>
          <a:prstGeom prst="straightConnector1">
            <a:avLst/>
          </a:prstGeom>
          <a:noFill/>
          <a:ln cap="flat" cmpd="sng" w="12700">
            <a:solidFill>
              <a:srgbClr val="C8C0B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6" name="Google Shape;856;p32"/>
          <p:cNvCxnSpPr/>
          <p:nvPr/>
        </p:nvCxnSpPr>
        <p:spPr>
          <a:xfrm>
            <a:off x="5431536" y="1883664"/>
            <a:ext cx="804672" cy="777240"/>
          </a:xfrm>
          <a:prstGeom prst="straightConnector1">
            <a:avLst/>
          </a:prstGeom>
          <a:noFill/>
          <a:ln cap="flat" cmpd="sng" w="12700">
            <a:solidFill>
              <a:srgbClr val="C8C0B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7" name="Google Shape;857;p32"/>
          <p:cNvCxnSpPr/>
          <p:nvPr/>
        </p:nvCxnSpPr>
        <p:spPr>
          <a:xfrm>
            <a:off x="5431536" y="1883664"/>
            <a:ext cx="804672" cy="1399032"/>
          </a:xfrm>
          <a:prstGeom prst="straightConnector1">
            <a:avLst/>
          </a:prstGeom>
          <a:noFill/>
          <a:ln cap="flat" cmpd="sng" w="12700">
            <a:solidFill>
              <a:srgbClr val="C8C0B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58" name="Google Shape;858;p32"/>
          <p:cNvSpPr/>
          <p:nvPr/>
        </p:nvSpPr>
        <p:spPr>
          <a:xfrm>
            <a:off x="3877056" y="2066544"/>
            <a:ext cx="1554480" cy="256032"/>
          </a:xfrm>
          <a:prstGeom prst="rect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59" name="Google Shape;859;p32"/>
          <p:cNvCxnSpPr/>
          <p:nvPr/>
        </p:nvCxnSpPr>
        <p:spPr>
          <a:xfrm flipH="1" rot="10800000">
            <a:off x="5431536" y="2039112"/>
            <a:ext cx="804672" cy="155448"/>
          </a:xfrm>
          <a:prstGeom prst="straightConnector1">
            <a:avLst/>
          </a:prstGeom>
          <a:noFill/>
          <a:ln cap="flat" cmpd="sng" w="12700">
            <a:solidFill>
              <a:srgbClr val="C8C0B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0" name="Google Shape;860;p32"/>
          <p:cNvCxnSpPr/>
          <p:nvPr/>
        </p:nvCxnSpPr>
        <p:spPr>
          <a:xfrm>
            <a:off x="5431536" y="2194560"/>
            <a:ext cx="804672" cy="466344"/>
          </a:xfrm>
          <a:prstGeom prst="straightConnector1">
            <a:avLst/>
          </a:prstGeom>
          <a:noFill/>
          <a:ln cap="flat" cmpd="sng" w="12700">
            <a:solidFill>
              <a:srgbClr val="C8C0B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1" name="Google Shape;861;p32"/>
          <p:cNvCxnSpPr/>
          <p:nvPr/>
        </p:nvCxnSpPr>
        <p:spPr>
          <a:xfrm>
            <a:off x="5431536" y="2194560"/>
            <a:ext cx="804672" cy="1088136"/>
          </a:xfrm>
          <a:prstGeom prst="straightConnector1">
            <a:avLst/>
          </a:prstGeom>
          <a:noFill/>
          <a:ln cap="flat" cmpd="sng" w="12700">
            <a:solidFill>
              <a:srgbClr val="C8C0B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2" name="Google Shape;862;p32"/>
          <p:cNvSpPr/>
          <p:nvPr/>
        </p:nvSpPr>
        <p:spPr>
          <a:xfrm>
            <a:off x="3877056" y="2377440"/>
            <a:ext cx="1554480" cy="256032"/>
          </a:xfrm>
          <a:prstGeom prst="rect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63" name="Google Shape;863;p32"/>
          <p:cNvCxnSpPr/>
          <p:nvPr/>
        </p:nvCxnSpPr>
        <p:spPr>
          <a:xfrm flipH="1" rot="10800000">
            <a:off x="5431536" y="2039112"/>
            <a:ext cx="804672" cy="466344"/>
          </a:xfrm>
          <a:prstGeom prst="straightConnector1">
            <a:avLst/>
          </a:prstGeom>
          <a:noFill/>
          <a:ln cap="flat" cmpd="sng" w="12700">
            <a:solidFill>
              <a:srgbClr val="C8C0B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4" name="Google Shape;864;p32"/>
          <p:cNvCxnSpPr/>
          <p:nvPr/>
        </p:nvCxnSpPr>
        <p:spPr>
          <a:xfrm>
            <a:off x="5431536" y="2505456"/>
            <a:ext cx="804672" cy="155448"/>
          </a:xfrm>
          <a:prstGeom prst="straightConnector1">
            <a:avLst/>
          </a:prstGeom>
          <a:noFill/>
          <a:ln cap="flat" cmpd="sng" w="12700">
            <a:solidFill>
              <a:srgbClr val="C8C0B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5" name="Google Shape;865;p32"/>
          <p:cNvCxnSpPr/>
          <p:nvPr/>
        </p:nvCxnSpPr>
        <p:spPr>
          <a:xfrm>
            <a:off x="5431536" y="2505456"/>
            <a:ext cx="804672" cy="777240"/>
          </a:xfrm>
          <a:prstGeom prst="straightConnector1">
            <a:avLst/>
          </a:prstGeom>
          <a:noFill/>
          <a:ln cap="flat" cmpd="sng" w="12700">
            <a:solidFill>
              <a:srgbClr val="C8C0B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6" name="Google Shape;866;p32"/>
          <p:cNvSpPr/>
          <p:nvPr/>
        </p:nvSpPr>
        <p:spPr>
          <a:xfrm>
            <a:off x="3877056" y="2688336"/>
            <a:ext cx="1554480" cy="256032"/>
          </a:xfrm>
          <a:prstGeom prst="rect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67" name="Google Shape;867;p32"/>
          <p:cNvCxnSpPr/>
          <p:nvPr/>
        </p:nvCxnSpPr>
        <p:spPr>
          <a:xfrm flipH="1" rot="10800000">
            <a:off x="5431536" y="2039112"/>
            <a:ext cx="804672" cy="777240"/>
          </a:xfrm>
          <a:prstGeom prst="straightConnector1">
            <a:avLst/>
          </a:prstGeom>
          <a:noFill/>
          <a:ln cap="flat" cmpd="sng" w="12700">
            <a:solidFill>
              <a:srgbClr val="C8C0B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8" name="Google Shape;868;p32"/>
          <p:cNvCxnSpPr/>
          <p:nvPr/>
        </p:nvCxnSpPr>
        <p:spPr>
          <a:xfrm flipH="1" rot="10800000">
            <a:off x="5431536" y="2660904"/>
            <a:ext cx="804672" cy="155448"/>
          </a:xfrm>
          <a:prstGeom prst="straightConnector1">
            <a:avLst/>
          </a:prstGeom>
          <a:noFill/>
          <a:ln cap="flat" cmpd="sng" w="12700">
            <a:solidFill>
              <a:srgbClr val="C8C0B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9" name="Google Shape;869;p32"/>
          <p:cNvCxnSpPr/>
          <p:nvPr/>
        </p:nvCxnSpPr>
        <p:spPr>
          <a:xfrm>
            <a:off x="5431536" y="2816352"/>
            <a:ext cx="804672" cy="466344"/>
          </a:xfrm>
          <a:prstGeom prst="straightConnector1">
            <a:avLst/>
          </a:prstGeom>
          <a:noFill/>
          <a:ln cap="flat" cmpd="sng" w="12700">
            <a:solidFill>
              <a:srgbClr val="C8C0B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0" name="Google Shape;870;p32"/>
          <p:cNvSpPr/>
          <p:nvPr/>
        </p:nvSpPr>
        <p:spPr>
          <a:xfrm>
            <a:off x="3877056" y="2999232"/>
            <a:ext cx="1554480" cy="256032"/>
          </a:xfrm>
          <a:prstGeom prst="rect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71" name="Google Shape;871;p32"/>
          <p:cNvCxnSpPr/>
          <p:nvPr/>
        </p:nvCxnSpPr>
        <p:spPr>
          <a:xfrm flipH="1" rot="10800000">
            <a:off x="5431536" y="2039112"/>
            <a:ext cx="804672" cy="1088136"/>
          </a:xfrm>
          <a:prstGeom prst="straightConnector1">
            <a:avLst/>
          </a:prstGeom>
          <a:noFill/>
          <a:ln cap="flat" cmpd="sng" w="12700">
            <a:solidFill>
              <a:srgbClr val="C8C0B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2" name="Google Shape;872;p32"/>
          <p:cNvCxnSpPr/>
          <p:nvPr/>
        </p:nvCxnSpPr>
        <p:spPr>
          <a:xfrm flipH="1" rot="10800000">
            <a:off x="5431536" y="2660904"/>
            <a:ext cx="804672" cy="466344"/>
          </a:xfrm>
          <a:prstGeom prst="straightConnector1">
            <a:avLst/>
          </a:prstGeom>
          <a:noFill/>
          <a:ln cap="flat" cmpd="sng" w="12700">
            <a:solidFill>
              <a:srgbClr val="C8C0B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3" name="Google Shape;873;p32"/>
          <p:cNvCxnSpPr/>
          <p:nvPr/>
        </p:nvCxnSpPr>
        <p:spPr>
          <a:xfrm>
            <a:off x="5431536" y="3127248"/>
            <a:ext cx="804672" cy="155448"/>
          </a:xfrm>
          <a:prstGeom prst="straightConnector1">
            <a:avLst/>
          </a:prstGeom>
          <a:noFill/>
          <a:ln cap="flat" cmpd="sng" w="12700">
            <a:solidFill>
              <a:srgbClr val="C8C0B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4" name="Google Shape;874;p32"/>
          <p:cNvSpPr/>
          <p:nvPr/>
        </p:nvSpPr>
        <p:spPr>
          <a:xfrm>
            <a:off x="3877056" y="3310128"/>
            <a:ext cx="1554480" cy="256032"/>
          </a:xfrm>
          <a:prstGeom prst="rect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75" name="Google Shape;875;p32"/>
          <p:cNvCxnSpPr/>
          <p:nvPr/>
        </p:nvCxnSpPr>
        <p:spPr>
          <a:xfrm flipH="1" rot="10800000">
            <a:off x="5431536" y="2039112"/>
            <a:ext cx="804672" cy="1399032"/>
          </a:xfrm>
          <a:prstGeom prst="straightConnector1">
            <a:avLst/>
          </a:prstGeom>
          <a:noFill/>
          <a:ln cap="flat" cmpd="sng" w="12700">
            <a:solidFill>
              <a:srgbClr val="C8C0B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6" name="Google Shape;876;p32"/>
          <p:cNvCxnSpPr/>
          <p:nvPr/>
        </p:nvCxnSpPr>
        <p:spPr>
          <a:xfrm flipH="1" rot="10800000">
            <a:off x="5431536" y="2660904"/>
            <a:ext cx="804672" cy="777240"/>
          </a:xfrm>
          <a:prstGeom prst="straightConnector1">
            <a:avLst/>
          </a:prstGeom>
          <a:noFill/>
          <a:ln cap="flat" cmpd="sng" w="12700">
            <a:solidFill>
              <a:srgbClr val="C8C0B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7" name="Google Shape;877;p32"/>
          <p:cNvCxnSpPr/>
          <p:nvPr/>
        </p:nvCxnSpPr>
        <p:spPr>
          <a:xfrm flipH="1" rot="10800000">
            <a:off x="5431536" y="3282696"/>
            <a:ext cx="804672" cy="155448"/>
          </a:xfrm>
          <a:prstGeom prst="straightConnector1">
            <a:avLst/>
          </a:prstGeom>
          <a:noFill/>
          <a:ln cap="flat" cmpd="sng" w="12700">
            <a:solidFill>
              <a:srgbClr val="C8C0B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8" name="Google Shape;878;p32"/>
          <p:cNvSpPr/>
          <p:nvPr/>
        </p:nvSpPr>
        <p:spPr>
          <a:xfrm>
            <a:off x="6236208" y="1042416"/>
            <a:ext cx="1554480" cy="365760"/>
          </a:xfrm>
          <a:prstGeom prst="rect">
            <a:avLst/>
          </a:prstGeom>
          <a:solidFill>
            <a:srgbClr val="4A0D0B"/>
          </a:solidFill>
          <a:ln cap="flat" cmpd="sng" w="12700">
            <a:solidFill>
              <a:srgbClr val="4A0D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9" name="Google Shape;879;p32"/>
          <p:cNvSpPr/>
          <p:nvPr/>
        </p:nvSpPr>
        <p:spPr>
          <a:xfrm>
            <a:off x="6236208" y="1042416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Q-values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0" name="Google Shape;880;p32"/>
          <p:cNvSpPr/>
          <p:nvPr/>
        </p:nvSpPr>
        <p:spPr>
          <a:xfrm>
            <a:off x="6236208" y="1911096"/>
            <a:ext cx="1554480" cy="256032"/>
          </a:xfrm>
          <a:prstGeom prst="rect">
            <a:avLst/>
          </a:prstGeom>
          <a:solidFill>
            <a:srgbClr val="4A0D0B"/>
          </a:solidFill>
          <a:ln cap="flat" cmpd="sng" w="12700">
            <a:solidFill>
              <a:srgbClr val="4A0D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1" name="Google Shape;881;p32"/>
          <p:cNvSpPr/>
          <p:nvPr/>
        </p:nvSpPr>
        <p:spPr>
          <a:xfrm>
            <a:off x="6272784" y="1911096"/>
            <a:ext cx="14813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Q(s,N1)</a:t>
            </a:r>
            <a:endParaRPr b="0" i="0" sz="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2" name="Google Shape;882;p32"/>
          <p:cNvSpPr/>
          <p:nvPr/>
        </p:nvSpPr>
        <p:spPr>
          <a:xfrm>
            <a:off x="6236208" y="2221992"/>
            <a:ext cx="1554480" cy="256032"/>
          </a:xfrm>
          <a:prstGeom prst="rect">
            <a:avLst/>
          </a:prstGeom>
          <a:solidFill>
            <a:srgbClr val="4A0D0B"/>
          </a:solidFill>
          <a:ln cap="flat" cmpd="sng" w="12700">
            <a:solidFill>
              <a:srgbClr val="4A0D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3" name="Google Shape;883;p32"/>
          <p:cNvSpPr/>
          <p:nvPr/>
        </p:nvSpPr>
        <p:spPr>
          <a:xfrm>
            <a:off x="6272784" y="2221992"/>
            <a:ext cx="14813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Q(s,N2)</a:t>
            </a:r>
            <a:endParaRPr b="0" i="0" sz="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4" name="Google Shape;884;p32"/>
          <p:cNvSpPr/>
          <p:nvPr/>
        </p:nvSpPr>
        <p:spPr>
          <a:xfrm>
            <a:off x="6236208" y="2532888"/>
            <a:ext cx="1554480" cy="256032"/>
          </a:xfrm>
          <a:prstGeom prst="rect">
            <a:avLst/>
          </a:prstGeom>
          <a:solidFill>
            <a:srgbClr val="4A0D0B"/>
          </a:solidFill>
          <a:ln cap="flat" cmpd="sng" w="12700">
            <a:solidFill>
              <a:srgbClr val="4A0D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5" name="Google Shape;885;p32"/>
          <p:cNvSpPr/>
          <p:nvPr/>
        </p:nvSpPr>
        <p:spPr>
          <a:xfrm>
            <a:off x="6272784" y="2532888"/>
            <a:ext cx="14813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Q(s,N3)</a:t>
            </a:r>
            <a:endParaRPr b="0" i="0" sz="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6" name="Google Shape;886;p32"/>
          <p:cNvSpPr/>
          <p:nvPr/>
        </p:nvSpPr>
        <p:spPr>
          <a:xfrm>
            <a:off x="6236208" y="2843784"/>
            <a:ext cx="1554480" cy="256032"/>
          </a:xfrm>
          <a:prstGeom prst="rect">
            <a:avLst/>
          </a:prstGeom>
          <a:solidFill>
            <a:srgbClr val="4A0D0B"/>
          </a:solidFill>
          <a:ln cap="flat" cmpd="sng" w="12700">
            <a:solidFill>
              <a:srgbClr val="4A0D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7" name="Google Shape;887;p32"/>
          <p:cNvSpPr/>
          <p:nvPr/>
        </p:nvSpPr>
        <p:spPr>
          <a:xfrm>
            <a:off x="6272784" y="2843784"/>
            <a:ext cx="14813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Q(s,N4)</a:t>
            </a:r>
            <a:endParaRPr b="0" i="0" sz="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8" name="Google Shape;888;p32"/>
          <p:cNvSpPr/>
          <p:nvPr/>
        </p:nvSpPr>
        <p:spPr>
          <a:xfrm>
            <a:off x="6236208" y="3154680"/>
            <a:ext cx="1554480" cy="256032"/>
          </a:xfrm>
          <a:prstGeom prst="rect">
            <a:avLst/>
          </a:prstGeom>
          <a:solidFill>
            <a:srgbClr val="4A0D0B"/>
          </a:solidFill>
          <a:ln cap="flat" cmpd="sng" w="12700">
            <a:solidFill>
              <a:srgbClr val="4A0D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9" name="Google Shape;889;p32"/>
          <p:cNvSpPr/>
          <p:nvPr/>
        </p:nvSpPr>
        <p:spPr>
          <a:xfrm>
            <a:off x="6272784" y="3154680"/>
            <a:ext cx="14813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Q(s,N5)</a:t>
            </a:r>
            <a:endParaRPr b="0" i="0" sz="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0" name="Google Shape;890;p32"/>
          <p:cNvSpPr/>
          <p:nvPr/>
        </p:nvSpPr>
        <p:spPr>
          <a:xfrm>
            <a:off x="256032" y="3977640"/>
            <a:ext cx="4114800" cy="731520"/>
          </a:xfrm>
          <a:prstGeom prst="rect">
            <a:avLst/>
          </a:prstGeom>
          <a:solidFill>
            <a:srgbClr val="EAE8E4"/>
          </a:solidFill>
          <a:ln cap="flat" cmpd="sng" w="12700">
            <a:solidFill>
              <a:srgbClr val="EAE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1" name="Google Shape;891;p32"/>
          <p:cNvSpPr/>
          <p:nvPr/>
        </p:nvSpPr>
        <p:spPr>
          <a:xfrm>
            <a:off x="256032" y="3977640"/>
            <a:ext cx="73152" cy="731520"/>
          </a:xfrm>
          <a:prstGeom prst="rect">
            <a:avLst/>
          </a:prstGeom>
          <a:solidFill>
            <a:srgbClr val="BC933E"/>
          </a:solidFill>
          <a:ln cap="flat" cmpd="sng" w="12700">
            <a:solidFill>
              <a:srgbClr val="BC93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2" name="Google Shape;892;p32"/>
          <p:cNvSpPr/>
          <p:nvPr/>
        </p:nvSpPr>
        <p:spPr>
          <a:xfrm>
            <a:off x="402336" y="3995928"/>
            <a:ext cx="389534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BC933E"/>
                </a:solidFill>
                <a:latin typeface="Arial"/>
                <a:ea typeface="Arial"/>
                <a:cs typeface="Arial"/>
                <a:sym typeface="Arial"/>
              </a:rPr>
              <a:t>Bellman Update (Q-Learning)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3" name="Google Shape;893;p32"/>
          <p:cNvSpPr/>
          <p:nvPr/>
        </p:nvSpPr>
        <p:spPr>
          <a:xfrm>
            <a:off x="402336" y="4215384"/>
            <a:ext cx="389534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1000" u="none" cap="none" strike="noStrike">
                <a:solidFill>
                  <a:srgbClr val="4A0D0B"/>
                </a:solidFill>
                <a:latin typeface="Consolas"/>
                <a:ea typeface="Consolas"/>
                <a:cs typeface="Consolas"/>
                <a:sym typeface="Consolas"/>
              </a:rPr>
              <a:t>Q(s,a) ← Q(s,a) + α [r + γ·max_a' Q(s',a') − Q(s,a)]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4" name="Google Shape;894;p32"/>
          <p:cNvSpPr/>
          <p:nvPr/>
        </p:nvSpPr>
        <p:spPr>
          <a:xfrm>
            <a:off x="402336" y="4434840"/>
            <a:ext cx="389534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950" u="none" cap="none" strike="noStrike">
                <a:solidFill>
                  <a:srgbClr val="444848"/>
                </a:solidFill>
                <a:latin typeface="Arial"/>
                <a:ea typeface="Arial"/>
                <a:cs typeface="Arial"/>
                <a:sym typeface="Arial"/>
              </a:rPr>
              <a:t>α=0.001  γ=0.95  Adam optimiser  batch=64  buffer=5,000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5" name="Google Shape;895;p32"/>
          <p:cNvSpPr/>
          <p:nvPr/>
        </p:nvSpPr>
        <p:spPr>
          <a:xfrm>
            <a:off x="4527175" y="3977650"/>
            <a:ext cx="3263400" cy="731400"/>
          </a:xfrm>
          <a:prstGeom prst="rect">
            <a:avLst/>
          </a:prstGeom>
          <a:solidFill>
            <a:srgbClr val="EAE8E4"/>
          </a:solidFill>
          <a:ln cap="flat" cmpd="sng" w="12700">
            <a:solidFill>
              <a:srgbClr val="EAE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6" name="Google Shape;896;p32"/>
          <p:cNvSpPr/>
          <p:nvPr/>
        </p:nvSpPr>
        <p:spPr>
          <a:xfrm>
            <a:off x="4527175" y="3977650"/>
            <a:ext cx="54900" cy="731400"/>
          </a:xfrm>
          <a:prstGeom prst="rect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7" name="Google Shape;897;p32"/>
          <p:cNvSpPr/>
          <p:nvPr/>
        </p:nvSpPr>
        <p:spPr>
          <a:xfrm>
            <a:off x="4636880" y="3995938"/>
            <a:ext cx="3085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900" u="none" cap="none" strike="noStrike">
                <a:solidFill>
                  <a:srgbClr val="7D1916"/>
                </a:solidFill>
                <a:latin typeface="Arial"/>
                <a:ea typeface="Arial"/>
                <a:cs typeface="Arial"/>
                <a:sym typeface="Arial"/>
              </a:rPr>
              <a:t>Epsilon Decay:  εₜ = max{0.1, 0.98ᵗ}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8" name="Google Shape;898;p32"/>
          <p:cNvSpPr/>
          <p:nvPr/>
        </p:nvSpPr>
        <p:spPr>
          <a:xfrm>
            <a:off x="4636880" y="4215388"/>
            <a:ext cx="3085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800" u="none" cap="none" strike="noStrike">
                <a:solidFill>
                  <a:srgbClr val="444848"/>
                </a:solidFill>
                <a:latin typeface="Arial"/>
                <a:ea typeface="Arial"/>
                <a:cs typeface="Arial"/>
                <a:sym typeface="Arial"/>
              </a:rPr>
              <a:t>Starts exploratory (ε=1.0), decays 2%/episode, floors at 10%.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9" name="Google Shape;899;p32"/>
          <p:cNvSpPr/>
          <p:nvPr/>
        </p:nvSpPr>
        <p:spPr>
          <a:xfrm>
            <a:off x="4636880" y="4434838"/>
            <a:ext cx="233400" cy="183000"/>
          </a:xfrm>
          <a:prstGeom prst="rect">
            <a:avLst/>
          </a:prstGeom>
          <a:solidFill>
            <a:srgbClr val="BC933E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" name="Google Shape;900;p32"/>
          <p:cNvSpPr/>
          <p:nvPr/>
        </p:nvSpPr>
        <p:spPr>
          <a:xfrm>
            <a:off x="4897429" y="4475071"/>
            <a:ext cx="233400" cy="142500"/>
          </a:xfrm>
          <a:prstGeom prst="rect">
            <a:avLst/>
          </a:prstGeom>
          <a:solidFill>
            <a:srgbClr val="BC933E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1" name="Google Shape;901;p32"/>
          <p:cNvSpPr/>
          <p:nvPr/>
        </p:nvSpPr>
        <p:spPr>
          <a:xfrm>
            <a:off x="5157979" y="4506159"/>
            <a:ext cx="233400" cy="111600"/>
          </a:xfrm>
          <a:prstGeom prst="rect">
            <a:avLst/>
          </a:prstGeom>
          <a:solidFill>
            <a:srgbClr val="BC933E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2" name="Google Shape;902;p32"/>
          <p:cNvSpPr/>
          <p:nvPr/>
        </p:nvSpPr>
        <p:spPr>
          <a:xfrm>
            <a:off x="5418528" y="4529933"/>
            <a:ext cx="233400" cy="87900"/>
          </a:xfrm>
          <a:prstGeom prst="rect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3" name="Google Shape;903;p32"/>
          <p:cNvSpPr/>
          <p:nvPr/>
        </p:nvSpPr>
        <p:spPr>
          <a:xfrm>
            <a:off x="5679077" y="4550049"/>
            <a:ext cx="233400" cy="67800"/>
          </a:xfrm>
          <a:prstGeom prst="rect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4" name="Google Shape;904;p32"/>
          <p:cNvSpPr/>
          <p:nvPr/>
        </p:nvSpPr>
        <p:spPr>
          <a:xfrm>
            <a:off x="5939626" y="4564679"/>
            <a:ext cx="233400" cy="53100"/>
          </a:xfrm>
          <a:prstGeom prst="rect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5" name="Google Shape;905;p32"/>
          <p:cNvSpPr/>
          <p:nvPr/>
        </p:nvSpPr>
        <p:spPr>
          <a:xfrm>
            <a:off x="6200176" y="4577480"/>
            <a:ext cx="233400" cy="40200"/>
          </a:xfrm>
          <a:prstGeom prst="rect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6" name="Google Shape;906;p32"/>
          <p:cNvSpPr/>
          <p:nvPr/>
        </p:nvSpPr>
        <p:spPr>
          <a:xfrm>
            <a:off x="6460725" y="4586624"/>
            <a:ext cx="233400" cy="31200"/>
          </a:xfrm>
          <a:prstGeom prst="rect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7" name="Google Shape;907;p32"/>
          <p:cNvSpPr/>
          <p:nvPr/>
        </p:nvSpPr>
        <p:spPr>
          <a:xfrm>
            <a:off x="6721274" y="4593940"/>
            <a:ext cx="233400" cy="23700"/>
          </a:xfrm>
          <a:prstGeom prst="rect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8" name="Google Shape;908;p32"/>
          <p:cNvSpPr/>
          <p:nvPr/>
        </p:nvSpPr>
        <p:spPr>
          <a:xfrm>
            <a:off x="6981824" y="4599425"/>
            <a:ext cx="233400" cy="18300"/>
          </a:xfrm>
          <a:prstGeom prst="rect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9" name="Google Shape;909;p32"/>
          <p:cNvSpPr/>
          <p:nvPr/>
        </p:nvSpPr>
        <p:spPr>
          <a:xfrm>
            <a:off x="4636875" y="4694500"/>
            <a:ext cx="2605500" cy="8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1" lang="en-US" sz="65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← explore    exploit →</a:t>
            </a:r>
            <a:endParaRPr b="0" i="0" sz="6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1EE"/>
        </a:solidFill>
      </p:bgPr>
    </p:bg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37"/>
          <p:cNvSpPr/>
          <p:nvPr/>
        </p:nvSpPr>
        <p:spPr>
          <a:xfrm>
            <a:off x="457200" y="220000"/>
            <a:ext cx="8229600" cy="53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3100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Q-Learning, Bellman Updates &amp; Experience Replay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5" name="Google Shape;915;p37"/>
          <p:cNvSpPr/>
          <p:nvPr/>
        </p:nvSpPr>
        <p:spPr>
          <a:xfrm>
            <a:off x="457200" y="720000"/>
            <a:ext cx="82296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1" lang="en-US" sz="14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The mathematics behind getting better at routing through experience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6" name="Google Shape;916;p37"/>
          <p:cNvSpPr/>
          <p:nvPr/>
        </p:nvSpPr>
        <p:spPr>
          <a:xfrm>
            <a:off x="457200" y="950000"/>
            <a:ext cx="8229600" cy="1017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82875" spcFirstLastPara="1" rIns="182875" wrap="square" tIns="9142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350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The Q-Function: Q(s, a)</a:t>
            </a:r>
            <a:r>
              <a:rPr b="0" i="0" lang="en-US" sz="13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=  If I am in state s and take action a, how much total future reward will I earn?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35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1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Initially Q(s, a) = 0 for all states (agent knows nothing).  After training: Q(s, Node_3) = 42.7 means routing to Node 3 from this state historically earns 42.7 reward. The DDQN approximates this function for a continuous 8-dimensional state space where a lookup table is impossible.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7" name="Google Shape;917;p37"/>
          <p:cNvSpPr/>
          <p:nvPr/>
        </p:nvSpPr>
        <p:spPr>
          <a:xfrm>
            <a:off x="457200" y="2050100"/>
            <a:ext cx="8229600" cy="1274100"/>
          </a:xfrm>
          <a:prstGeom prst="rect">
            <a:avLst/>
          </a:prstGeom>
          <a:solidFill>
            <a:srgbClr val="C8C0BC"/>
          </a:solidFill>
          <a:ln>
            <a:noFill/>
          </a:ln>
        </p:spPr>
        <p:txBody>
          <a:bodyPr anchorCtr="0" anchor="t" bIns="91425" lIns="182875" spcFirstLastPara="1" rIns="182875" wrap="square" tIns="9142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Bellman Update (the learning rule):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1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Q(s,a)  &lt;=  Q(s,a)  +  alpha [ r  +  gamma x max_a’ Q(s’,a’)  -  Q(s,a) ]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alpha = 0.001 (learning rate: how fast to update)   |   gamma = 0.95 (future rewards worth 95% as much as immediate)   |   r = reward received   |   max Q(s’,a’) = best known value from next state (from target network)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8" name="Google Shape;918;p37"/>
          <p:cNvSpPr/>
          <p:nvPr/>
        </p:nvSpPr>
        <p:spPr>
          <a:xfrm>
            <a:off x="457200" y="3435588"/>
            <a:ext cx="8229600" cy="11103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82875" spcFirstLastPara="1" rIns="182875" wrap="square" tIns="9142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Why Experience Replay Solves Temporal Correlation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1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W_q at time t is correlated with W_q at time t-1 (if queue was high, it is likely still high). Sequential training = biased learning from a single congestion wave.  Random sampling from a 5,000-step buffer exposes the network to diverse load conditions, producing stable, convergent Q-values that generalise across all traffic patterns.  Batch size = 64 transitions per training step.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9" name="Google Shape;919;p37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solidFill>
            <a:srgbClr val="7D1916"/>
          </a:solidFill>
          <a:ln>
            <a:noFill/>
          </a:ln>
        </p:spPr>
        <p:txBody>
          <a:bodyPr anchorCtr="0" anchor="ctr" bIns="45700" lIns="45720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0" name="Google Shape;920;p37"/>
          <p:cNvSpPr/>
          <p:nvPr/>
        </p:nvSpPr>
        <p:spPr>
          <a:xfrm>
            <a:off x="7960350" y="4384525"/>
            <a:ext cx="8133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2026   |   24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1EE"/>
        </a:solidFill>
      </p:bgPr>
    </p:bg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16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1916"/>
              </a:buClr>
              <a:buSzPts val="2600"/>
              <a:buFont typeface="Calibri"/>
              <a:buNone/>
            </a:pPr>
            <a:r>
              <a:rPr b="1" i="0" lang="en-US" sz="3200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State Space &amp; Reward Function Design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7" name="Google Shape;927;p16"/>
          <p:cNvSpPr/>
          <p:nvPr/>
        </p:nvSpPr>
        <p:spPr>
          <a:xfrm>
            <a:off x="457200" y="868680"/>
            <a:ext cx="8229600" cy="22860"/>
          </a:xfrm>
          <a:prstGeom prst="rect">
            <a:avLst/>
          </a:prstGeom>
          <a:solidFill>
            <a:srgbClr val="EAE8E4"/>
          </a:solidFill>
          <a:ln cap="flat" cmpd="sng" w="12700">
            <a:solidFill>
              <a:srgbClr val="EAE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8" name="Google Shape;928;p16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9" name="Google Shape;929;p16"/>
          <p:cNvSpPr/>
          <p:nvPr/>
        </p:nvSpPr>
        <p:spPr>
          <a:xfrm>
            <a:off x="4507992" y="4892040"/>
            <a:ext cx="128016" cy="128016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0" name="Google Shape;930;p16"/>
          <p:cNvSpPr/>
          <p:nvPr/>
        </p:nvSpPr>
        <p:spPr>
          <a:xfrm>
            <a:off x="6978627" y="4334096"/>
            <a:ext cx="18201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2026   |   25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p16"/>
          <p:cNvSpPr/>
          <p:nvPr/>
        </p:nvSpPr>
        <p:spPr>
          <a:xfrm>
            <a:off x="457200" y="987552"/>
            <a:ext cx="8229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1916"/>
              </a:buClr>
              <a:buSzPts val="1500"/>
              <a:buFont typeface="Calibri"/>
              <a:buNone/>
            </a:pPr>
            <a:r>
              <a:rPr b="1" i="0" lang="en-US" sz="1700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The 8-Dimensional State Vector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2" name="Google Shape;932;p16"/>
          <p:cNvSpPr/>
          <p:nvPr/>
        </p:nvSpPr>
        <p:spPr>
          <a:xfrm>
            <a:off x="457200" y="1371600"/>
            <a:ext cx="8229600" cy="502920"/>
          </a:xfrm>
          <a:prstGeom prst="rect">
            <a:avLst/>
          </a:prstGeom>
          <a:solidFill>
            <a:srgbClr val="EAE8E4"/>
          </a:solidFill>
          <a:ln cap="flat" cmpd="sng" w="12700">
            <a:solidFill>
              <a:srgbClr val="EAE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3" name="Google Shape;933;p16"/>
          <p:cNvSpPr/>
          <p:nvPr/>
        </p:nvSpPr>
        <p:spPr>
          <a:xfrm>
            <a:off x="594360" y="1399032"/>
            <a:ext cx="795528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848"/>
              </a:buClr>
              <a:buSzPts val="1500"/>
              <a:buFont typeface="Calibri"/>
              <a:buNone/>
            </a:pPr>
            <a:r>
              <a:rPr b="1" i="0" lang="en-US" sz="1700" u="none" cap="none" strike="noStrike">
                <a:solidFill>
                  <a:srgbClr val="444848"/>
                </a:solidFill>
                <a:latin typeface="Calibri"/>
                <a:ea typeface="Calibri"/>
                <a:cs typeface="Calibri"/>
                <a:sym typeface="Calibri"/>
              </a:rPr>
              <a:t>S_t  =  [W_q,1  W_q,2  W_q,3  W_q,4  W_q,5  |  src  |  X  |  Y  |  τ]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4" name="Google Shape;934;p16"/>
          <p:cNvSpPr/>
          <p:nvPr/>
        </p:nvSpPr>
        <p:spPr>
          <a:xfrm>
            <a:off x="594360" y="1938528"/>
            <a:ext cx="7955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1916"/>
              </a:buClr>
              <a:buSzPts val="1150"/>
              <a:buFont typeface="Calibri"/>
              <a:buNone/>
            </a:pPr>
            <a:r>
              <a:rPr b="1" i="0" lang="en-US" sz="1350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W_q,1..5:  </a:t>
            </a:r>
            <a:r>
              <a:rPr b="0" i="0" lang="en-US" sz="1350" u="none" cap="none" strike="noStrike">
                <a:solidFill>
                  <a:srgbClr val="444848"/>
                </a:solidFill>
                <a:latin typeface="Calibri"/>
                <a:ea typeface="Calibri"/>
                <a:cs typeface="Calibri"/>
                <a:sym typeface="Calibri"/>
              </a:rPr>
              <a:t>Current queue backlog (seconds) at each of the 5 nodes — how busy is each?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5" name="Google Shape;935;p16"/>
          <p:cNvSpPr/>
          <p:nvPr/>
        </p:nvSpPr>
        <p:spPr>
          <a:xfrm>
            <a:off x="594360" y="2267712"/>
            <a:ext cx="7955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1916"/>
              </a:buClr>
              <a:buSzPts val="1150"/>
              <a:buFont typeface="Calibri"/>
              <a:buNone/>
            </a:pPr>
            <a:r>
              <a:rPr b="1" i="0" lang="en-US" sz="1350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src:  </a:t>
            </a:r>
            <a:r>
              <a:rPr b="0" i="0" lang="en-US" sz="1350" u="none" cap="none" strike="noStrike">
                <a:solidFill>
                  <a:srgbClr val="444848"/>
                </a:solidFill>
                <a:latin typeface="Calibri"/>
                <a:ea typeface="Calibri"/>
                <a:cs typeface="Calibri"/>
                <a:sym typeface="Calibri"/>
              </a:rPr>
              <a:t>Source node — affects transmission distance to each potential target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6" name="Google Shape;936;p16"/>
          <p:cNvSpPr/>
          <p:nvPr/>
        </p:nvSpPr>
        <p:spPr>
          <a:xfrm>
            <a:off x="594360" y="2596896"/>
            <a:ext cx="7955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1916"/>
              </a:buClr>
              <a:buSzPts val="1150"/>
              <a:buFont typeface="Calibri"/>
              <a:buNone/>
            </a:pPr>
            <a:r>
              <a:rPr b="1" i="0" lang="en-US" sz="1350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X:  </a:t>
            </a:r>
            <a:r>
              <a:rPr b="0" i="0" lang="en-US" sz="1350" u="none" cap="none" strike="noStrike">
                <a:solidFill>
                  <a:srgbClr val="444848"/>
                </a:solidFill>
                <a:latin typeface="Calibri"/>
                <a:ea typeface="Calibri"/>
                <a:cs typeface="Calibri"/>
                <a:sym typeface="Calibri"/>
              </a:rPr>
              <a:t>Task data size (MB) — determines how long transmission takes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" name="Google Shape;937;p16"/>
          <p:cNvSpPr/>
          <p:nvPr/>
        </p:nvSpPr>
        <p:spPr>
          <a:xfrm>
            <a:off x="594360" y="2926080"/>
            <a:ext cx="7955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1916"/>
              </a:buClr>
              <a:buSzPts val="1150"/>
              <a:buFont typeface="Calibri"/>
              <a:buNone/>
            </a:pPr>
            <a:r>
              <a:rPr b="1" i="0" lang="en-US" sz="1350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Y:  </a:t>
            </a:r>
            <a:r>
              <a:rPr b="0" i="0" lang="en-US" sz="1350" u="none" cap="none" strike="noStrike">
                <a:solidFill>
                  <a:srgbClr val="444848"/>
                </a:solidFill>
                <a:latin typeface="Calibri"/>
                <a:ea typeface="Calibri"/>
                <a:cs typeface="Calibri"/>
                <a:sym typeface="Calibri"/>
              </a:rPr>
              <a:t>CPU cycles required — how compute-heavy is this task?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8" name="Google Shape;938;p16"/>
          <p:cNvSpPr/>
          <p:nvPr/>
        </p:nvSpPr>
        <p:spPr>
          <a:xfrm>
            <a:off x="594360" y="3255264"/>
            <a:ext cx="7955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1916"/>
              </a:buClr>
              <a:buSzPts val="1150"/>
              <a:buFont typeface="Calibri"/>
              <a:buNone/>
            </a:pPr>
            <a:r>
              <a:rPr b="1" i="0" lang="en-US" sz="1350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τ:  </a:t>
            </a:r>
            <a:r>
              <a:rPr b="0" i="0" lang="en-US" sz="1350" u="none" cap="none" strike="noStrike">
                <a:solidFill>
                  <a:srgbClr val="444848"/>
                </a:solidFill>
                <a:latin typeface="Calibri"/>
                <a:ea typeface="Calibri"/>
                <a:cs typeface="Calibri"/>
                <a:sym typeface="Calibri"/>
              </a:rPr>
              <a:t>Deadline — tight deadlines need fast, uncongested nodes NOW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9" name="Google Shape;939;p16"/>
          <p:cNvSpPr/>
          <p:nvPr/>
        </p:nvSpPr>
        <p:spPr>
          <a:xfrm>
            <a:off x="457200" y="3639312"/>
            <a:ext cx="82296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1916"/>
              </a:buClr>
              <a:buSzPts val="1400"/>
              <a:buFont typeface="Calibri"/>
              <a:buNone/>
            </a:pPr>
            <a:r>
              <a:rPr b="1" i="0" lang="en-US" sz="1600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Reward Function — Teaching What 'Good' Means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0" name="Google Shape;940;p16"/>
          <p:cNvSpPr/>
          <p:nvPr/>
        </p:nvSpPr>
        <p:spPr>
          <a:xfrm>
            <a:off x="457200" y="3986784"/>
            <a:ext cx="3840480" cy="658368"/>
          </a:xfrm>
          <a:prstGeom prst="rect">
            <a:avLst/>
          </a:prstGeom>
          <a:solidFill>
            <a:srgbClr val="EAE8E4"/>
          </a:solidFill>
          <a:ln cap="flat" cmpd="sng" w="12700">
            <a:solidFill>
              <a:srgbClr val="EAE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1" name="Google Shape;941;p16"/>
          <p:cNvSpPr/>
          <p:nvPr/>
        </p:nvSpPr>
        <p:spPr>
          <a:xfrm>
            <a:off x="566928" y="4023360"/>
            <a:ext cx="361188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1916"/>
              </a:buClr>
              <a:buSzPts val="1150"/>
              <a:buFont typeface="Calibri"/>
              <a:buNone/>
            </a:pPr>
            <a:r>
              <a:rPr b="1" i="0" lang="en-US" sz="1350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SUCCESS:  </a:t>
            </a:r>
            <a:r>
              <a:rPr b="0" i="0" lang="en-US" sz="1350" u="none" cap="none" strike="noStrike">
                <a:solidFill>
                  <a:srgbClr val="444848"/>
                </a:solidFill>
                <a:latin typeface="Calibri"/>
                <a:ea typeface="Calibri"/>
                <a:cs typeface="Calibri"/>
                <a:sym typeface="Calibri"/>
              </a:rPr>
              <a:t>r = 50 / exp(W_q[target])  — rewards picking IDLE nodes even when task succeeds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" name="Google Shape;942;p16"/>
          <p:cNvSpPr/>
          <p:nvPr/>
        </p:nvSpPr>
        <p:spPr>
          <a:xfrm>
            <a:off x="4846324" y="3986775"/>
            <a:ext cx="3072000" cy="658500"/>
          </a:xfrm>
          <a:prstGeom prst="rect">
            <a:avLst/>
          </a:prstGeom>
          <a:solidFill>
            <a:srgbClr val="EAE8E4"/>
          </a:solidFill>
          <a:ln cap="flat" cmpd="sng" w="12700">
            <a:solidFill>
              <a:srgbClr val="EAE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3" name="Google Shape;943;p16"/>
          <p:cNvSpPr/>
          <p:nvPr/>
        </p:nvSpPr>
        <p:spPr>
          <a:xfrm>
            <a:off x="4934094" y="4023351"/>
            <a:ext cx="28890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1916"/>
              </a:buClr>
              <a:buSzPts val="1150"/>
              <a:buFont typeface="Calibri"/>
              <a:buNone/>
            </a:pPr>
            <a:r>
              <a:rPr b="1" i="0" lang="en-US" sz="1350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FAILURE:  </a:t>
            </a:r>
            <a:r>
              <a:rPr b="0" i="0" lang="en-US" sz="1350" u="none" cap="none" strike="noStrike">
                <a:solidFill>
                  <a:srgbClr val="444848"/>
                </a:solidFill>
                <a:latin typeface="Calibri"/>
                <a:ea typeface="Calibri"/>
                <a:cs typeface="Calibri"/>
                <a:sym typeface="Calibri"/>
              </a:rPr>
              <a:t>r = −(T²_soj + exp(W_q[target]))  — penalises BOTH delay AND congestion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1EE"/>
        </a:solidFill>
      </p:bgPr>
    </p:bg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p17"/>
          <p:cNvSpPr/>
          <p:nvPr/>
        </p:nvSpPr>
        <p:spPr>
          <a:xfrm>
            <a:off x="457200" y="256032"/>
            <a:ext cx="82296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1916"/>
              </a:buClr>
              <a:buSzPts val="2600"/>
              <a:buFont typeface="Calibri"/>
              <a:buNone/>
            </a:pPr>
            <a:r>
              <a:rPr b="1" i="0" lang="en-US" sz="3400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Epsilon-Boltzmann: Breaking the Herd Effect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0" name="Google Shape;950;p17"/>
          <p:cNvSpPr/>
          <p:nvPr/>
        </p:nvSpPr>
        <p:spPr>
          <a:xfrm>
            <a:off x="457200" y="868680"/>
            <a:ext cx="8229600" cy="22800"/>
          </a:xfrm>
          <a:prstGeom prst="rect">
            <a:avLst/>
          </a:prstGeom>
          <a:solidFill>
            <a:srgbClr val="EAE8E4"/>
          </a:solidFill>
          <a:ln cap="flat" cmpd="sng" w="12700">
            <a:solidFill>
              <a:srgbClr val="EAE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1" name="Google Shape;951;p17"/>
          <p:cNvSpPr/>
          <p:nvPr/>
        </p:nvSpPr>
        <p:spPr>
          <a:xfrm>
            <a:off x="0" y="4919472"/>
            <a:ext cx="9144000" cy="224100"/>
          </a:xfrm>
          <a:prstGeom prst="rect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2" name="Google Shape;952;p17"/>
          <p:cNvSpPr/>
          <p:nvPr/>
        </p:nvSpPr>
        <p:spPr>
          <a:xfrm>
            <a:off x="4507992" y="4892040"/>
            <a:ext cx="128100" cy="128100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3" name="Google Shape;953;p17"/>
          <p:cNvSpPr/>
          <p:nvPr/>
        </p:nvSpPr>
        <p:spPr>
          <a:xfrm>
            <a:off x="7464574" y="4374262"/>
            <a:ext cx="1448700" cy="26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2026   |   23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4" name="Google Shape;954;p17"/>
          <p:cNvSpPr/>
          <p:nvPr/>
        </p:nvSpPr>
        <p:spPr>
          <a:xfrm>
            <a:off x="182828" y="868677"/>
            <a:ext cx="8730300" cy="377100"/>
          </a:xfrm>
          <a:prstGeom prst="rect">
            <a:avLst/>
          </a:prstGeom>
          <a:solidFill>
            <a:srgbClr val="4A0D0B"/>
          </a:solidFill>
          <a:ln cap="flat" cmpd="sng" w="9525">
            <a:solidFill>
              <a:srgbClr val="4A0D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5" name="Google Shape;955;p17"/>
          <p:cNvSpPr/>
          <p:nvPr/>
        </p:nvSpPr>
        <p:spPr>
          <a:xfrm>
            <a:off x="265124" y="868677"/>
            <a:ext cx="85929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C933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BC933E"/>
                </a:solidFill>
                <a:latin typeface="Calibri"/>
                <a:ea typeface="Calibri"/>
                <a:cs typeface="Calibri"/>
                <a:sym typeface="Calibri"/>
              </a:rPr>
              <a:t>P(a|s) = exp(Q(s,a)/T_temp) / Σ_k exp(Q(s,k)/T_temp)    T_temp=0.5  |  ε_t = max{0.1, 0.98^t}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6" name="Google Shape;956;p17"/>
          <p:cNvSpPr/>
          <p:nvPr/>
        </p:nvSpPr>
        <p:spPr>
          <a:xfrm>
            <a:off x="182828" y="1321305"/>
            <a:ext cx="3806100" cy="219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8575">
              <a:srgbClr val="000000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7" name="Google Shape;957;p17"/>
          <p:cNvSpPr/>
          <p:nvPr/>
        </p:nvSpPr>
        <p:spPr>
          <a:xfrm>
            <a:off x="182828" y="1321305"/>
            <a:ext cx="3806100" cy="288000"/>
          </a:xfrm>
          <a:prstGeom prst="rect">
            <a:avLst/>
          </a:prstGeom>
          <a:solidFill>
            <a:srgbClr val="4A0D0B"/>
          </a:solidFill>
          <a:ln cap="flat" cmpd="sng" w="9525">
            <a:solidFill>
              <a:srgbClr val="4A0D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8" name="Google Shape;958;p17"/>
          <p:cNvSpPr/>
          <p:nvPr/>
        </p:nvSpPr>
        <p:spPr>
          <a:xfrm>
            <a:off x="265124" y="1321305"/>
            <a:ext cx="3669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Boltzmann vs ε-Greedy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59" name="Google Shape;959;p17"/>
          <p:cNvGraphicFramePr/>
          <p:nvPr/>
        </p:nvGraphicFramePr>
        <p:xfrm>
          <a:off x="182828" y="160934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{3027E2C3-9FC2-4D8F-B117-58EA10EDBB89}</a:tableStyleId>
              </a:tblPr>
              <a:tblGrid>
                <a:gridCol w="1440200"/>
                <a:gridCol w="1152150"/>
                <a:gridCol w="1213875"/>
              </a:tblGrid>
              <a:tr h="253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55555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5555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Property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6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D1916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7D191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ε-Greedy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6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0D0B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4A0D0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Boltzmann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6F3"/>
                    </a:solidFill>
                  </a:tcPr>
                </a:tc>
              </a:tr>
              <a:tr h="253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Exploration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6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D1916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7D191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Uniform random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0D0B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4A0D0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Q-value weighted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EDE8"/>
                    </a:solidFill>
                  </a:tcPr>
                </a:tc>
              </a:tr>
              <a:tr h="253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Bad node visits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D1916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7D191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Frequent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0D0B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4A0D0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Rare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4F0"/>
                    </a:solidFill>
                  </a:tcPr>
                </a:tc>
              </a:tr>
              <a:tr h="253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T→0 behaviour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6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D1916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7D191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Like SDF (fail)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0D0B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4A0D0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Pure argmax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EDE8"/>
                    </a:solidFill>
                  </a:tcPr>
                </a:tc>
              </a:tr>
              <a:tr h="253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T→∞ behaviour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D1916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7D191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Uniform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0D0B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4A0D0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Uniform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4F0"/>
                    </a:solidFill>
                  </a:tcPr>
                </a:tc>
              </a:tr>
              <a:tr h="253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Herd Effect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6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D1916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7D191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 broken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0D0B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4A0D0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BROKEN ✓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EDE8"/>
                    </a:solidFill>
                  </a:tcPr>
                </a:tc>
              </a:tr>
              <a:tr h="253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12.6% explore?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D1916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7D191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Still sync'd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0D0B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4A0D0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Load spread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4F0"/>
                    </a:solidFill>
                  </a:tcPr>
                </a:tc>
              </a:tr>
            </a:tbl>
          </a:graphicData>
        </a:graphic>
      </p:graphicFrame>
      <p:pic>
        <p:nvPicPr>
          <p:cNvPr id="960" name="Google Shape;96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28" y="3598161"/>
            <a:ext cx="3806100" cy="1166100"/>
          </a:xfrm>
          <a:prstGeom prst="rect">
            <a:avLst/>
          </a:prstGeom>
          <a:noFill/>
          <a:ln>
            <a:noFill/>
          </a:ln>
        </p:spPr>
      </p:pic>
      <p:sp>
        <p:nvSpPr>
          <p:cNvPr id="961" name="Google Shape;961;p17"/>
          <p:cNvSpPr/>
          <p:nvPr/>
        </p:nvSpPr>
        <p:spPr>
          <a:xfrm>
            <a:off x="4126175" y="1321300"/>
            <a:ext cx="4786800" cy="3298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8575">
              <a:srgbClr val="000000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2" name="Google Shape;962;p17"/>
          <p:cNvSpPr/>
          <p:nvPr/>
        </p:nvSpPr>
        <p:spPr>
          <a:xfrm>
            <a:off x="4126175" y="1321300"/>
            <a:ext cx="4786800" cy="276000"/>
          </a:xfrm>
          <a:prstGeom prst="rect">
            <a:avLst/>
          </a:prstGeom>
          <a:solidFill>
            <a:srgbClr val="4A0D0B"/>
          </a:solidFill>
          <a:ln cap="flat" cmpd="sng" w="9525">
            <a:solidFill>
              <a:srgbClr val="4A0D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3" name="Google Shape;963;p17"/>
          <p:cNvSpPr/>
          <p:nvPr/>
        </p:nvSpPr>
        <p:spPr>
          <a:xfrm>
            <a:off x="4207653" y="1321300"/>
            <a:ext cx="4650900" cy="27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Reward Function Design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4" name="Google Shape;964;p17"/>
          <p:cNvSpPr/>
          <p:nvPr/>
        </p:nvSpPr>
        <p:spPr>
          <a:xfrm>
            <a:off x="4194074" y="1662951"/>
            <a:ext cx="4650900" cy="197100"/>
          </a:xfrm>
          <a:prstGeom prst="rect">
            <a:avLst/>
          </a:prstGeom>
          <a:solidFill>
            <a:srgbClr val="4A0D0B">
              <a:alpha val="12156"/>
            </a:srgbClr>
          </a:solidFill>
          <a:ln cap="flat" cmpd="sng" w="9525">
            <a:solidFill>
              <a:srgbClr val="4A0D0B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5" name="Google Shape;965;p17"/>
          <p:cNvSpPr/>
          <p:nvPr/>
        </p:nvSpPr>
        <p:spPr>
          <a:xfrm>
            <a:off x="4248392" y="1662951"/>
            <a:ext cx="4562700" cy="19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0D0B"/>
              </a:buClr>
              <a:buSzPts val="900"/>
              <a:buFont typeface="Calibri"/>
              <a:buNone/>
            </a:pPr>
            <a:r>
              <a:rPr b="1" i="0" lang="en-US" sz="1100" u="none" cap="none" strike="noStrike">
                <a:solidFill>
                  <a:srgbClr val="4A0D0B"/>
                </a:solidFill>
                <a:latin typeface="Calibri"/>
                <a:ea typeface="Calibri"/>
                <a:cs typeface="Calibri"/>
                <a:sym typeface="Calibri"/>
              </a:rPr>
              <a:t>SUCCESS  (T_soj ≤ τ)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6" name="Google Shape;966;p17"/>
          <p:cNvSpPr/>
          <p:nvPr/>
        </p:nvSpPr>
        <p:spPr>
          <a:xfrm>
            <a:off x="4194074" y="1873198"/>
            <a:ext cx="4650900" cy="236400"/>
          </a:xfrm>
          <a:prstGeom prst="rect">
            <a:avLst/>
          </a:prstGeom>
          <a:solidFill>
            <a:srgbClr val="4A0D0B">
              <a:alpha val="10196"/>
            </a:srgbClr>
          </a:solidFill>
          <a:ln cap="flat" cmpd="sng" w="9525">
            <a:solidFill>
              <a:srgbClr val="4A0D0B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7" name="Google Shape;967;p17"/>
          <p:cNvSpPr/>
          <p:nvPr/>
        </p:nvSpPr>
        <p:spPr>
          <a:xfrm>
            <a:off x="4261972" y="1873198"/>
            <a:ext cx="4549500" cy="23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8575" lIns="28575" spcFirstLastPara="1" rIns="28575" wrap="square" tIns="2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0D0B"/>
              </a:buClr>
              <a:buSzPts val="900"/>
              <a:buFont typeface="Calibri"/>
              <a:buNone/>
            </a:pPr>
            <a:r>
              <a:rPr b="1" i="0" lang="en-US" sz="1100" u="none" cap="none" strike="noStrike">
                <a:solidFill>
                  <a:srgbClr val="4A0D0B"/>
                </a:solidFill>
                <a:latin typeface="Calibri"/>
                <a:ea typeface="Calibri"/>
                <a:cs typeface="Calibri"/>
                <a:sym typeface="Calibri"/>
              </a:rPr>
              <a:t>r  =  50 / exp(W_q[target])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8" name="Google Shape;968;p17"/>
          <p:cNvSpPr/>
          <p:nvPr/>
        </p:nvSpPr>
        <p:spPr>
          <a:xfrm>
            <a:off x="4248392" y="2136007"/>
            <a:ext cx="4562700" cy="34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Calibri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 reward = 50 when target is idle (W_q≈0). Reward → 0 as queue grows. Incentivises routing to idle nodes EVEN when task succeeds. Builds long-term discipline.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9" name="Google Shape;969;p17"/>
          <p:cNvSpPr/>
          <p:nvPr/>
        </p:nvSpPr>
        <p:spPr>
          <a:xfrm>
            <a:off x="4194074" y="2543360"/>
            <a:ext cx="4650900" cy="197100"/>
          </a:xfrm>
          <a:prstGeom prst="rect">
            <a:avLst/>
          </a:prstGeom>
          <a:solidFill>
            <a:srgbClr val="7D1916">
              <a:alpha val="12156"/>
            </a:srgbClr>
          </a:solidFill>
          <a:ln cap="flat" cmpd="sng" w="9525">
            <a:solidFill>
              <a:srgbClr val="7D191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0" name="Google Shape;970;p17"/>
          <p:cNvSpPr/>
          <p:nvPr/>
        </p:nvSpPr>
        <p:spPr>
          <a:xfrm>
            <a:off x="4248392" y="2543360"/>
            <a:ext cx="4562700" cy="19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1916"/>
              </a:buClr>
              <a:buSzPts val="900"/>
              <a:buFont typeface="Calibri"/>
              <a:buNone/>
            </a:pPr>
            <a:r>
              <a:rPr b="1" i="0" lang="en-US" sz="1100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FAILURE  (T_soj &gt; τ)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1" name="Google Shape;971;p17"/>
          <p:cNvSpPr/>
          <p:nvPr/>
        </p:nvSpPr>
        <p:spPr>
          <a:xfrm>
            <a:off x="4194074" y="2753607"/>
            <a:ext cx="4650900" cy="236400"/>
          </a:xfrm>
          <a:prstGeom prst="rect">
            <a:avLst/>
          </a:prstGeom>
          <a:solidFill>
            <a:srgbClr val="7D1916">
              <a:alpha val="10196"/>
            </a:srgbClr>
          </a:solidFill>
          <a:ln cap="flat" cmpd="sng" w="9525">
            <a:solidFill>
              <a:srgbClr val="7D191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2" name="Google Shape;972;p17"/>
          <p:cNvSpPr/>
          <p:nvPr/>
        </p:nvSpPr>
        <p:spPr>
          <a:xfrm>
            <a:off x="4261972" y="2753607"/>
            <a:ext cx="4549500" cy="23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8575" lIns="28575" spcFirstLastPara="1" rIns="28575" wrap="square" tIns="2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1916"/>
              </a:buClr>
              <a:buSzPts val="900"/>
              <a:buFont typeface="Calibri"/>
              <a:buNone/>
            </a:pPr>
            <a:r>
              <a:rPr b="1" i="0" lang="en-US" sz="1100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r  =  −( T²_soj  +  exp(W_q[target]) 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3" name="Google Shape;973;p17"/>
          <p:cNvSpPr/>
          <p:nvPr/>
        </p:nvSpPr>
        <p:spPr>
          <a:xfrm>
            <a:off x="4248392" y="3029556"/>
            <a:ext cx="4562700" cy="31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Calibri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T² mirrors Jensen convexity — penalises long delays more severely. exp(W_q) mirrors the M/G/1 completion formula — exponential penalty for congestion routing.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4" name="Google Shape;974;p17"/>
          <p:cNvSpPr/>
          <p:nvPr/>
        </p:nvSpPr>
        <p:spPr>
          <a:xfrm>
            <a:off x="7052321" y="4530321"/>
            <a:ext cx="18201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2026   |   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1EE"/>
        </a:solidFill>
      </p:bgPr>
    </p:bg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p18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1916"/>
              </a:buClr>
              <a:buSzPts val="2600"/>
              <a:buFont typeface="Calibri"/>
              <a:buNone/>
            </a:pPr>
            <a:r>
              <a:rPr b="1" i="0" lang="en-US" sz="2800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DDQN: Double Networks &amp; Experience Replay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1" name="Google Shape;981;p18"/>
          <p:cNvSpPr/>
          <p:nvPr/>
        </p:nvSpPr>
        <p:spPr>
          <a:xfrm>
            <a:off x="457200" y="868680"/>
            <a:ext cx="8229600" cy="22860"/>
          </a:xfrm>
          <a:prstGeom prst="rect">
            <a:avLst/>
          </a:prstGeom>
          <a:solidFill>
            <a:srgbClr val="EAE8E4"/>
          </a:solidFill>
          <a:ln cap="flat" cmpd="sng" w="12700">
            <a:solidFill>
              <a:srgbClr val="EAE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2" name="Google Shape;982;p18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3" name="Google Shape;983;p18"/>
          <p:cNvSpPr/>
          <p:nvPr/>
        </p:nvSpPr>
        <p:spPr>
          <a:xfrm>
            <a:off x="4507992" y="4892040"/>
            <a:ext cx="128016" cy="128016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4" name="Google Shape;984;p18"/>
          <p:cNvSpPr/>
          <p:nvPr/>
        </p:nvSpPr>
        <p:spPr>
          <a:xfrm>
            <a:off x="7498080" y="450799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2026   |   27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5" name="Google Shape;985;p18"/>
          <p:cNvSpPr/>
          <p:nvPr/>
        </p:nvSpPr>
        <p:spPr>
          <a:xfrm>
            <a:off x="457200" y="987552"/>
            <a:ext cx="8229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1916"/>
              </a:buClr>
              <a:buSzPts val="1500"/>
              <a:buFont typeface="Calibri"/>
              <a:buNone/>
            </a:pPr>
            <a:r>
              <a:rPr b="1" i="0" lang="en-US" sz="1700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Why DOUBLE Q-Network? — Preventing Overestimation Bias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6" name="Google Shape;986;p18"/>
          <p:cNvSpPr/>
          <p:nvPr/>
        </p:nvSpPr>
        <p:spPr>
          <a:xfrm>
            <a:off x="457200" y="1371600"/>
            <a:ext cx="3840480" cy="1664208"/>
          </a:xfrm>
          <a:prstGeom prst="rect">
            <a:avLst/>
          </a:prstGeom>
          <a:solidFill>
            <a:srgbClr val="EAE8E4"/>
          </a:solidFill>
          <a:ln cap="flat" cmpd="sng" w="12700">
            <a:solidFill>
              <a:srgbClr val="EAE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7" name="Google Shape;987;p18"/>
          <p:cNvSpPr/>
          <p:nvPr/>
        </p:nvSpPr>
        <p:spPr>
          <a:xfrm>
            <a:off x="457200" y="1371600"/>
            <a:ext cx="3840480" cy="347472"/>
          </a:xfrm>
          <a:prstGeom prst="rect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8" name="Google Shape;988;p18"/>
          <p:cNvSpPr/>
          <p:nvPr/>
        </p:nvSpPr>
        <p:spPr>
          <a:xfrm>
            <a:off x="548640" y="1389888"/>
            <a:ext cx="3657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Policy Network Q_θ  (online)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9" name="Google Shape;989;p18"/>
          <p:cNvSpPr/>
          <p:nvPr/>
        </p:nvSpPr>
        <p:spPr>
          <a:xfrm>
            <a:off x="566928" y="1773936"/>
            <a:ext cx="3611880" cy="1170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848"/>
              </a:buClr>
              <a:buSzPts val="1150"/>
              <a:buFont typeface="Calibri"/>
              <a:buNone/>
            </a:pPr>
            <a:r>
              <a:rPr b="0" i="0" lang="en-US" sz="1350" u="none" cap="none" strike="noStrike">
                <a:solidFill>
                  <a:srgbClr val="444848"/>
                </a:solidFill>
                <a:latin typeface="Calibri"/>
                <a:ea typeface="Calibri"/>
                <a:cs typeface="Calibri"/>
                <a:sym typeface="Calibri"/>
              </a:rPr>
              <a:t>Updated every training step.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848"/>
              </a:buClr>
              <a:buSzPts val="1150"/>
              <a:buFont typeface="Calibri"/>
              <a:buNone/>
            </a:pPr>
            <a:r>
              <a:rPr b="0" i="0" lang="en-US" sz="1350" u="none" cap="none" strike="noStrike">
                <a:solidFill>
                  <a:srgbClr val="444848"/>
                </a:solidFill>
                <a:latin typeface="Calibri"/>
                <a:ea typeface="Calibri"/>
                <a:cs typeface="Calibri"/>
                <a:sym typeface="Calibri"/>
              </a:rPr>
              <a:t>Responsible for SELECTING which action looks best.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848"/>
              </a:buClr>
              <a:buSzPts val="1150"/>
              <a:buFont typeface="Calibri"/>
              <a:buNone/>
            </a:pPr>
            <a:r>
              <a:rPr b="0" i="0" lang="en-US" sz="1350" u="none" cap="none" strike="noStrike">
                <a:solidFill>
                  <a:srgbClr val="444848"/>
                </a:solidFill>
                <a:latin typeface="Calibri"/>
                <a:ea typeface="Calibri"/>
                <a:cs typeface="Calibri"/>
                <a:sym typeface="Calibri"/>
              </a:rPr>
              <a:t>Argmax over Q values from this network.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0" name="Google Shape;990;p18"/>
          <p:cNvSpPr/>
          <p:nvPr/>
        </p:nvSpPr>
        <p:spPr>
          <a:xfrm>
            <a:off x="4846320" y="1371600"/>
            <a:ext cx="3840480" cy="1664208"/>
          </a:xfrm>
          <a:prstGeom prst="rect">
            <a:avLst/>
          </a:prstGeom>
          <a:solidFill>
            <a:srgbClr val="EAE8E4"/>
          </a:solidFill>
          <a:ln cap="flat" cmpd="sng" w="12700">
            <a:solidFill>
              <a:srgbClr val="EAE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1" name="Google Shape;991;p18"/>
          <p:cNvSpPr/>
          <p:nvPr/>
        </p:nvSpPr>
        <p:spPr>
          <a:xfrm>
            <a:off x="4846320" y="1371600"/>
            <a:ext cx="3840480" cy="347472"/>
          </a:xfrm>
          <a:prstGeom prst="rect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2" name="Google Shape;992;p18"/>
          <p:cNvSpPr/>
          <p:nvPr/>
        </p:nvSpPr>
        <p:spPr>
          <a:xfrm>
            <a:off x="4937760" y="1389888"/>
            <a:ext cx="3657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Target Network Q_θ⁻  (stable)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3" name="Google Shape;993;p18"/>
          <p:cNvSpPr/>
          <p:nvPr/>
        </p:nvSpPr>
        <p:spPr>
          <a:xfrm>
            <a:off x="4956048" y="1773936"/>
            <a:ext cx="3611880" cy="1170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848"/>
              </a:buClr>
              <a:buSzPts val="1150"/>
              <a:buFont typeface="Calibri"/>
              <a:buNone/>
            </a:pPr>
            <a:r>
              <a:rPr b="0" i="0" lang="en-US" sz="1350" u="none" cap="none" strike="noStrike">
                <a:solidFill>
                  <a:srgbClr val="444848"/>
                </a:solidFill>
                <a:latin typeface="Calibri"/>
                <a:ea typeface="Calibri"/>
                <a:cs typeface="Calibri"/>
                <a:sym typeface="Calibri"/>
              </a:rPr>
              <a:t>Updated every 5 episodes by copying policy weights.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848"/>
              </a:buClr>
              <a:buSzPts val="1150"/>
              <a:buFont typeface="Calibri"/>
              <a:buNone/>
            </a:pPr>
            <a:r>
              <a:rPr b="0" i="0" lang="en-US" sz="1350" u="none" cap="none" strike="noStrike">
                <a:solidFill>
                  <a:srgbClr val="444848"/>
                </a:solidFill>
                <a:latin typeface="Calibri"/>
                <a:ea typeface="Calibri"/>
                <a:cs typeface="Calibri"/>
                <a:sym typeface="Calibri"/>
              </a:rPr>
              <a:t>Responsible for EVALUATING the selected action.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848"/>
              </a:buClr>
              <a:buSzPts val="1150"/>
              <a:buFont typeface="Calibri"/>
              <a:buNone/>
            </a:pPr>
            <a:r>
              <a:rPr b="0" i="0" lang="en-US" sz="1350" u="none" cap="none" strike="noStrike">
                <a:solidFill>
                  <a:srgbClr val="444848"/>
                </a:solidFill>
                <a:latin typeface="Calibri"/>
                <a:ea typeface="Calibri"/>
                <a:cs typeface="Calibri"/>
                <a:sym typeface="Calibri"/>
              </a:rPr>
              <a:t>Prevents moving-target instability.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4" name="Google Shape;994;p18"/>
          <p:cNvSpPr/>
          <p:nvPr/>
        </p:nvSpPr>
        <p:spPr>
          <a:xfrm>
            <a:off x="457200" y="3154680"/>
            <a:ext cx="8229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1916"/>
              </a:buClr>
              <a:buSzPts val="1400"/>
              <a:buFont typeface="Calibri"/>
              <a:buNone/>
            </a:pPr>
            <a:r>
              <a:rPr b="1" i="0" lang="en-US" sz="1600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Experience Replay Buffer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5" name="Google Shape;995;p18"/>
          <p:cNvSpPr/>
          <p:nvPr/>
        </p:nvSpPr>
        <p:spPr>
          <a:xfrm>
            <a:off x="457200" y="3520440"/>
            <a:ext cx="8229600" cy="502920"/>
          </a:xfrm>
          <a:prstGeom prst="rect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6" name="Google Shape;996;p18"/>
          <p:cNvSpPr/>
          <p:nvPr/>
        </p:nvSpPr>
        <p:spPr>
          <a:xfrm>
            <a:off x="594360" y="3557016"/>
            <a:ext cx="795528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Store each transition as  (s, a, r, s')  →  Buffer size: 5,000  →  Sample 64 randomly per training step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7" name="Google Shape;997;p18"/>
          <p:cNvSpPr/>
          <p:nvPr/>
        </p:nvSpPr>
        <p:spPr>
          <a:xfrm>
            <a:off x="457200" y="4096503"/>
            <a:ext cx="82296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848"/>
              </a:buClr>
              <a:buSzPts val="1200"/>
              <a:buFont typeface="Calibri"/>
              <a:buNone/>
            </a:pPr>
            <a:r>
              <a:rPr b="0" i="0" lang="en-US" sz="1400" u="none" cap="none" strike="noStrike">
                <a:solidFill>
                  <a:srgbClr val="444848"/>
                </a:solidFill>
                <a:latin typeface="Calibri"/>
                <a:ea typeface="Calibri"/>
                <a:cs typeface="Calibri"/>
                <a:sym typeface="Calibri"/>
              </a:rPr>
              <a:t>WHY random sampling? Queue backlog W_q has temporal autocorrelation — consecutive experiences share the same congestion state. Random sampling breaks this correlation and enables stable, unbiased learning.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1EE"/>
        </a:solidFill>
      </p:bgPr>
    </p:bg>
    <p:spTree>
      <p:nvGrpSpPr>
        <p:cNvPr id="1002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p19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1916"/>
              </a:buClr>
              <a:buSzPts val="2600"/>
              <a:buFont typeface="Calibri"/>
              <a:buNone/>
            </a:pPr>
            <a:r>
              <a:rPr b="1" i="0" lang="en-US" sz="3100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Correlated Workload Model (M4 Upgrade)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4" name="Google Shape;1004;p19"/>
          <p:cNvSpPr/>
          <p:nvPr/>
        </p:nvSpPr>
        <p:spPr>
          <a:xfrm>
            <a:off x="457200" y="868680"/>
            <a:ext cx="8229600" cy="22860"/>
          </a:xfrm>
          <a:prstGeom prst="rect">
            <a:avLst/>
          </a:prstGeom>
          <a:solidFill>
            <a:srgbClr val="EAE8E4"/>
          </a:solidFill>
          <a:ln cap="flat" cmpd="sng" w="12700">
            <a:solidFill>
              <a:srgbClr val="EAE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5" name="Google Shape;1005;p19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6" name="Google Shape;1006;p19"/>
          <p:cNvSpPr/>
          <p:nvPr/>
        </p:nvSpPr>
        <p:spPr>
          <a:xfrm>
            <a:off x="4507992" y="4892040"/>
            <a:ext cx="128016" cy="128016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7" name="Google Shape;1007;p19"/>
          <p:cNvSpPr/>
          <p:nvPr/>
        </p:nvSpPr>
        <p:spPr>
          <a:xfrm>
            <a:off x="7498080" y="450799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2026   |   28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8" name="Google Shape;1008;p19"/>
          <p:cNvSpPr/>
          <p:nvPr/>
        </p:nvSpPr>
        <p:spPr>
          <a:xfrm>
            <a:off x="457200" y="987552"/>
            <a:ext cx="8229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191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The Root Cause of M3's Systematic Underestimation — Fixed in M4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9" name="Google Shape;1009;p19"/>
          <p:cNvSpPr/>
          <p:nvPr/>
        </p:nvSpPr>
        <p:spPr>
          <a:xfrm>
            <a:off x="457200" y="1389900"/>
            <a:ext cx="2622300" cy="1783200"/>
          </a:xfrm>
          <a:prstGeom prst="rect">
            <a:avLst/>
          </a:prstGeom>
          <a:solidFill>
            <a:srgbClr val="ECEAE6"/>
          </a:solidFill>
          <a:ln cap="flat" cmpd="sng" w="12700">
            <a:solidFill>
              <a:srgbClr val="D0CE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0" name="Google Shape;1010;p19"/>
          <p:cNvSpPr/>
          <p:nvPr/>
        </p:nvSpPr>
        <p:spPr>
          <a:xfrm>
            <a:off x="457200" y="1389900"/>
            <a:ext cx="2622300" cy="347400"/>
          </a:xfrm>
          <a:prstGeom prst="rect">
            <a:avLst/>
          </a:prstGeom>
          <a:solidFill>
            <a:srgbClr val="B0A09E"/>
          </a:solidFill>
          <a:ln cap="flat" cmpd="sng" w="12700">
            <a:solidFill>
              <a:srgbClr val="B0A0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1" name="Google Shape;1011;p19"/>
          <p:cNvSpPr/>
          <p:nvPr/>
        </p:nvSpPr>
        <p:spPr>
          <a:xfrm>
            <a:off x="519634" y="1408188"/>
            <a:ext cx="24975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M3 ASSUMPTION (WRONG)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2" name="Google Shape;1012;p19"/>
          <p:cNvSpPr/>
          <p:nvPr/>
        </p:nvSpPr>
        <p:spPr>
          <a:xfrm>
            <a:off x="532121" y="1792236"/>
            <a:ext cx="2466300" cy="129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84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 and Y are INDEPENDENT.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84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f(X,Y) = f(X) × f(Y)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84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Knowing task size X tells you nothing about CPU demand Y.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84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Result: Systematically underestimates sojourn time of large tasks.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3" name="Google Shape;1013;p19"/>
          <p:cNvSpPr/>
          <p:nvPr/>
        </p:nvSpPr>
        <p:spPr>
          <a:xfrm>
            <a:off x="3454050" y="1389900"/>
            <a:ext cx="2622300" cy="1783200"/>
          </a:xfrm>
          <a:prstGeom prst="rect">
            <a:avLst/>
          </a:prstGeom>
          <a:solidFill>
            <a:srgbClr val="EAE8E4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4" name="Google Shape;1014;p19"/>
          <p:cNvSpPr/>
          <p:nvPr/>
        </p:nvSpPr>
        <p:spPr>
          <a:xfrm>
            <a:off x="3454050" y="1389900"/>
            <a:ext cx="2622300" cy="347400"/>
          </a:xfrm>
          <a:prstGeom prst="rect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5" name="Google Shape;1015;p19"/>
          <p:cNvSpPr/>
          <p:nvPr/>
        </p:nvSpPr>
        <p:spPr>
          <a:xfrm>
            <a:off x="3516484" y="1408188"/>
            <a:ext cx="24975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M4 REALITY (CORRECT)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6" name="Google Shape;1016;p19"/>
          <p:cNvSpPr/>
          <p:nvPr/>
        </p:nvSpPr>
        <p:spPr>
          <a:xfrm>
            <a:off x="3528971" y="1792236"/>
            <a:ext cx="2466300" cy="129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84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 = 5X + ε,  ε ~ N(0.5, 0.01)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84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Pearson ρ = +0.55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84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Large tasks are BOTH bigger to transmit AND more expensive to compute — positively correlated.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84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F(X,Y) ≠ F(X) × F(Y)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7" name="Google Shape;1017;p19"/>
          <p:cNvSpPr/>
          <p:nvPr/>
        </p:nvSpPr>
        <p:spPr>
          <a:xfrm>
            <a:off x="457200" y="3273552"/>
            <a:ext cx="8229600" cy="502800"/>
          </a:xfrm>
          <a:prstGeom prst="rect">
            <a:avLst/>
          </a:prstGeom>
          <a:solidFill>
            <a:srgbClr val="EAE8E4"/>
          </a:solidFill>
          <a:ln cap="flat" cmpd="sng" w="12700">
            <a:solidFill>
              <a:srgbClr val="EAE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8" name="Google Shape;1018;p19"/>
          <p:cNvSpPr/>
          <p:nvPr/>
        </p:nvSpPr>
        <p:spPr>
          <a:xfrm>
            <a:off x="457200" y="3273552"/>
            <a:ext cx="91500" cy="502800"/>
          </a:xfrm>
          <a:prstGeom prst="rect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9" name="Google Shape;1019;p19"/>
          <p:cNvSpPr/>
          <p:nvPr/>
        </p:nvSpPr>
        <p:spPr>
          <a:xfrm>
            <a:off x="658368" y="3310128"/>
            <a:ext cx="78639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84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Impact on M3: SDF thought large-X tasks were manageable. They were also large-Y tasks. Nodes got overloaded beyond prediction — feeding the Herd Effect.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0" name="Google Shape;1020;p19"/>
          <p:cNvSpPr/>
          <p:nvPr/>
        </p:nvSpPr>
        <p:spPr>
          <a:xfrm>
            <a:off x="457200" y="3877056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1916"/>
              </a:buClr>
              <a:buSzPts val="1200"/>
              <a:buFont typeface="Calibri"/>
              <a:buNone/>
            </a:pPr>
            <a:r>
              <a:rPr b="1" i="0" lang="en-US" sz="1700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DDQN 6-Step Per-Decision Pipeline: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1" name="Google Shape;1021;p19"/>
          <p:cNvSpPr/>
          <p:nvPr/>
        </p:nvSpPr>
        <p:spPr>
          <a:xfrm>
            <a:off x="457200" y="4206240"/>
            <a:ext cx="8229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848"/>
              </a:buClr>
              <a:buSzPts val="12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① SENSE state  →  ② INFER Q-values  →  ③ DECIDE (Boltzmann sample)  →  ④ EXECUTE  →  ⑤ LEARN  →  ⑥ Herd Effect Broken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2" name="Google Shape;1022;p19"/>
          <p:cNvSpPr/>
          <p:nvPr/>
        </p:nvSpPr>
        <p:spPr>
          <a:xfrm>
            <a:off x="6277725" y="1083525"/>
            <a:ext cx="2409000" cy="2190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  <a:effectLst>
            <a:outerShdw blurRad="42691" rotWithShape="0" algn="bl" dir="8100000" dist="16009">
              <a:srgbClr val="000000">
                <a:alpha val="12156"/>
              </a:srgbClr>
            </a:outerShdw>
          </a:effectLst>
        </p:spPr>
        <p:txBody>
          <a:bodyPr anchorCtr="0" anchor="ctr" bIns="38400" lIns="38400" spcFirstLastPara="1" rIns="38400" wrap="square" tIns="38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3" name="Google Shape;1023;p19"/>
          <p:cNvSpPr/>
          <p:nvPr/>
        </p:nvSpPr>
        <p:spPr>
          <a:xfrm>
            <a:off x="6277725" y="952300"/>
            <a:ext cx="2409000" cy="292500"/>
          </a:xfrm>
          <a:prstGeom prst="rect">
            <a:avLst/>
          </a:prstGeom>
          <a:solidFill>
            <a:srgbClr val="4A0D0B"/>
          </a:solidFill>
          <a:ln cap="flat" cmpd="sng" w="9525">
            <a:solidFill>
              <a:srgbClr val="4A0D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400" lIns="38400" spcFirstLastPara="1" rIns="38400" wrap="square" tIns="38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4" name="Google Shape;1024;p19"/>
          <p:cNvSpPr/>
          <p:nvPr/>
        </p:nvSpPr>
        <p:spPr>
          <a:xfrm>
            <a:off x="6277725" y="970625"/>
            <a:ext cx="2379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350" lIns="21350" spcFirstLastPara="1" rIns="21350" wrap="square" tIns="213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6"/>
              <a:buFont typeface="Calibri"/>
              <a:buNone/>
            </a:pPr>
            <a:r>
              <a:rPr b="1" i="0" lang="en-US" sz="9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Joint Distribution f(X,Y) — Scatter Plot with Trend Line (ρ=+0.55)</a:t>
            </a:r>
            <a:endParaRPr b="0" i="0" sz="946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5" name="Google Shape;1025;p19"/>
          <p:cNvSpPr/>
          <p:nvPr/>
        </p:nvSpPr>
        <p:spPr>
          <a:xfrm>
            <a:off x="6322199" y="1298688"/>
            <a:ext cx="2319900" cy="1851900"/>
          </a:xfrm>
          <a:prstGeom prst="rect">
            <a:avLst/>
          </a:prstGeom>
          <a:solidFill>
            <a:srgbClr val="F8F6F3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400" lIns="38400" spcFirstLastPara="1" rIns="38400" wrap="square" tIns="38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1"/>
              <a:buFont typeface="Arial"/>
              <a:buNone/>
            </a:pPr>
            <a:r>
              <a:t/>
            </a:r>
            <a:endParaRPr b="0" i="0" sz="135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6" name="Google Shape;1026;p19"/>
          <p:cNvSpPr/>
          <p:nvPr/>
        </p:nvSpPr>
        <p:spPr>
          <a:xfrm>
            <a:off x="6266625" y="3004298"/>
            <a:ext cx="2409000" cy="9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99"/>
              <a:buFont typeface="Calibri"/>
              <a:buNone/>
            </a:pPr>
            <a:r>
              <a:rPr b="0" i="0" lang="en-US" sz="79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CPU Cycles Y →</a:t>
            </a:r>
            <a:endParaRPr b="0" i="0" sz="79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7" name="Google Shape;1027;p19"/>
          <p:cNvSpPr/>
          <p:nvPr/>
        </p:nvSpPr>
        <p:spPr>
          <a:xfrm>
            <a:off x="6307424" y="2914798"/>
            <a:ext cx="2319900" cy="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78"/>
              <a:buFont typeface="Calibri"/>
              <a:buNone/>
            </a:pPr>
            <a:r>
              <a:rPr b="0" i="0" lang="en-US" sz="77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Task Size X →</a:t>
            </a:r>
            <a:endParaRPr b="0" i="0" sz="77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8" name="Google Shape;1028;p19"/>
          <p:cNvSpPr/>
          <p:nvPr/>
        </p:nvSpPr>
        <p:spPr>
          <a:xfrm>
            <a:off x="6703935" y="2730122"/>
            <a:ext cx="51900" cy="45900"/>
          </a:xfrm>
          <a:prstGeom prst="ellipse">
            <a:avLst/>
          </a:prstGeom>
          <a:solidFill>
            <a:srgbClr val="7D1916">
              <a:alpha val="85098"/>
            </a:srgbClr>
          </a:solidFill>
          <a:ln cap="flat" cmpd="sng" w="9525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400" lIns="38400" spcFirstLastPara="1" rIns="38400" wrap="square" tIns="38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9" name="Google Shape;1029;p19"/>
          <p:cNvSpPr/>
          <p:nvPr/>
        </p:nvSpPr>
        <p:spPr>
          <a:xfrm>
            <a:off x="6827474" y="2622113"/>
            <a:ext cx="51900" cy="45900"/>
          </a:xfrm>
          <a:prstGeom prst="ellipse">
            <a:avLst/>
          </a:prstGeom>
          <a:solidFill>
            <a:srgbClr val="7D1916">
              <a:alpha val="85098"/>
            </a:srgbClr>
          </a:solidFill>
          <a:ln cap="flat" cmpd="sng" w="9525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400" lIns="38400" spcFirstLastPara="1" rIns="38400" wrap="square" tIns="38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0" name="Google Shape;1030;p19"/>
          <p:cNvSpPr/>
          <p:nvPr/>
        </p:nvSpPr>
        <p:spPr>
          <a:xfrm>
            <a:off x="6951014" y="2504286"/>
            <a:ext cx="51900" cy="45900"/>
          </a:xfrm>
          <a:prstGeom prst="ellipse">
            <a:avLst/>
          </a:prstGeom>
          <a:solidFill>
            <a:srgbClr val="7D1916">
              <a:alpha val="85098"/>
            </a:srgbClr>
          </a:solidFill>
          <a:ln cap="flat" cmpd="sng" w="9525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400" lIns="38400" spcFirstLastPara="1" rIns="38400" wrap="square" tIns="38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1" name="Google Shape;1031;p19"/>
          <p:cNvSpPr/>
          <p:nvPr/>
        </p:nvSpPr>
        <p:spPr>
          <a:xfrm>
            <a:off x="6765705" y="2690846"/>
            <a:ext cx="51900" cy="45900"/>
          </a:xfrm>
          <a:prstGeom prst="ellipse">
            <a:avLst/>
          </a:prstGeom>
          <a:solidFill>
            <a:srgbClr val="7D1916">
              <a:alpha val="85098"/>
            </a:srgbClr>
          </a:solidFill>
          <a:ln cap="flat" cmpd="sng" w="9525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400" lIns="38400" spcFirstLastPara="1" rIns="38400" wrap="square" tIns="38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2" name="Google Shape;1032;p19"/>
          <p:cNvSpPr/>
          <p:nvPr/>
        </p:nvSpPr>
        <p:spPr>
          <a:xfrm>
            <a:off x="7074553" y="2465010"/>
            <a:ext cx="51900" cy="45900"/>
          </a:xfrm>
          <a:prstGeom prst="ellipse">
            <a:avLst/>
          </a:prstGeom>
          <a:solidFill>
            <a:srgbClr val="7D1916">
              <a:alpha val="85098"/>
            </a:srgbClr>
          </a:solidFill>
          <a:ln cap="flat" cmpd="sng" w="9525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400" lIns="38400" spcFirstLastPara="1" rIns="38400" wrap="square" tIns="38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3" name="Google Shape;1033;p19"/>
          <p:cNvSpPr/>
          <p:nvPr/>
        </p:nvSpPr>
        <p:spPr>
          <a:xfrm>
            <a:off x="7198092" y="2347182"/>
            <a:ext cx="51900" cy="45900"/>
          </a:xfrm>
          <a:prstGeom prst="ellipse">
            <a:avLst/>
          </a:prstGeom>
          <a:solidFill>
            <a:srgbClr val="7D1916">
              <a:alpha val="85098"/>
            </a:srgbClr>
          </a:solidFill>
          <a:ln cap="flat" cmpd="sng" w="9525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400" lIns="38400" spcFirstLastPara="1" rIns="38400" wrap="square" tIns="38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4" name="Google Shape;1034;p19"/>
          <p:cNvSpPr/>
          <p:nvPr/>
        </p:nvSpPr>
        <p:spPr>
          <a:xfrm>
            <a:off x="6642166" y="2789036"/>
            <a:ext cx="51900" cy="45900"/>
          </a:xfrm>
          <a:prstGeom prst="ellipse">
            <a:avLst/>
          </a:prstGeom>
          <a:solidFill>
            <a:srgbClr val="7D1916">
              <a:alpha val="85098"/>
            </a:srgbClr>
          </a:solidFill>
          <a:ln cap="flat" cmpd="sng" w="9525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400" lIns="38400" spcFirstLastPara="1" rIns="38400" wrap="square" tIns="38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5" name="Google Shape;1035;p19"/>
          <p:cNvSpPr/>
          <p:nvPr/>
        </p:nvSpPr>
        <p:spPr>
          <a:xfrm>
            <a:off x="7321631" y="2278450"/>
            <a:ext cx="51900" cy="45900"/>
          </a:xfrm>
          <a:prstGeom prst="ellipse">
            <a:avLst/>
          </a:prstGeom>
          <a:solidFill>
            <a:srgbClr val="7D1916">
              <a:alpha val="85098"/>
            </a:srgbClr>
          </a:solidFill>
          <a:ln cap="flat" cmpd="sng" w="9525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400" lIns="38400" spcFirstLastPara="1" rIns="38400" wrap="square" tIns="38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6" name="Google Shape;1036;p19"/>
          <p:cNvSpPr/>
          <p:nvPr/>
        </p:nvSpPr>
        <p:spPr>
          <a:xfrm>
            <a:off x="7445171" y="2160622"/>
            <a:ext cx="51900" cy="45900"/>
          </a:xfrm>
          <a:prstGeom prst="ellipse">
            <a:avLst/>
          </a:prstGeom>
          <a:solidFill>
            <a:srgbClr val="7D1916">
              <a:alpha val="85098"/>
            </a:srgbClr>
          </a:solidFill>
          <a:ln cap="flat" cmpd="sng" w="9525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400" lIns="38400" spcFirstLastPara="1" rIns="38400" wrap="square" tIns="38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7" name="Google Shape;1037;p19"/>
          <p:cNvSpPr/>
          <p:nvPr/>
        </p:nvSpPr>
        <p:spPr>
          <a:xfrm>
            <a:off x="7136323" y="2406096"/>
            <a:ext cx="51900" cy="45900"/>
          </a:xfrm>
          <a:prstGeom prst="ellipse">
            <a:avLst/>
          </a:prstGeom>
          <a:solidFill>
            <a:srgbClr val="7D1916">
              <a:alpha val="85098"/>
            </a:srgbClr>
          </a:solidFill>
          <a:ln cap="flat" cmpd="sng" w="9525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400" lIns="38400" spcFirstLastPara="1" rIns="38400" wrap="square" tIns="38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8" name="Google Shape;1038;p19"/>
          <p:cNvSpPr/>
          <p:nvPr/>
        </p:nvSpPr>
        <p:spPr>
          <a:xfrm>
            <a:off x="7568710" y="2091890"/>
            <a:ext cx="51900" cy="45900"/>
          </a:xfrm>
          <a:prstGeom prst="ellipse">
            <a:avLst/>
          </a:prstGeom>
          <a:solidFill>
            <a:srgbClr val="7D1916">
              <a:alpha val="85098"/>
            </a:srgbClr>
          </a:solidFill>
          <a:ln cap="flat" cmpd="sng" w="9525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400" lIns="38400" spcFirstLastPara="1" rIns="38400" wrap="square" tIns="38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9" name="Google Shape;1039;p19"/>
          <p:cNvSpPr/>
          <p:nvPr/>
        </p:nvSpPr>
        <p:spPr>
          <a:xfrm>
            <a:off x="6889244" y="2602475"/>
            <a:ext cx="51900" cy="45900"/>
          </a:xfrm>
          <a:prstGeom prst="ellipse">
            <a:avLst/>
          </a:prstGeom>
          <a:solidFill>
            <a:srgbClr val="7D1916">
              <a:alpha val="85098"/>
            </a:srgbClr>
          </a:solidFill>
          <a:ln cap="flat" cmpd="sng" w="9525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400" lIns="38400" spcFirstLastPara="1" rIns="38400" wrap="square" tIns="38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0" name="Google Shape;1040;p19"/>
          <p:cNvSpPr/>
          <p:nvPr/>
        </p:nvSpPr>
        <p:spPr>
          <a:xfrm>
            <a:off x="7692249" y="1983881"/>
            <a:ext cx="51900" cy="45900"/>
          </a:xfrm>
          <a:prstGeom prst="ellipse">
            <a:avLst/>
          </a:prstGeom>
          <a:solidFill>
            <a:srgbClr val="7D1916">
              <a:alpha val="85098"/>
            </a:srgbClr>
          </a:solidFill>
          <a:ln cap="flat" cmpd="sng" w="9525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400" lIns="38400" spcFirstLastPara="1" rIns="38400" wrap="square" tIns="38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1" name="Google Shape;1041;p19"/>
          <p:cNvSpPr/>
          <p:nvPr/>
        </p:nvSpPr>
        <p:spPr>
          <a:xfrm>
            <a:off x="6580396" y="2857768"/>
            <a:ext cx="51900" cy="45900"/>
          </a:xfrm>
          <a:prstGeom prst="ellipse">
            <a:avLst/>
          </a:prstGeom>
          <a:solidFill>
            <a:srgbClr val="7D1916">
              <a:alpha val="85098"/>
            </a:srgbClr>
          </a:solidFill>
          <a:ln cap="flat" cmpd="sng" w="9525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400" lIns="38400" spcFirstLastPara="1" rIns="38400" wrap="square" tIns="38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2" name="Google Shape;1042;p19"/>
          <p:cNvSpPr/>
          <p:nvPr/>
        </p:nvSpPr>
        <p:spPr>
          <a:xfrm>
            <a:off x="7259862" y="2317726"/>
            <a:ext cx="51900" cy="45900"/>
          </a:xfrm>
          <a:prstGeom prst="ellipse">
            <a:avLst/>
          </a:prstGeom>
          <a:solidFill>
            <a:srgbClr val="7D1916">
              <a:alpha val="85098"/>
            </a:srgbClr>
          </a:solidFill>
          <a:ln cap="flat" cmpd="sng" w="9525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400" lIns="38400" spcFirstLastPara="1" rIns="38400" wrap="square" tIns="38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3" name="Google Shape;1043;p19"/>
          <p:cNvSpPr/>
          <p:nvPr/>
        </p:nvSpPr>
        <p:spPr>
          <a:xfrm>
            <a:off x="7815788" y="1875872"/>
            <a:ext cx="51900" cy="45900"/>
          </a:xfrm>
          <a:prstGeom prst="ellipse">
            <a:avLst/>
          </a:prstGeom>
          <a:solidFill>
            <a:srgbClr val="7D1916">
              <a:alpha val="85098"/>
            </a:srgbClr>
          </a:solidFill>
          <a:ln cap="flat" cmpd="sng" w="9525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400" lIns="38400" spcFirstLastPara="1" rIns="38400" wrap="square" tIns="38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4" name="Google Shape;1044;p19"/>
          <p:cNvSpPr/>
          <p:nvPr/>
        </p:nvSpPr>
        <p:spPr>
          <a:xfrm>
            <a:off x="6518626" y="2906863"/>
            <a:ext cx="51900" cy="45900"/>
          </a:xfrm>
          <a:prstGeom prst="ellipse">
            <a:avLst/>
          </a:prstGeom>
          <a:solidFill>
            <a:srgbClr val="7D1916">
              <a:alpha val="85098"/>
            </a:srgbClr>
          </a:solidFill>
          <a:ln cap="flat" cmpd="sng" w="9525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400" lIns="38400" spcFirstLastPara="1" rIns="38400" wrap="square" tIns="38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5" name="Google Shape;1045;p19"/>
          <p:cNvSpPr/>
          <p:nvPr/>
        </p:nvSpPr>
        <p:spPr>
          <a:xfrm>
            <a:off x="7939327" y="1787502"/>
            <a:ext cx="51900" cy="45900"/>
          </a:xfrm>
          <a:prstGeom prst="ellipse">
            <a:avLst/>
          </a:prstGeom>
          <a:solidFill>
            <a:srgbClr val="7D1916">
              <a:alpha val="85098"/>
            </a:srgbClr>
          </a:solidFill>
          <a:ln cap="flat" cmpd="sng" w="9525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400" lIns="38400" spcFirstLastPara="1" rIns="38400" wrap="square" tIns="38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6" name="Google Shape;1046;p19"/>
          <p:cNvSpPr/>
          <p:nvPr/>
        </p:nvSpPr>
        <p:spPr>
          <a:xfrm>
            <a:off x="7012783" y="2533743"/>
            <a:ext cx="51900" cy="45900"/>
          </a:xfrm>
          <a:prstGeom prst="ellipse">
            <a:avLst/>
          </a:prstGeom>
          <a:solidFill>
            <a:srgbClr val="7D1916">
              <a:alpha val="85098"/>
            </a:srgbClr>
          </a:solidFill>
          <a:ln cap="flat" cmpd="sng" w="9525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400" lIns="38400" spcFirstLastPara="1" rIns="38400" wrap="square" tIns="38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7" name="Google Shape;1047;p19"/>
          <p:cNvSpPr/>
          <p:nvPr/>
        </p:nvSpPr>
        <p:spPr>
          <a:xfrm>
            <a:off x="8062867" y="1679493"/>
            <a:ext cx="51900" cy="45900"/>
          </a:xfrm>
          <a:prstGeom prst="ellipse">
            <a:avLst/>
          </a:prstGeom>
          <a:solidFill>
            <a:srgbClr val="7D1916">
              <a:alpha val="85098"/>
            </a:srgbClr>
          </a:solidFill>
          <a:ln cap="flat" cmpd="sng" w="9525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400" lIns="38400" spcFirstLastPara="1" rIns="38400" wrap="square" tIns="38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" name="Google Shape;1048;p19"/>
          <p:cNvSpPr/>
          <p:nvPr/>
        </p:nvSpPr>
        <p:spPr>
          <a:xfrm>
            <a:off x="7754019" y="1954424"/>
            <a:ext cx="51900" cy="45900"/>
          </a:xfrm>
          <a:prstGeom prst="ellipse">
            <a:avLst/>
          </a:prstGeom>
          <a:solidFill>
            <a:srgbClr val="7D1916">
              <a:alpha val="85098"/>
            </a:srgbClr>
          </a:solidFill>
          <a:ln cap="flat" cmpd="sng" w="9525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400" lIns="38400" spcFirstLastPara="1" rIns="38400" wrap="square" tIns="38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9" name="Google Shape;1049;p19"/>
          <p:cNvSpPr/>
          <p:nvPr/>
        </p:nvSpPr>
        <p:spPr>
          <a:xfrm>
            <a:off x="6456857" y="2975596"/>
            <a:ext cx="51900" cy="45900"/>
          </a:xfrm>
          <a:prstGeom prst="ellipse">
            <a:avLst/>
          </a:prstGeom>
          <a:solidFill>
            <a:srgbClr val="7D1916">
              <a:alpha val="85098"/>
            </a:srgbClr>
          </a:solidFill>
          <a:ln cap="flat" cmpd="sng" w="9525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400" lIns="38400" spcFirstLastPara="1" rIns="38400" wrap="square" tIns="38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0" name="Google Shape;1050;p19"/>
          <p:cNvSpPr/>
          <p:nvPr/>
        </p:nvSpPr>
        <p:spPr>
          <a:xfrm>
            <a:off x="8186406" y="1620579"/>
            <a:ext cx="51900" cy="45900"/>
          </a:xfrm>
          <a:prstGeom prst="ellipse">
            <a:avLst/>
          </a:prstGeom>
          <a:solidFill>
            <a:srgbClr val="7D1916">
              <a:alpha val="85098"/>
            </a:srgbClr>
          </a:solidFill>
          <a:ln cap="flat" cmpd="sng" w="9525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400" lIns="38400" spcFirstLastPara="1" rIns="38400" wrap="square" tIns="38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1" name="Google Shape;1051;p19"/>
          <p:cNvSpPr/>
          <p:nvPr/>
        </p:nvSpPr>
        <p:spPr>
          <a:xfrm>
            <a:off x="7383401" y="2209717"/>
            <a:ext cx="51900" cy="45900"/>
          </a:xfrm>
          <a:prstGeom prst="ellipse">
            <a:avLst/>
          </a:prstGeom>
          <a:solidFill>
            <a:srgbClr val="7D1916">
              <a:alpha val="85098"/>
            </a:srgbClr>
          </a:solidFill>
          <a:ln cap="flat" cmpd="sng" w="9525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400" lIns="38400" spcFirstLastPara="1" rIns="38400" wrap="square" tIns="38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2" name="Google Shape;1052;p19"/>
          <p:cNvSpPr/>
          <p:nvPr/>
        </p:nvSpPr>
        <p:spPr>
          <a:xfrm>
            <a:off x="8001097" y="1758045"/>
            <a:ext cx="51900" cy="45900"/>
          </a:xfrm>
          <a:prstGeom prst="ellipse">
            <a:avLst/>
          </a:prstGeom>
          <a:solidFill>
            <a:srgbClr val="7D1916">
              <a:alpha val="85098"/>
            </a:srgbClr>
          </a:solidFill>
          <a:ln cap="flat" cmpd="sng" w="9525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400" lIns="38400" spcFirstLastPara="1" rIns="38400" wrap="square" tIns="38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3" name="Google Shape;1053;p19"/>
          <p:cNvSpPr/>
          <p:nvPr/>
        </p:nvSpPr>
        <p:spPr>
          <a:xfrm>
            <a:off x="6395087" y="2995234"/>
            <a:ext cx="51900" cy="45900"/>
          </a:xfrm>
          <a:prstGeom prst="ellipse">
            <a:avLst/>
          </a:prstGeom>
          <a:solidFill>
            <a:srgbClr val="7D1916">
              <a:alpha val="85098"/>
            </a:srgbClr>
          </a:solidFill>
          <a:ln cap="flat" cmpd="sng" w="9525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400" lIns="38400" spcFirstLastPara="1" rIns="38400" wrap="square" tIns="38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4" name="Google Shape;1054;p19"/>
          <p:cNvSpPr/>
          <p:nvPr/>
        </p:nvSpPr>
        <p:spPr>
          <a:xfrm>
            <a:off x="8309945" y="1551847"/>
            <a:ext cx="51900" cy="45900"/>
          </a:xfrm>
          <a:prstGeom prst="ellipse">
            <a:avLst/>
          </a:prstGeom>
          <a:solidFill>
            <a:srgbClr val="7D1916">
              <a:alpha val="85098"/>
            </a:srgbClr>
          </a:solidFill>
          <a:ln cap="flat" cmpd="sng" w="9525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400" lIns="38400" spcFirstLastPara="1" rIns="38400" wrap="square" tIns="38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5" name="Google Shape;1055;p19"/>
          <p:cNvSpPr/>
          <p:nvPr/>
        </p:nvSpPr>
        <p:spPr>
          <a:xfrm>
            <a:off x="7506940" y="2140984"/>
            <a:ext cx="51900" cy="45900"/>
          </a:xfrm>
          <a:prstGeom prst="ellipse">
            <a:avLst/>
          </a:prstGeom>
          <a:solidFill>
            <a:srgbClr val="7D1916">
              <a:alpha val="85098"/>
            </a:srgbClr>
          </a:solidFill>
          <a:ln cap="flat" cmpd="sng" w="9525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400" lIns="38400" spcFirstLastPara="1" rIns="38400" wrap="square" tIns="38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6" name="Google Shape;1056;p19"/>
          <p:cNvSpPr/>
          <p:nvPr/>
        </p:nvSpPr>
        <p:spPr>
          <a:xfrm>
            <a:off x="8433484" y="1424200"/>
            <a:ext cx="51900" cy="45900"/>
          </a:xfrm>
          <a:prstGeom prst="ellipse">
            <a:avLst/>
          </a:prstGeom>
          <a:solidFill>
            <a:srgbClr val="7D1916">
              <a:alpha val="85098"/>
            </a:srgbClr>
          </a:solidFill>
          <a:ln cap="flat" cmpd="sng" w="9525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400" lIns="38400" spcFirstLastPara="1" rIns="38400" wrap="square" tIns="38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7" name="Google Shape;1057;p19"/>
          <p:cNvSpPr/>
          <p:nvPr/>
        </p:nvSpPr>
        <p:spPr>
          <a:xfrm>
            <a:off x="7877558" y="1836597"/>
            <a:ext cx="51900" cy="45900"/>
          </a:xfrm>
          <a:prstGeom prst="ellipse">
            <a:avLst/>
          </a:prstGeom>
          <a:solidFill>
            <a:srgbClr val="7D1916">
              <a:alpha val="85098"/>
            </a:srgbClr>
          </a:solidFill>
          <a:ln cap="flat" cmpd="sng" w="9525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400" lIns="38400" spcFirstLastPara="1" rIns="38400" wrap="square" tIns="38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58" name="Google Shape;1058;p19"/>
          <p:cNvCxnSpPr/>
          <p:nvPr/>
        </p:nvCxnSpPr>
        <p:spPr>
          <a:xfrm flipH="1" rot="10800000">
            <a:off x="6359261" y="1329539"/>
            <a:ext cx="2223600" cy="1767300"/>
          </a:xfrm>
          <a:prstGeom prst="straightConnector1">
            <a:avLst/>
          </a:prstGeom>
          <a:noFill/>
          <a:ln cap="flat" cmpd="sng" w="13350">
            <a:solidFill>
              <a:srgbClr val="BC933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59" name="Google Shape;1059;p19"/>
          <p:cNvSpPr/>
          <p:nvPr/>
        </p:nvSpPr>
        <p:spPr>
          <a:xfrm>
            <a:off x="7908443" y="1529220"/>
            <a:ext cx="555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C933E"/>
              </a:buClr>
              <a:buSzPts val="504"/>
              <a:buFont typeface="Calibri"/>
              <a:buNone/>
            </a:pPr>
            <a:r>
              <a:rPr b="1" i="0" lang="en-US" sz="504" u="none" cap="none" strike="noStrike">
                <a:solidFill>
                  <a:srgbClr val="BC933E"/>
                </a:solidFill>
                <a:latin typeface="Calibri"/>
                <a:ea typeface="Calibri"/>
                <a:cs typeface="Calibri"/>
                <a:sym typeface="Calibri"/>
              </a:rPr>
              <a:t>ρ = +0.55</a:t>
            </a:r>
            <a:endParaRPr b="0" i="0" sz="50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0" name="Google Shape;1060;p19"/>
          <p:cNvSpPr/>
          <p:nvPr/>
        </p:nvSpPr>
        <p:spPr>
          <a:xfrm>
            <a:off x="7908443" y="1682908"/>
            <a:ext cx="555900" cy="10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4C00"/>
              </a:buClr>
              <a:buSzPts val="462"/>
              <a:buFont typeface="Calibri"/>
              <a:buNone/>
            </a:pPr>
            <a:r>
              <a:rPr b="1" i="0" lang="en-US" sz="462" u="none" cap="none" strike="noStrike">
                <a:solidFill>
                  <a:srgbClr val="894C00"/>
                </a:solidFill>
                <a:latin typeface="Calibri"/>
                <a:ea typeface="Calibri"/>
                <a:cs typeface="Calibri"/>
                <a:sym typeface="Calibri"/>
              </a:rPr>
              <a:t>Y = 5X + ε</a:t>
            </a:r>
            <a:endParaRPr b="0" i="0" sz="46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1EE"/>
        </a:solidFill>
      </p:bgPr>
    </p:bg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2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1916"/>
              </a:buClr>
              <a:buSzPts val="2600"/>
              <a:buFont typeface="Calibri"/>
              <a:buNone/>
            </a:pPr>
            <a:r>
              <a:rPr b="1" i="0" lang="en-US" sz="3400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Coding &amp; Simulation Setup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7" name="Google Shape;1067;p20"/>
          <p:cNvSpPr/>
          <p:nvPr/>
        </p:nvSpPr>
        <p:spPr>
          <a:xfrm>
            <a:off x="457200" y="868680"/>
            <a:ext cx="8229600" cy="22860"/>
          </a:xfrm>
          <a:prstGeom prst="rect">
            <a:avLst/>
          </a:prstGeom>
          <a:solidFill>
            <a:srgbClr val="EAE8E4"/>
          </a:solidFill>
          <a:ln cap="flat" cmpd="sng" w="12700">
            <a:solidFill>
              <a:srgbClr val="EAE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8" name="Google Shape;1068;p20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9" name="Google Shape;1069;p20"/>
          <p:cNvSpPr/>
          <p:nvPr/>
        </p:nvSpPr>
        <p:spPr>
          <a:xfrm>
            <a:off x="4507992" y="4892040"/>
            <a:ext cx="128016" cy="128016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0" name="Google Shape;1070;p20"/>
          <p:cNvSpPr/>
          <p:nvPr/>
        </p:nvSpPr>
        <p:spPr>
          <a:xfrm>
            <a:off x="7498080" y="450799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2026   |   29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1" name="Google Shape;1071;p20"/>
          <p:cNvSpPr/>
          <p:nvPr/>
        </p:nvSpPr>
        <p:spPr>
          <a:xfrm>
            <a:off x="457200" y="987552"/>
            <a:ext cx="3840480" cy="3291840"/>
          </a:xfrm>
          <a:prstGeom prst="rect">
            <a:avLst/>
          </a:prstGeom>
          <a:solidFill>
            <a:srgbClr val="EAE8E4"/>
          </a:solidFill>
          <a:ln cap="flat" cmpd="sng" w="12700">
            <a:solidFill>
              <a:srgbClr val="EAE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2" name="Google Shape;1072;p20"/>
          <p:cNvSpPr/>
          <p:nvPr/>
        </p:nvSpPr>
        <p:spPr>
          <a:xfrm>
            <a:off x="457200" y="987552"/>
            <a:ext cx="91440" cy="3291840"/>
          </a:xfrm>
          <a:prstGeom prst="rect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3" name="Google Shape;1073;p20"/>
          <p:cNvSpPr/>
          <p:nvPr/>
        </p:nvSpPr>
        <p:spPr>
          <a:xfrm>
            <a:off x="658368" y="1042416"/>
            <a:ext cx="3520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1916"/>
              </a:buClr>
              <a:buSzPts val="1300"/>
              <a:buFont typeface="Calibri"/>
              <a:buNone/>
            </a:pPr>
            <a:r>
              <a:rPr b="1" i="0" lang="en-US" sz="1500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IMPLEMENTATION DETAILS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4" name="Google Shape;1074;p20"/>
          <p:cNvSpPr/>
          <p:nvPr/>
        </p:nvSpPr>
        <p:spPr>
          <a:xfrm>
            <a:off x="658368" y="1389888"/>
            <a:ext cx="3520440" cy="278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Language: Python 3 with NumPy, SciPy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Deep Learning: PyTorch (DDQN neural network)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Simulation Engine: Discrete-Event Simulation (chronological event processing)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Monte Carlo: 10 trials × 500 tasks for lambda sweep; 600,000 tasks total simulation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Network: 5-node D2D mesh, Poisson arrivals (λ = 0.667 – 5.0 tasks/s)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Hyperparameters: γ=0.95, lr=0.001 (Adam), batch=64, buffer=5,000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5" name="Google Shape;1075;p20"/>
          <p:cNvSpPr/>
          <p:nvPr/>
        </p:nvSpPr>
        <p:spPr>
          <a:xfrm>
            <a:off x="4846320" y="987552"/>
            <a:ext cx="3840480" cy="3291840"/>
          </a:xfrm>
          <a:prstGeom prst="rect">
            <a:avLst/>
          </a:prstGeom>
          <a:solidFill>
            <a:srgbClr val="EAE8E4"/>
          </a:solidFill>
          <a:ln cap="flat" cmpd="sng" w="12700">
            <a:solidFill>
              <a:srgbClr val="EAE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6" name="Google Shape;1076;p20"/>
          <p:cNvSpPr/>
          <p:nvPr/>
        </p:nvSpPr>
        <p:spPr>
          <a:xfrm>
            <a:off x="4846320" y="987552"/>
            <a:ext cx="91440" cy="3291840"/>
          </a:xfrm>
          <a:prstGeom prst="rect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7" name="Google Shape;1077;p20"/>
          <p:cNvSpPr/>
          <p:nvPr/>
        </p:nvSpPr>
        <p:spPr>
          <a:xfrm>
            <a:off x="5047488" y="1042416"/>
            <a:ext cx="3520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1916"/>
              </a:buClr>
              <a:buSzPts val="1300"/>
              <a:buFont typeface="Calibri"/>
              <a:buNone/>
            </a:pPr>
            <a:r>
              <a:rPr b="1" i="0" lang="en-US" sz="1500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SIMULATION STAGES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8" name="Google Shape;1078;p20"/>
          <p:cNvSpPr/>
          <p:nvPr/>
        </p:nvSpPr>
        <p:spPr>
          <a:xfrm>
            <a:off x="5047488" y="1389888"/>
            <a:ext cx="3520440" cy="278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848"/>
              </a:buClr>
              <a:buSzPts val="1150"/>
              <a:buFont typeface="Calibri"/>
              <a:buNone/>
            </a:pPr>
            <a:r>
              <a:rPr b="1" i="0" lang="en-US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Stage 1 — Mathematical Validation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848"/>
              </a:buClr>
              <a:buSzPts val="1150"/>
              <a:buFont typeface="Calibri"/>
              <a:buNone/>
            </a:pPr>
            <a:r>
              <a:rPr b="0" i="0" lang="en-US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Lambda sweep λ∈[0.1,1.4]: simulated TCR vs M2 theoretical prediction. Validated queue growth matches M/M/1 theory.</a:t>
            </a:r>
            <a:br>
              <a:rPr b="0" i="0" lang="en-US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848"/>
              </a:buClr>
              <a:buSzPts val="1150"/>
              <a:buFont typeface="Calibri"/>
              <a:buNone/>
            </a:pPr>
            <a:r>
              <a:rPr b="1" i="0" lang="en-US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Stage 2 — Full M3 Simulation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848"/>
              </a:buClr>
              <a:buSzPts val="1150"/>
              <a:buFont typeface="Calibri"/>
              <a:buNone/>
            </a:pPr>
            <a:r>
              <a:rPr b="0" i="0" lang="en-US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1,500 tasks, SDF routing, 4-panel dashboard. Herd Effect discovered.</a:t>
            </a:r>
            <a:br>
              <a:rPr b="0" i="0" lang="en-US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848"/>
              </a:buClr>
              <a:buSzPts val="1150"/>
              <a:buFont typeface="Calibri"/>
              <a:buNone/>
            </a:pPr>
            <a:r>
              <a:rPr b="1" i="0" lang="en-US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Stage 3 — DDQN Training &amp; Eval (M4)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848"/>
              </a:buClr>
              <a:buSzPts val="1150"/>
              <a:buFont typeface="Calibri"/>
              <a:buNone/>
            </a:pPr>
            <a:r>
              <a:rPr b="0" i="0" lang="en-US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50 training episodes × 300 tasks. 8-panel dashboard. TCR &gt;80% achieved.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6F3"/>
        </a:solidFill>
      </p:bgPr>
    </p:bg>
    <p:spTree>
      <p:nvGrpSpPr>
        <p:cNvPr id="1082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p33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900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Simulation Pipeline — 3 Stages &amp; Discrete-Event Flow</a:t>
            </a:r>
            <a:endParaRPr b="0" i="0" sz="2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4" name="Google Shape;1084;p33"/>
          <p:cNvSpPr/>
          <p:nvPr/>
        </p:nvSpPr>
        <p:spPr>
          <a:xfrm>
            <a:off x="457200" y="713232"/>
            <a:ext cx="8229600" cy="27432"/>
          </a:xfrm>
          <a:prstGeom prst="rect">
            <a:avLst/>
          </a:prstGeom>
          <a:solidFill>
            <a:srgbClr val="EAE8E4"/>
          </a:solidFill>
          <a:ln cap="flat" cmpd="sng" w="12700">
            <a:solidFill>
              <a:srgbClr val="EAE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5" name="Google Shape;1085;p33"/>
          <p:cNvSpPr/>
          <p:nvPr/>
        </p:nvSpPr>
        <p:spPr>
          <a:xfrm>
            <a:off x="0" y="4834055"/>
            <a:ext cx="9144000" cy="304800"/>
          </a:xfrm>
          <a:prstGeom prst="rect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6" name="Google Shape;1086;p33"/>
          <p:cNvSpPr/>
          <p:nvPr/>
        </p:nvSpPr>
        <p:spPr>
          <a:xfrm>
            <a:off x="4507992" y="4469623"/>
            <a:ext cx="128100" cy="108000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7" name="Google Shape;1087;p33"/>
          <p:cNvSpPr/>
          <p:nvPr/>
        </p:nvSpPr>
        <p:spPr>
          <a:xfrm>
            <a:off x="7520230" y="4469624"/>
            <a:ext cx="14631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2026   |   30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8" name="Google Shape;1088;p33"/>
          <p:cNvSpPr/>
          <p:nvPr/>
        </p:nvSpPr>
        <p:spPr>
          <a:xfrm>
            <a:off x="457200" y="822951"/>
            <a:ext cx="3931800" cy="311400"/>
          </a:xfrm>
          <a:prstGeom prst="rect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9" name="Google Shape;1089;p33"/>
          <p:cNvSpPr/>
          <p:nvPr/>
        </p:nvSpPr>
        <p:spPr>
          <a:xfrm>
            <a:off x="457200" y="822951"/>
            <a:ext cx="3931800" cy="31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3-STAGE SIMULATION PIPELINE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0" name="Google Shape;1090;p33"/>
          <p:cNvSpPr/>
          <p:nvPr/>
        </p:nvSpPr>
        <p:spPr>
          <a:xfrm>
            <a:off x="457200" y="1200060"/>
            <a:ext cx="3931800" cy="918300"/>
          </a:xfrm>
          <a:prstGeom prst="rect">
            <a:avLst/>
          </a:prstGeom>
          <a:solidFill>
            <a:srgbClr val="EAE8E4"/>
          </a:solidFill>
          <a:ln cap="flat" cmpd="sng" w="12700">
            <a:solidFill>
              <a:srgbClr val="EAE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1" name="Google Shape;1091;p33"/>
          <p:cNvSpPr/>
          <p:nvPr/>
        </p:nvSpPr>
        <p:spPr>
          <a:xfrm>
            <a:off x="457200" y="1200060"/>
            <a:ext cx="731400" cy="918300"/>
          </a:xfrm>
          <a:prstGeom prst="rect">
            <a:avLst/>
          </a:prstGeom>
          <a:solidFill>
            <a:srgbClr val="BC933E"/>
          </a:solidFill>
          <a:ln cap="flat" cmpd="sng" w="12700">
            <a:solidFill>
              <a:srgbClr val="BC93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2" name="Google Shape;1092;p33"/>
          <p:cNvSpPr/>
          <p:nvPr/>
        </p:nvSpPr>
        <p:spPr>
          <a:xfrm>
            <a:off x="457200" y="1200060"/>
            <a:ext cx="731400" cy="91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STAGE 1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3" name="Google Shape;1093;p33"/>
          <p:cNvSpPr/>
          <p:nvPr/>
        </p:nvSpPr>
        <p:spPr>
          <a:xfrm>
            <a:off x="1261873" y="1249248"/>
            <a:ext cx="3063300" cy="2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4A0D0B"/>
                </a:solidFill>
                <a:latin typeface="Arial"/>
                <a:ea typeface="Arial"/>
                <a:cs typeface="Arial"/>
                <a:sym typeface="Arial"/>
              </a:rPr>
              <a:t>Mathematical Validation (Lambda Sweep)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4" name="Google Shape;1094;p33"/>
          <p:cNvSpPr/>
          <p:nvPr/>
        </p:nvSpPr>
        <p:spPr>
          <a:xfrm>
            <a:off x="1280161" y="1478792"/>
            <a:ext cx="3035700" cy="1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444848"/>
                </a:solidFill>
                <a:latin typeface="Arial"/>
                <a:ea typeface="Arial"/>
                <a:cs typeface="Arial"/>
                <a:sym typeface="Arial"/>
              </a:rPr>
              <a:t>• λ swept 0.1→1.4 tasks/s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5" name="Google Shape;1095;p33"/>
          <p:cNvSpPr/>
          <p:nvPr/>
        </p:nvSpPr>
        <p:spPr>
          <a:xfrm>
            <a:off x="1280161" y="1626357"/>
            <a:ext cx="3035700" cy="1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444848"/>
                </a:solidFill>
                <a:latin typeface="Arial"/>
                <a:ea typeface="Arial"/>
                <a:cs typeface="Arial"/>
                <a:sym typeface="Arial"/>
              </a:rPr>
              <a:t>• 10 MC trials × 500 tasks each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6" name="Google Shape;1096;p33"/>
          <p:cNvSpPr/>
          <p:nvPr/>
        </p:nvSpPr>
        <p:spPr>
          <a:xfrm>
            <a:off x="1280161" y="1773921"/>
            <a:ext cx="3035700" cy="1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444848"/>
                </a:solidFill>
                <a:latin typeface="Arial"/>
                <a:ea typeface="Arial"/>
                <a:cs typeface="Arial"/>
                <a:sym typeface="Arial"/>
              </a:rPr>
              <a:t>• Simulated TCR vs M2 theoretical formula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7" name="Google Shape;1097;p33"/>
          <p:cNvSpPr/>
          <p:nvPr/>
        </p:nvSpPr>
        <p:spPr>
          <a:xfrm>
            <a:off x="1280161" y="1921485"/>
            <a:ext cx="3035700" cy="1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444848"/>
                </a:solidFill>
                <a:latin typeface="Arial"/>
                <a:ea typeface="Arial"/>
                <a:cs typeface="Arial"/>
                <a:sym typeface="Arial"/>
              </a:rPr>
              <a:t>•  Confirms M/G/1 predictions hold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98" name="Google Shape;1098;p33"/>
          <p:cNvCxnSpPr/>
          <p:nvPr/>
        </p:nvCxnSpPr>
        <p:spPr>
          <a:xfrm>
            <a:off x="2423163" y="2118238"/>
            <a:ext cx="0" cy="81900"/>
          </a:xfrm>
          <a:prstGeom prst="straightConnector1">
            <a:avLst/>
          </a:prstGeom>
          <a:noFill/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99" name="Google Shape;1099;p33"/>
          <p:cNvSpPr/>
          <p:nvPr/>
        </p:nvSpPr>
        <p:spPr>
          <a:xfrm>
            <a:off x="457200" y="2216614"/>
            <a:ext cx="3931800" cy="918300"/>
          </a:xfrm>
          <a:prstGeom prst="rect">
            <a:avLst/>
          </a:prstGeom>
          <a:solidFill>
            <a:srgbClr val="EAE8E4"/>
          </a:solidFill>
          <a:ln cap="flat" cmpd="sng" w="12700">
            <a:solidFill>
              <a:srgbClr val="EAE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0" name="Google Shape;1100;p33"/>
          <p:cNvSpPr/>
          <p:nvPr/>
        </p:nvSpPr>
        <p:spPr>
          <a:xfrm>
            <a:off x="457200" y="2216614"/>
            <a:ext cx="731400" cy="918300"/>
          </a:xfrm>
          <a:prstGeom prst="rect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1" name="Google Shape;1101;p33"/>
          <p:cNvSpPr/>
          <p:nvPr/>
        </p:nvSpPr>
        <p:spPr>
          <a:xfrm>
            <a:off x="457200" y="2216614"/>
            <a:ext cx="731400" cy="91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STAGE 2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2" name="Google Shape;1102;p33"/>
          <p:cNvSpPr/>
          <p:nvPr/>
        </p:nvSpPr>
        <p:spPr>
          <a:xfrm>
            <a:off x="1261873" y="2265802"/>
            <a:ext cx="3063300" cy="2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4A0D0B"/>
                </a:solidFill>
                <a:latin typeface="Arial"/>
                <a:ea typeface="Arial"/>
                <a:cs typeface="Arial"/>
                <a:sym typeface="Arial"/>
              </a:rPr>
              <a:t>Full M3 Simulation — Herd Effect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3" name="Google Shape;1103;p33"/>
          <p:cNvSpPr/>
          <p:nvPr/>
        </p:nvSpPr>
        <p:spPr>
          <a:xfrm>
            <a:off x="1280161" y="2495346"/>
            <a:ext cx="3035700" cy="1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444848"/>
                </a:solidFill>
                <a:latin typeface="Arial"/>
                <a:ea typeface="Arial"/>
                <a:cs typeface="Arial"/>
                <a:sym typeface="Arial"/>
              </a:rPr>
              <a:t>• 1,500-task burst + 600,000 total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4" name="Google Shape;1104;p33"/>
          <p:cNvSpPr/>
          <p:nvPr/>
        </p:nvSpPr>
        <p:spPr>
          <a:xfrm>
            <a:off x="1280161" y="2642911"/>
            <a:ext cx="3035700" cy="1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444848"/>
                </a:solidFill>
                <a:latin typeface="Arial"/>
                <a:ea typeface="Arial"/>
                <a:cs typeface="Arial"/>
                <a:sym typeface="Arial"/>
              </a:rPr>
              <a:t>• 5-node mesh, SDF routing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5" name="Google Shape;1105;p33"/>
          <p:cNvSpPr/>
          <p:nvPr/>
        </p:nvSpPr>
        <p:spPr>
          <a:xfrm>
            <a:off x="1280161" y="2790475"/>
            <a:ext cx="3035700" cy="1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444848"/>
                </a:solidFill>
                <a:latin typeface="Arial"/>
                <a:ea typeface="Arial"/>
                <a:cs typeface="Arial"/>
                <a:sym typeface="Arial"/>
              </a:rPr>
              <a:t>• 4-panel dashboard recorded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6" name="Google Shape;1106;p33"/>
          <p:cNvSpPr/>
          <p:nvPr/>
        </p:nvSpPr>
        <p:spPr>
          <a:xfrm>
            <a:off x="1280161" y="2938039"/>
            <a:ext cx="3035700" cy="1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444848"/>
                </a:solidFill>
                <a:latin typeface="Arial"/>
                <a:ea typeface="Arial"/>
                <a:cs typeface="Arial"/>
                <a:sym typeface="Arial"/>
              </a:rPr>
              <a:t>• TCR→0.40%, Herd Effect discovered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07" name="Google Shape;1107;p33"/>
          <p:cNvCxnSpPr/>
          <p:nvPr/>
        </p:nvCxnSpPr>
        <p:spPr>
          <a:xfrm>
            <a:off x="2423163" y="3134792"/>
            <a:ext cx="0" cy="81900"/>
          </a:xfrm>
          <a:prstGeom prst="straightConnector1">
            <a:avLst/>
          </a:prstGeom>
          <a:noFill/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08" name="Google Shape;1108;p33"/>
          <p:cNvSpPr/>
          <p:nvPr/>
        </p:nvSpPr>
        <p:spPr>
          <a:xfrm>
            <a:off x="457200" y="3233168"/>
            <a:ext cx="3931800" cy="918300"/>
          </a:xfrm>
          <a:prstGeom prst="rect">
            <a:avLst/>
          </a:prstGeom>
          <a:solidFill>
            <a:srgbClr val="EAE8E4"/>
          </a:solidFill>
          <a:ln cap="flat" cmpd="sng" w="12700">
            <a:solidFill>
              <a:srgbClr val="EAE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9" name="Google Shape;1109;p33"/>
          <p:cNvSpPr/>
          <p:nvPr/>
        </p:nvSpPr>
        <p:spPr>
          <a:xfrm>
            <a:off x="457200" y="3233168"/>
            <a:ext cx="731400" cy="918300"/>
          </a:xfrm>
          <a:prstGeom prst="rect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0" name="Google Shape;1110;p33"/>
          <p:cNvSpPr/>
          <p:nvPr/>
        </p:nvSpPr>
        <p:spPr>
          <a:xfrm>
            <a:off x="457200" y="3233168"/>
            <a:ext cx="731400" cy="91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STAGE 3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1" name="Google Shape;1111;p33"/>
          <p:cNvSpPr/>
          <p:nvPr/>
        </p:nvSpPr>
        <p:spPr>
          <a:xfrm>
            <a:off x="1261873" y="3282356"/>
            <a:ext cx="3063300" cy="2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4A0D0B"/>
                </a:solidFill>
                <a:latin typeface="Arial"/>
                <a:ea typeface="Arial"/>
                <a:cs typeface="Arial"/>
                <a:sym typeface="Arial"/>
              </a:rPr>
              <a:t>DDQN Training &amp; Evaluation (M4)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2" name="Google Shape;1112;p33"/>
          <p:cNvSpPr/>
          <p:nvPr/>
        </p:nvSpPr>
        <p:spPr>
          <a:xfrm>
            <a:off x="1280161" y="3511901"/>
            <a:ext cx="3035700" cy="1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444848"/>
                </a:solidFill>
                <a:latin typeface="Arial"/>
                <a:ea typeface="Arial"/>
                <a:cs typeface="Arial"/>
                <a:sym typeface="Arial"/>
              </a:rPr>
              <a:t>• 50 training episodes × 300 tasks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3" name="Google Shape;1113;p33"/>
          <p:cNvSpPr/>
          <p:nvPr/>
        </p:nvSpPr>
        <p:spPr>
          <a:xfrm>
            <a:off x="1280161" y="3659465"/>
            <a:ext cx="3035700" cy="1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444848"/>
                </a:solidFill>
                <a:latin typeface="Arial"/>
                <a:ea typeface="Arial"/>
                <a:cs typeface="Arial"/>
                <a:sym typeface="Arial"/>
              </a:rPr>
              <a:t>• DDQN with Epsilon-Boltzmann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4" name="Google Shape;1114;p33"/>
          <p:cNvSpPr/>
          <p:nvPr/>
        </p:nvSpPr>
        <p:spPr>
          <a:xfrm>
            <a:off x="1280161" y="3807029"/>
            <a:ext cx="3035700" cy="1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444848"/>
                </a:solidFill>
                <a:latin typeface="Arial"/>
                <a:ea typeface="Arial"/>
                <a:cs typeface="Arial"/>
                <a:sym typeface="Arial"/>
              </a:rPr>
              <a:t>• 8-panel dashboard recorded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5" name="Google Shape;1115;p33"/>
          <p:cNvSpPr/>
          <p:nvPr/>
        </p:nvSpPr>
        <p:spPr>
          <a:xfrm>
            <a:off x="1280161" y="3954593"/>
            <a:ext cx="3035700" cy="1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444848"/>
                </a:solidFill>
                <a:latin typeface="Arial"/>
                <a:ea typeface="Arial"/>
                <a:cs typeface="Arial"/>
                <a:sym typeface="Arial"/>
              </a:rPr>
              <a:t>•  TCR→&gt;80%, Herd Effect broken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6" name="Google Shape;1116;p33"/>
          <p:cNvSpPr/>
          <p:nvPr/>
        </p:nvSpPr>
        <p:spPr>
          <a:xfrm>
            <a:off x="4572006" y="822951"/>
            <a:ext cx="4114800" cy="311400"/>
          </a:xfrm>
          <a:prstGeom prst="rect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7" name="Google Shape;1117;p33"/>
          <p:cNvSpPr/>
          <p:nvPr/>
        </p:nvSpPr>
        <p:spPr>
          <a:xfrm>
            <a:off x="4572006" y="822951"/>
            <a:ext cx="4114800" cy="31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DISCRETE-EVENT SIMULATION ENGINE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8" name="Google Shape;1118;p33"/>
          <p:cNvSpPr/>
          <p:nvPr/>
        </p:nvSpPr>
        <p:spPr>
          <a:xfrm>
            <a:off x="4572006" y="1200060"/>
            <a:ext cx="4114800" cy="377100"/>
          </a:xfrm>
          <a:prstGeom prst="rect">
            <a:avLst/>
          </a:prstGeom>
          <a:solidFill>
            <a:srgbClr val="FBF5E8"/>
          </a:solidFill>
          <a:ln cap="flat" cmpd="sng" w="12700">
            <a:solidFill>
              <a:srgbClr val="BC93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9" name="Google Shape;1119;p33"/>
          <p:cNvSpPr/>
          <p:nvPr/>
        </p:nvSpPr>
        <p:spPr>
          <a:xfrm>
            <a:off x="4645158" y="1224654"/>
            <a:ext cx="3968400" cy="32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11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Generate next task:  T_inter~Exp(λ),  X~U(0.1,1.0),  Y=5X+ε,  τ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20" name="Google Shape;1120;p33"/>
          <p:cNvCxnSpPr/>
          <p:nvPr/>
        </p:nvCxnSpPr>
        <p:spPr>
          <a:xfrm>
            <a:off x="6629409" y="1577169"/>
            <a:ext cx="0" cy="49200"/>
          </a:xfrm>
          <a:prstGeom prst="straightConnector1">
            <a:avLst/>
          </a:prstGeom>
          <a:noFill/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1" name="Google Shape;1121;p33"/>
          <p:cNvSpPr/>
          <p:nvPr/>
        </p:nvSpPr>
        <p:spPr>
          <a:xfrm>
            <a:off x="4572006" y="1642753"/>
            <a:ext cx="4114800" cy="377100"/>
          </a:xfrm>
          <a:prstGeom prst="rect">
            <a:avLst/>
          </a:prstGeom>
          <a:solidFill>
            <a:srgbClr val="FBF5E8"/>
          </a:solidFill>
          <a:ln cap="flat" cmpd="sng" w="12700">
            <a:solidFill>
              <a:srgbClr val="BC93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2" name="Google Shape;1122;p33"/>
          <p:cNvSpPr/>
          <p:nvPr/>
        </p:nvSpPr>
        <p:spPr>
          <a:xfrm>
            <a:off x="4645158" y="1667347"/>
            <a:ext cx="3968400" cy="32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11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Observe state  Sₜ = [W_q,1..5, src, X, Y, τ]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23" name="Google Shape;1123;p33"/>
          <p:cNvCxnSpPr/>
          <p:nvPr/>
        </p:nvCxnSpPr>
        <p:spPr>
          <a:xfrm>
            <a:off x="6629409" y="2019861"/>
            <a:ext cx="0" cy="49200"/>
          </a:xfrm>
          <a:prstGeom prst="straightConnector1">
            <a:avLst/>
          </a:prstGeom>
          <a:noFill/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4" name="Google Shape;1124;p33"/>
          <p:cNvSpPr/>
          <p:nvPr/>
        </p:nvSpPr>
        <p:spPr>
          <a:xfrm>
            <a:off x="4572006" y="2085446"/>
            <a:ext cx="4114800" cy="377100"/>
          </a:xfrm>
          <a:prstGeom prst="rect">
            <a:avLst/>
          </a:prstGeom>
          <a:solidFill>
            <a:srgbClr val="FBF5E8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5" name="Google Shape;1125;p33"/>
          <p:cNvSpPr/>
          <p:nvPr/>
        </p:nvSpPr>
        <p:spPr>
          <a:xfrm>
            <a:off x="4645158" y="2110040"/>
            <a:ext cx="3968400" cy="32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11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M3: Decision = argmin D_j (SDF)  |  M4: Sample from Boltzmann π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26" name="Google Shape;1126;p33"/>
          <p:cNvCxnSpPr/>
          <p:nvPr/>
        </p:nvCxnSpPr>
        <p:spPr>
          <a:xfrm>
            <a:off x="6629409" y="2462554"/>
            <a:ext cx="0" cy="49200"/>
          </a:xfrm>
          <a:prstGeom prst="straightConnector1">
            <a:avLst/>
          </a:prstGeom>
          <a:noFill/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7" name="Google Shape;1127;p33"/>
          <p:cNvSpPr/>
          <p:nvPr/>
        </p:nvSpPr>
        <p:spPr>
          <a:xfrm>
            <a:off x="4572006" y="2528139"/>
            <a:ext cx="4114800" cy="377100"/>
          </a:xfrm>
          <a:prstGeom prst="rect">
            <a:avLst/>
          </a:prstGeom>
          <a:solidFill>
            <a:srgbClr val="FBF5E8"/>
          </a:solidFill>
          <a:ln cap="flat" cmpd="sng" w="12700">
            <a:solidFill>
              <a:srgbClr val="BC93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8" name="Google Shape;1128;p33"/>
          <p:cNvSpPr/>
          <p:nvPr/>
        </p:nvSpPr>
        <p:spPr>
          <a:xfrm>
            <a:off x="4645158" y="2552733"/>
            <a:ext cx="3968400" cy="32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11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Compute  T_soj = t_trans + W_q,j + t_exec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29" name="Google Shape;1129;p33"/>
          <p:cNvCxnSpPr/>
          <p:nvPr/>
        </p:nvCxnSpPr>
        <p:spPr>
          <a:xfrm>
            <a:off x="6629409" y="2905247"/>
            <a:ext cx="0" cy="49200"/>
          </a:xfrm>
          <a:prstGeom prst="straightConnector1">
            <a:avLst/>
          </a:prstGeom>
          <a:noFill/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30" name="Google Shape;1130;p33"/>
          <p:cNvSpPr/>
          <p:nvPr/>
        </p:nvSpPr>
        <p:spPr>
          <a:xfrm>
            <a:off x="4572006" y="2970831"/>
            <a:ext cx="4114800" cy="377100"/>
          </a:xfrm>
          <a:prstGeom prst="rect">
            <a:avLst/>
          </a:prstGeom>
          <a:solidFill>
            <a:srgbClr val="FBF5E8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1" name="Google Shape;1131;p33"/>
          <p:cNvSpPr/>
          <p:nvPr/>
        </p:nvSpPr>
        <p:spPr>
          <a:xfrm>
            <a:off x="4645158" y="2995425"/>
            <a:ext cx="3968400" cy="32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11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T_soj ≤ τ ?  →  Y_i = 1 (success)  /  Y_i = 0 (fail)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32" name="Google Shape;1132;p33"/>
          <p:cNvCxnSpPr/>
          <p:nvPr/>
        </p:nvCxnSpPr>
        <p:spPr>
          <a:xfrm>
            <a:off x="6629409" y="3347940"/>
            <a:ext cx="0" cy="49200"/>
          </a:xfrm>
          <a:prstGeom prst="straightConnector1">
            <a:avLst/>
          </a:prstGeom>
          <a:noFill/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33" name="Google Shape;1133;p33"/>
          <p:cNvSpPr/>
          <p:nvPr/>
        </p:nvSpPr>
        <p:spPr>
          <a:xfrm>
            <a:off x="4572006" y="3413524"/>
            <a:ext cx="4114800" cy="377100"/>
          </a:xfrm>
          <a:prstGeom prst="rect">
            <a:avLst/>
          </a:prstGeom>
          <a:solidFill>
            <a:srgbClr val="FBF5E8"/>
          </a:solidFill>
          <a:ln cap="flat" cmpd="sng" w="12700">
            <a:solidFill>
              <a:srgbClr val="BC93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4" name="Google Shape;1134;p33"/>
          <p:cNvSpPr/>
          <p:nvPr/>
        </p:nvSpPr>
        <p:spPr>
          <a:xfrm>
            <a:off x="4645158" y="3438118"/>
            <a:ext cx="3968400" cy="32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11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Update W_q,j  ·  Store (s,a,r,s')  ·  DDQN: train on batch of 64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35" name="Google Shape;1135;p33"/>
          <p:cNvCxnSpPr/>
          <p:nvPr/>
        </p:nvCxnSpPr>
        <p:spPr>
          <a:xfrm>
            <a:off x="6629409" y="3790633"/>
            <a:ext cx="0" cy="49200"/>
          </a:xfrm>
          <a:prstGeom prst="straightConnector1">
            <a:avLst/>
          </a:prstGeom>
          <a:noFill/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36" name="Google Shape;1136;p33"/>
          <p:cNvSpPr/>
          <p:nvPr/>
        </p:nvSpPr>
        <p:spPr>
          <a:xfrm>
            <a:off x="4572006" y="3856217"/>
            <a:ext cx="4114800" cy="377100"/>
          </a:xfrm>
          <a:prstGeom prst="rect">
            <a:avLst/>
          </a:prstGeom>
          <a:solidFill>
            <a:srgbClr val="EAE8E4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7" name="Google Shape;1137;p33"/>
          <p:cNvSpPr/>
          <p:nvPr/>
        </p:nvSpPr>
        <p:spPr>
          <a:xfrm>
            <a:off x="4645158" y="3880811"/>
            <a:ext cx="3968400" cy="32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11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Record: TCR%, W_q, Jensen Gap, Fairness  →  next event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38" name="Google Shape;1138;p33"/>
          <p:cNvCxnSpPr/>
          <p:nvPr/>
        </p:nvCxnSpPr>
        <p:spPr>
          <a:xfrm>
            <a:off x="4572006" y="1200060"/>
            <a:ext cx="3986700" cy="0"/>
          </a:xfrm>
          <a:prstGeom prst="straightConnector1">
            <a:avLst/>
          </a:prstGeom>
          <a:noFill/>
          <a:ln cap="flat" cmpd="sng" w="12700">
            <a:solidFill>
              <a:srgbClr val="7D1916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139" name="Google Shape;1139;p33"/>
          <p:cNvSpPr/>
          <p:nvPr/>
        </p:nvSpPr>
        <p:spPr>
          <a:xfrm>
            <a:off x="8430779" y="2626515"/>
            <a:ext cx="502800" cy="16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1" lang="en-US" sz="750" u="none" cap="none" strike="noStrike">
                <a:solidFill>
                  <a:srgbClr val="7D1916"/>
                </a:solidFill>
                <a:latin typeface="Arial"/>
                <a:ea typeface="Arial"/>
                <a:cs typeface="Arial"/>
                <a:sym typeface="Arial"/>
              </a:rPr>
              <a:t>loop</a:t>
            </a:r>
            <a:endParaRPr b="0" i="0" sz="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0" name="Google Shape;1140;p33"/>
          <p:cNvSpPr/>
          <p:nvPr/>
        </p:nvSpPr>
        <p:spPr>
          <a:xfrm>
            <a:off x="457200" y="4249726"/>
            <a:ext cx="8229600" cy="231300"/>
          </a:xfrm>
          <a:prstGeom prst="rect">
            <a:avLst/>
          </a:prstGeom>
          <a:solidFill>
            <a:srgbClr val="4A0D0B"/>
          </a:solidFill>
          <a:ln cap="flat" cmpd="sng" w="12700">
            <a:solidFill>
              <a:srgbClr val="4A0D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1" name="Google Shape;1141;p33"/>
          <p:cNvSpPr/>
          <p:nvPr/>
        </p:nvSpPr>
        <p:spPr>
          <a:xfrm>
            <a:off x="457200" y="4249726"/>
            <a:ext cx="82296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Tools: Python 3 · NumPy · SciPy · PyTorch (DDQN) · Discrete-Event Sim · MC×10 trials · γ=0.95 · lr=0.001 (Adam) · batch=64 · buffer=5000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1EE"/>
        </a:solidFill>
      </p:bgPr>
    </p:bg>
    <p:spTree>
      <p:nvGrpSpPr>
        <p:cNvPr id="1146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p21"/>
          <p:cNvSpPr/>
          <p:nvPr/>
        </p:nvSpPr>
        <p:spPr>
          <a:xfrm>
            <a:off x="169150" y="256025"/>
            <a:ext cx="85176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1916"/>
              </a:buClr>
              <a:buSzPts val="2600"/>
              <a:buFont typeface="Calibri"/>
              <a:buNone/>
            </a:pPr>
            <a:r>
              <a:rPr b="1" i="0" lang="en-US" sz="3400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Results: M3 vs M4 Comparison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8" name="Google Shape;1148;p21"/>
          <p:cNvSpPr/>
          <p:nvPr/>
        </p:nvSpPr>
        <p:spPr>
          <a:xfrm>
            <a:off x="457200" y="868680"/>
            <a:ext cx="8229600" cy="22800"/>
          </a:xfrm>
          <a:prstGeom prst="rect">
            <a:avLst/>
          </a:prstGeom>
          <a:solidFill>
            <a:srgbClr val="EAE8E4"/>
          </a:solidFill>
          <a:ln cap="flat" cmpd="sng" w="12700">
            <a:solidFill>
              <a:srgbClr val="EAE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9" name="Google Shape;1149;p21"/>
          <p:cNvSpPr/>
          <p:nvPr/>
        </p:nvSpPr>
        <p:spPr>
          <a:xfrm>
            <a:off x="169177" y="822952"/>
            <a:ext cx="2098500" cy="1248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8575">
              <a:srgbClr val="000000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0" name="Google Shape;1150;p21"/>
          <p:cNvSpPr/>
          <p:nvPr/>
        </p:nvSpPr>
        <p:spPr>
          <a:xfrm>
            <a:off x="169177" y="822952"/>
            <a:ext cx="2098500" cy="233100"/>
          </a:xfrm>
          <a:prstGeom prst="rect">
            <a:avLst/>
          </a:prstGeom>
          <a:solidFill>
            <a:srgbClr val="7D1916"/>
          </a:solidFill>
          <a:ln cap="flat" cmpd="sng" w="9525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1" name="Google Shape;1151;p21"/>
          <p:cNvSpPr/>
          <p:nvPr/>
        </p:nvSpPr>
        <p:spPr>
          <a:xfrm>
            <a:off x="224042" y="836668"/>
            <a:ext cx="19887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Average TCR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2" name="Google Shape;1152;p21"/>
          <p:cNvSpPr/>
          <p:nvPr/>
        </p:nvSpPr>
        <p:spPr>
          <a:xfrm>
            <a:off x="224042" y="1124704"/>
            <a:ext cx="9189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M3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3" name="Google Shape;1153;p21"/>
          <p:cNvSpPr/>
          <p:nvPr/>
        </p:nvSpPr>
        <p:spPr>
          <a:xfrm>
            <a:off x="224042" y="1261864"/>
            <a:ext cx="9189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1916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0.40%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4" name="Google Shape;1154;p21"/>
          <p:cNvSpPr/>
          <p:nvPr/>
        </p:nvSpPr>
        <p:spPr>
          <a:xfrm>
            <a:off x="1293890" y="1124704"/>
            <a:ext cx="8916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M4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5" name="Google Shape;1155;p21"/>
          <p:cNvSpPr/>
          <p:nvPr/>
        </p:nvSpPr>
        <p:spPr>
          <a:xfrm>
            <a:off x="1252742" y="1261864"/>
            <a:ext cx="9465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0D0B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4A0D0B"/>
                </a:solidFill>
                <a:latin typeface="Calibri"/>
                <a:ea typeface="Calibri"/>
                <a:cs typeface="Calibri"/>
                <a:sym typeface="Calibri"/>
              </a:rPr>
              <a:t>&gt;80%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6" name="Google Shape;1156;p21"/>
          <p:cNvSpPr/>
          <p:nvPr/>
        </p:nvSpPr>
        <p:spPr>
          <a:xfrm>
            <a:off x="347485" y="1865368"/>
            <a:ext cx="1742100" cy="178200"/>
          </a:xfrm>
          <a:prstGeom prst="rect">
            <a:avLst/>
          </a:prstGeom>
          <a:solidFill>
            <a:srgbClr val="4A0D0B"/>
          </a:solidFill>
          <a:ln cap="flat" cmpd="sng" w="9525">
            <a:solidFill>
              <a:srgbClr val="4A0D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7" name="Google Shape;1157;p21"/>
          <p:cNvSpPr/>
          <p:nvPr/>
        </p:nvSpPr>
        <p:spPr>
          <a:xfrm>
            <a:off x="347485" y="1865368"/>
            <a:ext cx="17421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C933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BC933E"/>
                </a:solidFill>
                <a:latin typeface="Calibri"/>
                <a:ea typeface="Calibri"/>
                <a:cs typeface="Calibri"/>
                <a:sym typeface="Calibri"/>
              </a:rPr>
              <a:t>+79.6pp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8" name="Google Shape;1158;p21"/>
          <p:cNvSpPr/>
          <p:nvPr/>
        </p:nvSpPr>
        <p:spPr>
          <a:xfrm>
            <a:off x="2404885" y="822952"/>
            <a:ext cx="2098500" cy="1248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8575">
              <a:srgbClr val="000000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9" name="Google Shape;1159;p21"/>
          <p:cNvSpPr/>
          <p:nvPr/>
        </p:nvSpPr>
        <p:spPr>
          <a:xfrm>
            <a:off x="2404885" y="822952"/>
            <a:ext cx="2098500" cy="233100"/>
          </a:xfrm>
          <a:prstGeom prst="rect">
            <a:avLst/>
          </a:prstGeom>
          <a:solidFill>
            <a:srgbClr val="7D1916"/>
          </a:solidFill>
          <a:ln cap="flat" cmpd="sng" w="9525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0" name="Google Shape;1160;p21"/>
          <p:cNvSpPr/>
          <p:nvPr/>
        </p:nvSpPr>
        <p:spPr>
          <a:xfrm>
            <a:off x="2459749" y="836668"/>
            <a:ext cx="19887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Tail Latency (P95)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1" name="Google Shape;1161;p21"/>
          <p:cNvSpPr/>
          <p:nvPr/>
        </p:nvSpPr>
        <p:spPr>
          <a:xfrm>
            <a:off x="2459750" y="1124704"/>
            <a:ext cx="9189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M3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2" name="Google Shape;1162;p21"/>
          <p:cNvSpPr/>
          <p:nvPr/>
        </p:nvSpPr>
        <p:spPr>
          <a:xfrm>
            <a:off x="2459750" y="1261864"/>
            <a:ext cx="9189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1916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&gt;50s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3" name="Google Shape;1163;p21"/>
          <p:cNvSpPr/>
          <p:nvPr/>
        </p:nvSpPr>
        <p:spPr>
          <a:xfrm>
            <a:off x="3529598" y="1124704"/>
            <a:ext cx="8916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M4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4" name="Google Shape;1164;p21"/>
          <p:cNvSpPr/>
          <p:nvPr/>
        </p:nvSpPr>
        <p:spPr>
          <a:xfrm>
            <a:off x="3488450" y="1261864"/>
            <a:ext cx="9465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0D0B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4A0D0B"/>
                </a:solidFill>
                <a:latin typeface="Calibri"/>
                <a:ea typeface="Calibri"/>
                <a:cs typeface="Calibri"/>
                <a:sym typeface="Calibri"/>
              </a:rPr>
              <a:t>&lt;6s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5" name="Google Shape;1165;p21"/>
          <p:cNvSpPr/>
          <p:nvPr/>
        </p:nvSpPr>
        <p:spPr>
          <a:xfrm>
            <a:off x="2583193" y="1865368"/>
            <a:ext cx="1742100" cy="178200"/>
          </a:xfrm>
          <a:prstGeom prst="rect">
            <a:avLst/>
          </a:prstGeom>
          <a:solidFill>
            <a:srgbClr val="4A0D0B"/>
          </a:solidFill>
          <a:ln cap="flat" cmpd="sng" w="9525">
            <a:solidFill>
              <a:srgbClr val="4A0D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6" name="Google Shape;1166;p21"/>
          <p:cNvSpPr/>
          <p:nvPr/>
        </p:nvSpPr>
        <p:spPr>
          <a:xfrm>
            <a:off x="2583193" y="1865368"/>
            <a:ext cx="17421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C933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BC933E"/>
                </a:solidFill>
                <a:latin typeface="Calibri"/>
                <a:ea typeface="Calibri"/>
                <a:cs typeface="Calibri"/>
                <a:sym typeface="Calibri"/>
              </a:rPr>
              <a:t>−44s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7" name="Google Shape;1167;p21"/>
          <p:cNvSpPr/>
          <p:nvPr/>
        </p:nvSpPr>
        <p:spPr>
          <a:xfrm>
            <a:off x="4640594" y="822952"/>
            <a:ext cx="2098500" cy="1248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8575">
              <a:srgbClr val="000000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8" name="Google Shape;1168;p21"/>
          <p:cNvSpPr/>
          <p:nvPr/>
        </p:nvSpPr>
        <p:spPr>
          <a:xfrm>
            <a:off x="4640594" y="822952"/>
            <a:ext cx="2098500" cy="233100"/>
          </a:xfrm>
          <a:prstGeom prst="rect">
            <a:avLst/>
          </a:prstGeom>
          <a:solidFill>
            <a:srgbClr val="7D1916"/>
          </a:solidFill>
          <a:ln cap="flat" cmpd="sng" w="9525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9" name="Google Shape;1169;p21"/>
          <p:cNvSpPr/>
          <p:nvPr/>
        </p:nvSpPr>
        <p:spPr>
          <a:xfrm>
            <a:off x="4695458" y="836668"/>
            <a:ext cx="19887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Jain Fairness Index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0" name="Google Shape;1170;p21"/>
          <p:cNvSpPr/>
          <p:nvPr/>
        </p:nvSpPr>
        <p:spPr>
          <a:xfrm>
            <a:off x="4695458" y="1124704"/>
            <a:ext cx="9189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M3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1" name="Google Shape;1171;p21"/>
          <p:cNvSpPr/>
          <p:nvPr/>
        </p:nvSpPr>
        <p:spPr>
          <a:xfrm>
            <a:off x="4695458" y="1261864"/>
            <a:ext cx="9189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1916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0.20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2" name="Google Shape;1172;p21"/>
          <p:cNvSpPr/>
          <p:nvPr/>
        </p:nvSpPr>
        <p:spPr>
          <a:xfrm>
            <a:off x="5765306" y="1124704"/>
            <a:ext cx="8916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M4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3" name="Google Shape;1173;p21"/>
          <p:cNvSpPr/>
          <p:nvPr/>
        </p:nvSpPr>
        <p:spPr>
          <a:xfrm>
            <a:off x="5724158" y="1261864"/>
            <a:ext cx="9465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0D0B"/>
              </a:buClr>
              <a:buSzPts val="1800"/>
              <a:buFont typeface="Calibri"/>
              <a:buNone/>
            </a:pPr>
            <a:r>
              <a:rPr b="1" i="0" lang="en-US" sz="2000" u="none" cap="none" strike="noStrike">
                <a:solidFill>
                  <a:srgbClr val="4A0D0B"/>
                </a:solidFill>
                <a:latin typeface="Calibri"/>
                <a:ea typeface="Calibri"/>
                <a:cs typeface="Calibri"/>
                <a:sym typeface="Calibri"/>
              </a:rPr>
              <a:t>0.60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4" name="Google Shape;1174;p21"/>
          <p:cNvSpPr/>
          <p:nvPr/>
        </p:nvSpPr>
        <p:spPr>
          <a:xfrm>
            <a:off x="4818902" y="1865368"/>
            <a:ext cx="1742100" cy="178200"/>
          </a:xfrm>
          <a:prstGeom prst="rect">
            <a:avLst/>
          </a:prstGeom>
          <a:solidFill>
            <a:srgbClr val="4A0D0B"/>
          </a:solidFill>
          <a:ln cap="flat" cmpd="sng" w="9525">
            <a:solidFill>
              <a:srgbClr val="4A0D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5" name="Google Shape;1175;p21"/>
          <p:cNvSpPr/>
          <p:nvPr/>
        </p:nvSpPr>
        <p:spPr>
          <a:xfrm>
            <a:off x="4818902" y="1865368"/>
            <a:ext cx="17421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C933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BC933E"/>
                </a:solidFill>
                <a:latin typeface="Calibri"/>
                <a:ea typeface="Calibri"/>
                <a:cs typeface="Calibri"/>
                <a:sym typeface="Calibri"/>
              </a:rPr>
              <a:t>+0.40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6" name="Google Shape;1176;p21"/>
          <p:cNvSpPr/>
          <p:nvPr/>
        </p:nvSpPr>
        <p:spPr>
          <a:xfrm>
            <a:off x="6876302" y="822952"/>
            <a:ext cx="2098500" cy="1248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8575">
              <a:srgbClr val="000000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7" name="Google Shape;1177;p21"/>
          <p:cNvSpPr/>
          <p:nvPr/>
        </p:nvSpPr>
        <p:spPr>
          <a:xfrm>
            <a:off x="6876302" y="822952"/>
            <a:ext cx="2098500" cy="233100"/>
          </a:xfrm>
          <a:prstGeom prst="rect">
            <a:avLst/>
          </a:prstGeom>
          <a:solidFill>
            <a:srgbClr val="7D1916"/>
          </a:solidFill>
          <a:ln cap="flat" cmpd="sng" w="9525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8" name="Google Shape;1178;p21"/>
          <p:cNvSpPr/>
          <p:nvPr/>
        </p:nvSpPr>
        <p:spPr>
          <a:xfrm>
            <a:off x="6931166" y="836668"/>
            <a:ext cx="19887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Queue Backlog W_q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9" name="Google Shape;1179;p21"/>
          <p:cNvSpPr/>
          <p:nvPr/>
        </p:nvSpPr>
        <p:spPr>
          <a:xfrm>
            <a:off x="6931166" y="1124704"/>
            <a:ext cx="9189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M3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0" name="Google Shape;1180;p21"/>
          <p:cNvSpPr/>
          <p:nvPr/>
        </p:nvSpPr>
        <p:spPr>
          <a:xfrm>
            <a:off x="6931166" y="1261864"/>
            <a:ext cx="9189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1916"/>
              </a:buClr>
              <a:buSzPts val="1800"/>
              <a:buFont typeface="Calibri"/>
              <a:buNone/>
            </a:pPr>
            <a:r>
              <a:rPr b="1" i="0" lang="en-US" sz="2000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&gt;50s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1" name="Google Shape;1181;p21"/>
          <p:cNvSpPr/>
          <p:nvPr/>
        </p:nvSpPr>
        <p:spPr>
          <a:xfrm>
            <a:off x="8001014" y="1124704"/>
            <a:ext cx="8916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M4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2" name="Google Shape;1182;p21"/>
          <p:cNvSpPr/>
          <p:nvPr/>
        </p:nvSpPr>
        <p:spPr>
          <a:xfrm>
            <a:off x="7959866" y="1261864"/>
            <a:ext cx="9465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0D0B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4A0D0B"/>
                </a:solidFill>
                <a:latin typeface="Calibri"/>
                <a:ea typeface="Calibri"/>
                <a:cs typeface="Calibri"/>
                <a:sym typeface="Calibri"/>
              </a:rPr>
              <a:t>&lt;1.5s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3" name="Google Shape;1183;p21"/>
          <p:cNvSpPr/>
          <p:nvPr/>
        </p:nvSpPr>
        <p:spPr>
          <a:xfrm>
            <a:off x="7054610" y="1865368"/>
            <a:ext cx="1742100" cy="178200"/>
          </a:xfrm>
          <a:prstGeom prst="rect">
            <a:avLst/>
          </a:prstGeom>
          <a:solidFill>
            <a:srgbClr val="4A0D0B"/>
          </a:solidFill>
          <a:ln cap="flat" cmpd="sng" w="9525">
            <a:solidFill>
              <a:srgbClr val="4A0D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4" name="Google Shape;1184;p21"/>
          <p:cNvSpPr/>
          <p:nvPr/>
        </p:nvSpPr>
        <p:spPr>
          <a:xfrm>
            <a:off x="7054610" y="1865368"/>
            <a:ext cx="17421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C933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BC933E"/>
                </a:solidFill>
                <a:latin typeface="Calibri"/>
                <a:ea typeface="Calibri"/>
                <a:cs typeface="Calibri"/>
                <a:sym typeface="Calibri"/>
              </a:rPr>
              <a:t>Resolved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85" name="Google Shape;1185;p21"/>
          <p:cNvGraphicFramePr/>
          <p:nvPr/>
        </p:nvGraphicFramePr>
        <p:xfrm>
          <a:off x="169153" y="215805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{3027E2C3-9FC2-4D8F-B117-58EA10EDBB89}</a:tableStyleId>
              </a:tblPr>
              <a:tblGrid>
                <a:gridCol w="1599900"/>
                <a:gridCol w="1599900"/>
                <a:gridCol w="1728925"/>
                <a:gridCol w="1641175"/>
              </a:tblGrid>
              <a:tr h="258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Metric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D19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M3 SDF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D19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M4 DDQN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D19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Improvement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D1916"/>
                    </a:solidFill>
                  </a:tcPr>
                </a:tc>
              </a:tr>
              <a:tr h="258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55555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5555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Strategy Mix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6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D1916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7D191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100% deterministic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0D0B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4A0D0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12.6% explore / 87.4% exploit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ED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94C00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894C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Stochastic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6F3"/>
                    </a:solidFill>
                  </a:tcPr>
                </a:tc>
              </a:tr>
              <a:tr h="258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55555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5555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System Throughput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D1916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7D191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Collapses at high λ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0D0B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4A0D0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Stable ~0.30 tasks/s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4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94C00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894C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Recovered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8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55555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5555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Input Model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6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D1916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7D191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X, Y independent (wrong)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0D0B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4A0D0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Correlated ρ=+0.55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ED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94C00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894C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More realistic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6F3"/>
                    </a:solidFill>
                  </a:tcPr>
                </a:tc>
              </a:tr>
              <a:tr h="258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55555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5555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Jensen Gap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D1916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7D191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Grows explosively (&gt;t=800)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0D0B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4A0D0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Narrows over training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4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94C00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894C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Controlled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8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55555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5555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Exploration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6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D1916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7D191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None (deterministic)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0D0B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4A0D0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12.6% Boltzmann sampling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ED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94C00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894C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Breaks Herd Effect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6F3"/>
                    </a:solidFill>
                  </a:tcPr>
                </a:tc>
              </a:tr>
              <a:tr h="258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55555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5555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POMDP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D1916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7D191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Oracle W_q assumed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0D0B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4A0D0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M5: belief state b_t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4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94C00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894C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Future work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186" name="Google Shape;118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39525" y="2158050"/>
            <a:ext cx="2172000" cy="181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7" name="Google Shape;118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9150" y="4055950"/>
            <a:ext cx="6707100" cy="888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8" name="Google Shape;1188;p21"/>
          <p:cNvSpPr/>
          <p:nvPr/>
        </p:nvSpPr>
        <p:spPr>
          <a:xfrm>
            <a:off x="7511705" y="4670592"/>
            <a:ext cx="1463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2026   |   31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1EE"/>
        </a:solidFill>
      </p:bgPr>
    </p:bg>
    <p:spTree>
      <p:nvGrpSpPr>
        <p:cNvPr id="1193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4" name="Google Shape;1194;p22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1916"/>
              </a:buClr>
              <a:buSzPts val="2600"/>
              <a:buFont typeface="Calibri"/>
              <a:buNone/>
            </a:pPr>
            <a:r>
              <a:rPr b="1" i="0" lang="en-US" sz="3500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Inference: Domain Perspective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5" name="Google Shape;1195;p22"/>
          <p:cNvSpPr/>
          <p:nvPr/>
        </p:nvSpPr>
        <p:spPr>
          <a:xfrm>
            <a:off x="457200" y="868680"/>
            <a:ext cx="8229600" cy="22860"/>
          </a:xfrm>
          <a:prstGeom prst="rect">
            <a:avLst/>
          </a:prstGeom>
          <a:solidFill>
            <a:srgbClr val="EAE8E4"/>
          </a:solidFill>
          <a:ln cap="flat" cmpd="sng" w="12700">
            <a:solidFill>
              <a:srgbClr val="EAE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6" name="Google Shape;1196;p22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7" name="Google Shape;1197;p22"/>
          <p:cNvSpPr/>
          <p:nvPr/>
        </p:nvSpPr>
        <p:spPr>
          <a:xfrm>
            <a:off x="4507992" y="4892040"/>
            <a:ext cx="128016" cy="128016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8" name="Google Shape;1198;p22"/>
          <p:cNvSpPr/>
          <p:nvPr/>
        </p:nvSpPr>
        <p:spPr>
          <a:xfrm>
            <a:off x="7498080" y="450799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2026   |   32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9" name="Google Shape;1199;p22"/>
          <p:cNvSpPr/>
          <p:nvPr/>
        </p:nvSpPr>
        <p:spPr>
          <a:xfrm>
            <a:off x="457200" y="987552"/>
            <a:ext cx="8229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1916"/>
              </a:buClr>
              <a:buSzPts val="1400"/>
              <a:buFont typeface="Calibri"/>
              <a:buNone/>
            </a:pPr>
            <a:r>
              <a:rPr b="1" i="0" lang="en-US" sz="1600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What This Means for Real-World Wireless Edge Computing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0" name="Google Shape;1200;p22"/>
          <p:cNvSpPr/>
          <p:nvPr/>
        </p:nvSpPr>
        <p:spPr>
          <a:xfrm>
            <a:off x="457200" y="1417320"/>
            <a:ext cx="4114800" cy="1325880"/>
          </a:xfrm>
          <a:prstGeom prst="rect">
            <a:avLst/>
          </a:prstGeom>
          <a:solidFill>
            <a:srgbClr val="EAE8E4"/>
          </a:solidFill>
          <a:ln cap="flat" cmpd="sng" w="12700">
            <a:solidFill>
              <a:srgbClr val="EAE8E4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1" name="Google Shape;1201;p22"/>
          <p:cNvSpPr/>
          <p:nvPr/>
        </p:nvSpPr>
        <p:spPr>
          <a:xfrm>
            <a:off x="566928" y="1527048"/>
            <a:ext cx="411480" cy="411480"/>
          </a:xfrm>
          <a:prstGeom prst="ellipse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2" name="Google Shape;1202;p22"/>
          <p:cNvSpPr/>
          <p:nvPr/>
        </p:nvSpPr>
        <p:spPr>
          <a:xfrm>
            <a:off x="566928" y="1527048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3" name="Google Shape;1203;p22"/>
          <p:cNvSpPr/>
          <p:nvPr/>
        </p:nvSpPr>
        <p:spPr>
          <a:xfrm>
            <a:off x="1078992" y="1545336"/>
            <a:ext cx="34015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1916"/>
              </a:buClr>
              <a:buSzPts val="1200"/>
              <a:buFont typeface="Calibri"/>
              <a:buNone/>
            </a:pPr>
            <a:r>
              <a:rPr b="1" i="0" lang="en-US" sz="1400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Variance is the Real Enemy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4" name="Google Shape;1204;p22"/>
          <p:cNvSpPr/>
          <p:nvPr/>
        </p:nvSpPr>
        <p:spPr>
          <a:xfrm>
            <a:off x="566928" y="1947672"/>
            <a:ext cx="3895344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848"/>
              </a:buClr>
              <a:buSzPts val="1050"/>
              <a:buFont typeface="Calibri"/>
              <a:buNone/>
            </a:pPr>
            <a:r>
              <a:rPr b="0" i="0" lang="en-US" sz="1250" u="none" cap="none" strike="noStrike">
                <a:solidFill>
                  <a:srgbClr val="444848"/>
                </a:solidFill>
                <a:latin typeface="Calibri"/>
                <a:ea typeface="Calibri"/>
                <a:cs typeface="Calibri"/>
                <a:sym typeface="Calibri"/>
              </a:rPr>
              <a:t>Mean processing time alone cannot predict system behaviour. Jensen's Inequality guarantees that high-variance tasks cause disproportionately more deadline misses than averages suggest.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5" name="Google Shape;1205;p22"/>
          <p:cNvSpPr/>
          <p:nvPr/>
        </p:nvSpPr>
        <p:spPr>
          <a:xfrm>
            <a:off x="4800600" y="1417320"/>
            <a:ext cx="4114800" cy="1325880"/>
          </a:xfrm>
          <a:prstGeom prst="rect">
            <a:avLst/>
          </a:prstGeom>
          <a:solidFill>
            <a:srgbClr val="EAE8E4"/>
          </a:solidFill>
          <a:ln cap="flat" cmpd="sng" w="12700">
            <a:solidFill>
              <a:srgbClr val="EAE8E4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6" name="Google Shape;1206;p22"/>
          <p:cNvSpPr/>
          <p:nvPr/>
        </p:nvSpPr>
        <p:spPr>
          <a:xfrm>
            <a:off x="4910328" y="1527048"/>
            <a:ext cx="411480" cy="411480"/>
          </a:xfrm>
          <a:prstGeom prst="ellipse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7" name="Google Shape;1207;p22"/>
          <p:cNvSpPr/>
          <p:nvPr/>
        </p:nvSpPr>
        <p:spPr>
          <a:xfrm>
            <a:off x="4910328" y="1527048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8" name="Google Shape;1208;p22"/>
          <p:cNvSpPr/>
          <p:nvPr/>
        </p:nvSpPr>
        <p:spPr>
          <a:xfrm>
            <a:off x="5422392" y="1545336"/>
            <a:ext cx="34015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1916"/>
              </a:buClr>
              <a:buSzPts val="1200"/>
              <a:buFont typeface="Calibri"/>
              <a:buNone/>
            </a:pPr>
            <a:r>
              <a:rPr b="1" i="0" lang="en-US" sz="1400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Correlated Inputs Must Be Modelled Together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9" name="Google Shape;1209;p22"/>
          <p:cNvSpPr/>
          <p:nvPr/>
        </p:nvSpPr>
        <p:spPr>
          <a:xfrm>
            <a:off x="4910328" y="1947672"/>
            <a:ext cx="3895344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848"/>
              </a:buClr>
              <a:buSzPts val="1050"/>
              <a:buFont typeface="Calibri"/>
              <a:buNone/>
            </a:pPr>
            <a:r>
              <a:rPr b="0" i="0" lang="en-US" sz="1250" u="none" cap="none" strike="noStrike">
                <a:solidFill>
                  <a:srgbClr val="444848"/>
                </a:solidFill>
                <a:latin typeface="Calibri"/>
                <a:ea typeface="Calibri"/>
                <a:cs typeface="Calibri"/>
                <a:sym typeface="Calibri"/>
              </a:rPr>
              <a:t>Task size and CPU demand are positively correlated (ρ=+0.55). Systems that model them independently will systematically underestimate sojourn times and overload nodes.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0" name="Google Shape;1210;p22"/>
          <p:cNvSpPr/>
          <p:nvPr/>
        </p:nvSpPr>
        <p:spPr>
          <a:xfrm>
            <a:off x="457200" y="2862072"/>
            <a:ext cx="4114800" cy="1325880"/>
          </a:xfrm>
          <a:prstGeom prst="rect">
            <a:avLst/>
          </a:prstGeom>
          <a:solidFill>
            <a:srgbClr val="EAE8E4"/>
          </a:solidFill>
          <a:ln cap="flat" cmpd="sng" w="12700">
            <a:solidFill>
              <a:srgbClr val="EAE8E4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1" name="Google Shape;1211;p22"/>
          <p:cNvSpPr/>
          <p:nvPr/>
        </p:nvSpPr>
        <p:spPr>
          <a:xfrm>
            <a:off x="566928" y="2971800"/>
            <a:ext cx="411480" cy="411480"/>
          </a:xfrm>
          <a:prstGeom prst="ellipse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2" name="Google Shape;1212;p22"/>
          <p:cNvSpPr/>
          <p:nvPr/>
        </p:nvSpPr>
        <p:spPr>
          <a:xfrm>
            <a:off x="566928" y="297180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3" name="Google Shape;1213;p22"/>
          <p:cNvSpPr/>
          <p:nvPr/>
        </p:nvSpPr>
        <p:spPr>
          <a:xfrm>
            <a:off x="1078992" y="2990088"/>
            <a:ext cx="34015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1916"/>
              </a:buClr>
              <a:buSzPts val="1200"/>
              <a:buFont typeface="Calibri"/>
              <a:buNone/>
            </a:pPr>
            <a:r>
              <a:rPr b="1" i="0" lang="en-US" sz="1400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Coordinated Rational Agents Cause Collective Failure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4" name="Google Shape;1214;p22"/>
          <p:cNvSpPr/>
          <p:nvPr/>
        </p:nvSpPr>
        <p:spPr>
          <a:xfrm>
            <a:off x="566928" y="3392424"/>
            <a:ext cx="3895344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848"/>
              </a:buClr>
              <a:buSzPts val="1050"/>
              <a:buFont typeface="Calibri"/>
              <a:buNone/>
            </a:pPr>
            <a:r>
              <a:rPr b="0" i="0" lang="en-US" sz="1250" u="none" cap="none" strike="noStrike">
                <a:solidFill>
                  <a:srgbClr val="444848"/>
                </a:solidFill>
                <a:latin typeface="Calibri"/>
                <a:ea typeface="Calibri"/>
                <a:cs typeface="Calibri"/>
                <a:sym typeface="Calibri"/>
              </a:rPr>
              <a:t>The Herd Effect is not unique to this system — it appears in financial markets, traffic networks, and cloud load balancers. Deterministic 'smart' decisions cause stampedes.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5" name="Google Shape;1215;p22"/>
          <p:cNvSpPr/>
          <p:nvPr/>
        </p:nvSpPr>
        <p:spPr>
          <a:xfrm>
            <a:off x="4800600" y="2862072"/>
            <a:ext cx="4114800" cy="1325880"/>
          </a:xfrm>
          <a:prstGeom prst="rect">
            <a:avLst/>
          </a:prstGeom>
          <a:solidFill>
            <a:srgbClr val="EAE8E4"/>
          </a:solidFill>
          <a:ln cap="flat" cmpd="sng" w="12700">
            <a:solidFill>
              <a:srgbClr val="EAE8E4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6" name="Google Shape;1216;p22"/>
          <p:cNvSpPr/>
          <p:nvPr/>
        </p:nvSpPr>
        <p:spPr>
          <a:xfrm>
            <a:off x="4910328" y="2971800"/>
            <a:ext cx="411480" cy="411480"/>
          </a:xfrm>
          <a:prstGeom prst="ellipse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7" name="Google Shape;1217;p22"/>
          <p:cNvSpPr/>
          <p:nvPr/>
        </p:nvSpPr>
        <p:spPr>
          <a:xfrm>
            <a:off x="4910328" y="297180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8" name="Google Shape;1218;p22"/>
          <p:cNvSpPr/>
          <p:nvPr/>
        </p:nvSpPr>
        <p:spPr>
          <a:xfrm>
            <a:off x="5422392" y="2990088"/>
            <a:ext cx="34015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1916"/>
              </a:buClr>
              <a:buSzPts val="1200"/>
              <a:buFont typeface="Calibri"/>
              <a:buNone/>
            </a:pPr>
            <a:r>
              <a:rPr b="1" i="0" lang="en-US" sz="1400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Controlled Randomness Restores Stability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9" name="Google Shape;1219;p22"/>
          <p:cNvSpPr/>
          <p:nvPr/>
        </p:nvSpPr>
        <p:spPr>
          <a:xfrm>
            <a:off x="4910328" y="3392424"/>
            <a:ext cx="3895344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848"/>
              </a:buClr>
              <a:buSzPts val="1050"/>
              <a:buFont typeface="Calibri"/>
              <a:buNone/>
            </a:pPr>
            <a:r>
              <a:rPr b="0" i="0" lang="en-US" sz="1250" u="none" cap="none" strike="noStrike">
                <a:solidFill>
                  <a:srgbClr val="444848"/>
                </a:solidFill>
                <a:latin typeface="Calibri"/>
                <a:ea typeface="Calibri"/>
                <a:cs typeface="Calibri"/>
                <a:sym typeface="Calibri"/>
              </a:rPr>
              <a:t>Just 12.6% exploratory decisions broke synchronisation completely. Applications: internet routing, CDN load balancing, 5G network slicing, cloud task scheduling.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1EE"/>
        </a:solidFill>
      </p:bgPr>
    </p:bg>
    <p:spTree>
      <p:nvGrpSpPr>
        <p:cNvPr id="1224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" name="Google Shape;1225;p23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1916"/>
              </a:buClr>
              <a:buSzPts val="2600"/>
              <a:buFont typeface="Calibri"/>
              <a:buNone/>
            </a:pPr>
            <a:r>
              <a:rPr b="1" i="0" lang="en-US" sz="3400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Inference: Computer Science Perspective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6" name="Google Shape;1226;p23"/>
          <p:cNvSpPr/>
          <p:nvPr/>
        </p:nvSpPr>
        <p:spPr>
          <a:xfrm>
            <a:off x="457200" y="868680"/>
            <a:ext cx="8229600" cy="22860"/>
          </a:xfrm>
          <a:prstGeom prst="rect">
            <a:avLst/>
          </a:prstGeom>
          <a:solidFill>
            <a:srgbClr val="EAE8E4"/>
          </a:solidFill>
          <a:ln cap="flat" cmpd="sng" w="12700">
            <a:solidFill>
              <a:srgbClr val="EAE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7" name="Google Shape;1227;p2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8" name="Google Shape;1228;p23"/>
          <p:cNvSpPr/>
          <p:nvPr/>
        </p:nvSpPr>
        <p:spPr>
          <a:xfrm>
            <a:off x="4507992" y="4892040"/>
            <a:ext cx="128016" cy="128016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229" name="Google Shape;122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168" y="4462272"/>
            <a:ext cx="1280160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230" name="Google Shape;1230;p23"/>
          <p:cNvSpPr/>
          <p:nvPr/>
        </p:nvSpPr>
        <p:spPr>
          <a:xfrm>
            <a:off x="7532855" y="4689517"/>
            <a:ext cx="1463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2026   |   33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1" name="Google Shape;1231;p23"/>
          <p:cNvSpPr/>
          <p:nvPr/>
        </p:nvSpPr>
        <p:spPr>
          <a:xfrm>
            <a:off x="457200" y="987550"/>
            <a:ext cx="82803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1916"/>
              </a:buClr>
              <a:buSzPts val="1104"/>
              <a:buFont typeface="Calibri"/>
              <a:buNone/>
            </a:pPr>
            <a:r>
              <a:rPr b="1" i="0" lang="en-US" sz="1304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Algorithmic &amp; Theoretical Takeaways</a:t>
            </a:r>
            <a:endParaRPr b="0" i="0" sz="130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2" name="Google Shape;1232;p23"/>
          <p:cNvSpPr/>
          <p:nvPr/>
        </p:nvSpPr>
        <p:spPr>
          <a:xfrm>
            <a:off x="457200" y="1245426"/>
            <a:ext cx="8280300" cy="480000"/>
          </a:xfrm>
          <a:prstGeom prst="rect">
            <a:avLst/>
          </a:prstGeom>
          <a:solidFill>
            <a:srgbClr val="EAE8E4"/>
          </a:solidFill>
          <a:ln cap="flat" cmpd="sng" w="10025">
            <a:solidFill>
              <a:srgbClr val="D0CE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125" lIns="72125" spcFirstLastPara="1" rIns="72125" wrap="square" tIns="72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3" name="Google Shape;1233;p23"/>
          <p:cNvSpPr/>
          <p:nvPr/>
        </p:nvSpPr>
        <p:spPr>
          <a:xfrm>
            <a:off x="457200" y="1245426"/>
            <a:ext cx="91800" cy="480000"/>
          </a:xfrm>
          <a:prstGeom prst="rect">
            <a:avLst/>
          </a:prstGeom>
          <a:solidFill>
            <a:srgbClr val="7D1916"/>
          </a:solidFill>
          <a:ln cap="flat" cmpd="sng" w="10025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125" lIns="72125" spcFirstLastPara="1" rIns="72125" wrap="square" tIns="72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4" name="Google Shape;1234;p23"/>
          <p:cNvSpPr/>
          <p:nvPr/>
        </p:nvSpPr>
        <p:spPr>
          <a:xfrm>
            <a:off x="659607" y="1265988"/>
            <a:ext cx="79587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50" lIns="72125" spcFirstLastPara="1" rIns="72125" wrap="square" tIns="36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1916"/>
              </a:buClr>
              <a:buSzPts val="907"/>
              <a:buFont typeface="Calibri"/>
              <a:buNone/>
            </a:pPr>
            <a:r>
              <a:rPr b="1" i="0" lang="en-US" sz="1107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Algorithm Design:  </a:t>
            </a:r>
            <a:r>
              <a:rPr b="0" i="0" lang="en-US" sz="110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Deterministic greedy (SDF) is O(N) per decision but fails globally. Stochastic DDQN adds O(L²) neural forward pass but prevents system-level collapse. Computational overhead is worth it.</a:t>
            </a:r>
            <a:endParaRPr b="0" i="0" sz="110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5" name="Google Shape;1235;p23"/>
          <p:cNvSpPr/>
          <p:nvPr/>
        </p:nvSpPr>
        <p:spPr>
          <a:xfrm>
            <a:off x="457200" y="1773199"/>
            <a:ext cx="8280300" cy="480000"/>
          </a:xfrm>
          <a:prstGeom prst="rect">
            <a:avLst/>
          </a:prstGeom>
          <a:solidFill>
            <a:srgbClr val="ECEAE6"/>
          </a:solidFill>
          <a:ln cap="flat" cmpd="sng" w="10025">
            <a:solidFill>
              <a:srgbClr val="D0CE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125" lIns="72125" spcFirstLastPara="1" rIns="72125" wrap="square" tIns="72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6" name="Google Shape;1236;p23"/>
          <p:cNvSpPr/>
          <p:nvPr/>
        </p:nvSpPr>
        <p:spPr>
          <a:xfrm>
            <a:off x="457200" y="1773199"/>
            <a:ext cx="91800" cy="480000"/>
          </a:xfrm>
          <a:prstGeom prst="rect">
            <a:avLst/>
          </a:prstGeom>
          <a:solidFill>
            <a:srgbClr val="7D1916"/>
          </a:solidFill>
          <a:ln cap="flat" cmpd="sng" w="10025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125" lIns="72125" spcFirstLastPara="1" rIns="72125" wrap="square" tIns="72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7" name="Google Shape;1237;p23"/>
          <p:cNvSpPr/>
          <p:nvPr/>
        </p:nvSpPr>
        <p:spPr>
          <a:xfrm>
            <a:off x="659607" y="1793762"/>
            <a:ext cx="79587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50" lIns="72125" spcFirstLastPara="1" rIns="72125" wrap="square" tIns="36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1916"/>
              </a:buClr>
              <a:buSzPts val="907"/>
              <a:buFont typeface="Calibri"/>
              <a:buNone/>
            </a:pPr>
            <a:r>
              <a:rPr b="1" i="0" lang="en-US" sz="1107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Potential Game Convergence:  </a:t>
            </a:r>
            <a:r>
              <a:rPr b="0" i="0" lang="en-US" sz="110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system is proven to be a Potential Game. This guarantees Nash Equilibrium exists and the distributed algorithm converges without central coordination — a key result for scalable systems.</a:t>
            </a:r>
            <a:endParaRPr b="0" i="0" sz="110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8" name="Google Shape;1238;p23"/>
          <p:cNvSpPr/>
          <p:nvPr/>
        </p:nvSpPr>
        <p:spPr>
          <a:xfrm>
            <a:off x="457200" y="2300974"/>
            <a:ext cx="8280300" cy="480000"/>
          </a:xfrm>
          <a:prstGeom prst="rect">
            <a:avLst/>
          </a:prstGeom>
          <a:solidFill>
            <a:srgbClr val="EAE8E4"/>
          </a:solidFill>
          <a:ln cap="flat" cmpd="sng" w="10025">
            <a:solidFill>
              <a:srgbClr val="D0CE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125" lIns="72125" spcFirstLastPara="1" rIns="72125" wrap="square" tIns="72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9" name="Google Shape;1239;p23"/>
          <p:cNvSpPr/>
          <p:nvPr/>
        </p:nvSpPr>
        <p:spPr>
          <a:xfrm>
            <a:off x="457200" y="2300974"/>
            <a:ext cx="91800" cy="480000"/>
          </a:xfrm>
          <a:prstGeom prst="rect">
            <a:avLst/>
          </a:prstGeom>
          <a:solidFill>
            <a:srgbClr val="7D1916"/>
          </a:solidFill>
          <a:ln cap="flat" cmpd="sng" w="10025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125" lIns="72125" spcFirstLastPara="1" rIns="72125" wrap="square" tIns="72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0" name="Google Shape;1240;p23"/>
          <p:cNvSpPr/>
          <p:nvPr/>
        </p:nvSpPr>
        <p:spPr>
          <a:xfrm>
            <a:off x="659607" y="2321537"/>
            <a:ext cx="79587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50" lIns="72125" spcFirstLastPara="1" rIns="72125" wrap="square" tIns="36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1916"/>
              </a:buClr>
              <a:buSzPts val="907"/>
              <a:buFont typeface="Calibri"/>
              <a:buNone/>
            </a:pPr>
            <a:r>
              <a:rPr b="1" i="0" lang="en-US" sz="1107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Deep RL for Combinatorial Routing:  </a:t>
            </a:r>
            <a:r>
              <a:rPr b="0" i="0" lang="en-US" sz="110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DDQN replaces a lookup table (impossible for continuous 8-D state) with a neural approximator. Experience replay solves the temporal correlation problem inherent in sequential queueing data</a:t>
            </a:r>
            <a:r>
              <a:rPr b="0" i="0" lang="en-US" sz="1107" u="none" cap="none" strike="noStrike">
                <a:solidFill>
                  <a:srgbClr val="444848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10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1" name="Google Shape;1241;p23"/>
          <p:cNvSpPr/>
          <p:nvPr/>
        </p:nvSpPr>
        <p:spPr>
          <a:xfrm>
            <a:off x="457200" y="3008425"/>
            <a:ext cx="8280300" cy="828600"/>
          </a:xfrm>
          <a:prstGeom prst="rect">
            <a:avLst/>
          </a:prstGeom>
          <a:solidFill>
            <a:srgbClr val="EAE8E4"/>
          </a:solidFill>
          <a:ln cap="flat" cmpd="sng" w="9525">
            <a:solidFill>
              <a:srgbClr val="4A0D0B"/>
            </a:solidFill>
            <a:prstDash val="solid"/>
            <a:round/>
            <a:headEnd len="sm" w="sm" type="none"/>
            <a:tailEnd len="sm" w="sm" type="none"/>
          </a:ln>
          <a:effectLst>
            <a:outerShdw blurRad="114058" rotWithShape="0" algn="bl" dir="8100000" dist="40735">
              <a:srgbClr val="000000">
                <a:alpha val="18039"/>
              </a:srgbClr>
            </a:outerShdw>
          </a:effectLst>
        </p:spPr>
        <p:txBody>
          <a:bodyPr anchorCtr="0" anchor="ctr" bIns="58650" lIns="58650" spcFirstLastPara="1" rIns="58650" wrap="square" tIns="58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2" name="Google Shape;1242;p23"/>
          <p:cNvSpPr/>
          <p:nvPr/>
        </p:nvSpPr>
        <p:spPr>
          <a:xfrm>
            <a:off x="457200" y="3008425"/>
            <a:ext cx="56400" cy="828600"/>
          </a:xfrm>
          <a:prstGeom prst="rect">
            <a:avLst/>
          </a:prstGeom>
          <a:solidFill>
            <a:srgbClr val="FFF0F0"/>
          </a:solidFill>
          <a:ln cap="flat" cmpd="sng" w="9525">
            <a:solidFill>
              <a:srgbClr val="BC93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8650" lIns="58650" spcFirstLastPara="1" rIns="58650" wrap="square" tIns="58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3" name="Google Shape;1243;p23"/>
          <p:cNvSpPr/>
          <p:nvPr/>
        </p:nvSpPr>
        <p:spPr>
          <a:xfrm>
            <a:off x="570114" y="3032444"/>
            <a:ext cx="7527600" cy="180000"/>
          </a:xfrm>
          <a:prstGeom prst="rect">
            <a:avLst/>
          </a:prstGeom>
          <a:solidFill>
            <a:srgbClr val="EAE8E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C933E"/>
              </a:buClr>
              <a:buSzPts val="834"/>
              <a:buFont typeface="Calibri"/>
              <a:buNone/>
            </a:pPr>
            <a:r>
              <a:rPr b="1" i="0" lang="en-US" sz="1634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The Universal Lesson:</a:t>
            </a:r>
            <a:endParaRPr b="1" i="0" sz="1634" u="none" cap="none" strike="noStrike">
              <a:solidFill>
                <a:srgbClr val="7D191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4" name="Google Shape;1244;p23"/>
          <p:cNvSpPr/>
          <p:nvPr/>
        </p:nvSpPr>
        <p:spPr>
          <a:xfrm>
            <a:off x="570114" y="3212585"/>
            <a:ext cx="7590000" cy="588300"/>
          </a:xfrm>
          <a:prstGeom prst="rect">
            <a:avLst/>
          </a:prstGeom>
          <a:solidFill>
            <a:srgbClr val="EAE8E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1EE"/>
              </a:buClr>
              <a:buSzPts val="706"/>
              <a:buFont typeface="Calibri"/>
              <a:buNone/>
            </a:pPr>
            <a:r>
              <a:rPr b="0" i="0" lang="en-US" sz="1006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In competitive distributed systems, deterministic 'rational' decisions cause irrational collective outcomes (Herd Effect). Controlled probabilistic randomness is not just better — it is a fundamental necessity for stability. This applies to: internet routing, financial markets, traffic flow, cloud load balancers, and any system where multiple agents simultaneously compete for shared resources.</a:t>
            </a:r>
            <a:endParaRPr b="0" i="0" sz="1006" u="none" cap="none" strike="noStrike">
              <a:solidFill>
                <a:srgbClr val="7D191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5" name="Google Shape;1245;p23"/>
          <p:cNvSpPr/>
          <p:nvPr/>
        </p:nvSpPr>
        <p:spPr>
          <a:xfrm>
            <a:off x="457200" y="3897125"/>
            <a:ext cx="8280300" cy="816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  <a:effectLst>
            <a:outerShdw blurRad="65176" rotWithShape="0" algn="bl" dir="8100000" dist="24441">
              <a:srgbClr val="000000">
                <a:alpha val="12156"/>
              </a:srgbClr>
            </a:outerShdw>
          </a:effectLst>
        </p:spPr>
        <p:txBody>
          <a:bodyPr anchorCtr="0" anchor="ctr" bIns="58650" lIns="58650" spcFirstLastPara="1" rIns="58650" wrap="square" tIns="58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6" name="Google Shape;1246;p23"/>
          <p:cNvSpPr/>
          <p:nvPr/>
        </p:nvSpPr>
        <p:spPr>
          <a:xfrm>
            <a:off x="457200" y="3897120"/>
            <a:ext cx="7985700" cy="228300"/>
          </a:xfrm>
          <a:prstGeom prst="rect">
            <a:avLst/>
          </a:prstGeom>
          <a:solidFill>
            <a:srgbClr val="E8D5C0"/>
          </a:solidFill>
          <a:ln cap="flat" cmpd="sng" w="9525">
            <a:solidFill>
              <a:srgbClr val="4A0D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8650" lIns="58650" spcFirstLastPara="1" rIns="58650" wrap="square" tIns="58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7" name="Google Shape;1247;p23"/>
          <p:cNvSpPr/>
          <p:nvPr/>
        </p:nvSpPr>
        <p:spPr>
          <a:xfrm>
            <a:off x="532475" y="3897125"/>
            <a:ext cx="8229600" cy="228300"/>
          </a:xfrm>
          <a:prstGeom prst="rect">
            <a:avLst/>
          </a:prstGeom>
          <a:solidFill>
            <a:srgbClr val="EAE8E4"/>
          </a:solidFill>
          <a:ln>
            <a:noFill/>
          </a:ln>
        </p:spPr>
        <p:txBody>
          <a:bodyPr anchorCtr="0" anchor="ctr" bIns="32600" lIns="32600" spcFirstLastPara="1" rIns="32600" wrap="square" tIns="326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4"/>
              <a:buFont typeface="Calibri"/>
              <a:buNone/>
            </a:pPr>
            <a:r>
              <a:rPr b="1" i="0" lang="en-US" sz="83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Known M4 Limitations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8" name="Google Shape;1248;p23"/>
          <p:cNvSpPr/>
          <p:nvPr/>
        </p:nvSpPr>
        <p:spPr>
          <a:xfrm>
            <a:off x="519930" y="4161327"/>
            <a:ext cx="1317300" cy="492300"/>
          </a:xfrm>
          <a:prstGeom prst="rect">
            <a:avLst/>
          </a:prstGeom>
          <a:solidFill>
            <a:srgbClr val="7D1916">
              <a:alpha val="7058"/>
            </a:srgbClr>
          </a:solidFill>
          <a:ln cap="flat" cmpd="sng" w="9525">
            <a:solidFill>
              <a:srgbClr val="7D1916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8650" lIns="58650" spcFirstLastPara="1" rIns="58650" wrap="square" tIns="58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9" name="Google Shape;1249;p23"/>
          <p:cNvSpPr/>
          <p:nvPr/>
        </p:nvSpPr>
        <p:spPr>
          <a:xfrm>
            <a:off x="557568" y="4161327"/>
            <a:ext cx="12423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2600" lIns="32600" spcFirstLastPara="1" rIns="32600" wrap="square" tIns="326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1916"/>
              </a:buClr>
              <a:buSzPts val="577"/>
              <a:buFont typeface="Calibri"/>
              <a:buNone/>
            </a:pPr>
            <a:r>
              <a:rPr b="0" i="0" lang="en-US" sz="977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Oracle W_q → POMDP belief states b_t = P(S_t|observations)</a:t>
            </a:r>
            <a:endParaRPr b="0" i="0" sz="97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0" name="Google Shape;1250;p23"/>
          <p:cNvSpPr/>
          <p:nvPr/>
        </p:nvSpPr>
        <p:spPr>
          <a:xfrm>
            <a:off x="1899984" y="4161327"/>
            <a:ext cx="1317300" cy="492300"/>
          </a:xfrm>
          <a:prstGeom prst="rect">
            <a:avLst/>
          </a:prstGeom>
          <a:solidFill>
            <a:srgbClr val="7D1916">
              <a:alpha val="7058"/>
            </a:srgbClr>
          </a:solidFill>
          <a:ln cap="flat" cmpd="sng" w="9525">
            <a:solidFill>
              <a:srgbClr val="7D1916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8650" lIns="58650" spcFirstLastPara="1" rIns="58650" wrap="square" tIns="58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1" name="Google Shape;1251;p23"/>
          <p:cNvSpPr/>
          <p:nvPr/>
        </p:nvSpPr>
        <p:spPr>
          <a:xfrm>
            <a:off x="1937622" y="4161327"/>
            <a:ext cx="12423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2600" lIns="32600" spcFirstLastPara="1" rIns="32600" wrap="square" tIns="326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1916"/>
              </a:buClr>
              <a:buSzPts val="577"/>
              <a:buFont typeface="Calibri"/>
              <a:buNone/>
            </a:pPr>
            <a:r>
              <a:rPr b="0" i="0" lang="en-US" sz="977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Fixed λ → Time-varying λ(t) + distribution shift testing</a:t>
            </a:r>
            <a:endParaRPr b="0" i="0" sz="97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2" name="Google Shape;1252;p23"/>
          <p:cNvSpPr/>
          <p:nvPr/>
        </p:nvSpPr>
        <p:spPr>
          <a:xfrm>
            <a:off x="3280038" y="4161327"/>
            <a:ext cx="1317300" cy="492300"/>
          </a:xfrm>
          <a:prstGeom prst="rect">
            <a:avLst/>
          </a:prstGeom>
          <a:solidFill>
            <a:srgbClr val="7D1916">
              <a:alpha val="7058"/>
            </a:srgbClr>
          </a:solidFill>
          <a:ln cap="flat" cmpd="sng" w="9525">
            <a:solidFill>
              <a:srgbClr val="7D1916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8650" lIns="58650" spcFirstLastPara="1" rIns="58650" wrap="square" tIns="58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3" name="Google Shape;1253;p23"/>
          <p:cNvSpPr/>
          <p:nvPr/>
        </p:nvSpPr>
        <p:spPr>
          <a:xfrm>
            <a:off x="3317675" y="4161327"/>
            <a:ext cx="12423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2600" lIns="32600" spcFirstLastPara="1" rIns="32600" wrap="square" tIns="326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1916"/>
              </a:buClr>
              <a:buSzPts val="577"/>
              <a:buFont typeface="Calibri"/>
              <a:buNone/>
            </a:pPr>
            <a:r>
              <a:rPr b="0" i="0" lang="en-US" sz="977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Fixed BW → Rayleigh fading: BW_eff(t) ~ Exp(1)</a:t>
            </a:r>
            <a:endParaRPr b="0" i="0" sz="97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4" name="Google Shape;1254;p23"/>
          <p:cNvSpPr/>
          <p:nvPr/>
        </p:nvSpPr>
        <p:spPr>
          <a:xfrm>
            <a:off x="4660092" y="4161327"/>
            <a:ext cx="1317300" cy="492300"/>
          </a:xfrm>
          <a:prstGeom prst="rect">
            <a:avLst/>
          </a:prstGeom>
          <a:solidFill>
            <a:srgbClr val="7D1916">
              <a:alpha val="7058"/>
            </a:srgbClr>
          </a:solidFill>
          <a:ln cap="flat" cmpd="sng" w="9525">
            <a:solidFill>
              <a:srgbClr val="7D1916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8650" lIns="58650" spcFirstLastPara="1" rIns="58650" wrap="square" tIns="58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5" name="Google Shape;1255;p23"/>
          <p:cNvSpPr/>
          <p:nvPr/>
        </p:nvSpPr>
        <p:spPr>
          <a:xfrm>
            <a:off x="4697729" y="4161327"/>
            <a:ext cx="12423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2600" lIns="32600" spcFirstLastPara="1" rIns="32600" wrap="square" tIns="326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1916"/>
              </a:buClr>
              <a:buSzPts val="577"/>
              <a:buFont typeface="Calibri"/>
              <a:buNone/>
            </a:pPr>
            <a:r>
              <a:rPr b="0" i="0" lang="en-US" sz="977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Train=Test → Held-out test episode with ε=0</a:t>
            </a:r>
            <a:endParaRPr b="0" i="0" sz="97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6" name="Google Shape;1256;p23"/>
          <p:cNvSpPr/>
          <p:nvPr/>
        </p:nvSpPr>
        <p:spPr>
          <a:xfrm>
            <a:off x="6040146" y="4161327"/>
            <a:ext cx="1317300" cy="492300"/>
          </a:xfrm>
          <a:prstGeom prst="rect">
            <a:avLst/>
          </a:prstGeom>
          <a:solidFill>
            <a:srgbClr val="7D1916">
              <a:alpha val="7058"/>
            </a:srgbClr>
          </a:solidFill>
          <a:ln cap="flat" cmpd="sng" w="9525">
            <a:solidFill>
              <a:srgbClr val="7D1916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8650" lIns="58650" spcFirstLastPara="1" rIns="58650" wrap="square" tIns="58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7" name="Google Shape;1257;p23"/>
          <p:cNvSpPr/>
          <p:nvPr/>
        </p:nvSpPr>
        <p:spPr>
          <a:xfrm>
            <a:off x="6077783" y="4161327"/>
            <a:ext cx="12423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2600" lIns="32600" spcFirstLastPara="1" rIns="32600" wrap="square" tIns="326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1916"/>
              </a:buClr>
              <a:buSzPts val="577"/>
              <a:buFont typeface="Calibri"/>
              <a:buNone/>
            </a:pPr>
            <a:r>
              <a:rPr b="0" i="0" lang="en-US" sz="977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N=5 nodes → N=20 with Graph Neural Networks</a:t>
            </a:r>
            <a:endParaRPr b="0" i="0" sz="97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8" name="Google Shape;1258;p23"/>
          <p:cNvSpPr/>
          <p:nvPr/>
        </p:nvSpPr>
        <p:spPr>
          <a:xfrm>
            <a:off x="7420200" y="4161325"/>
            <a:ext cx="1022700" cy="492300"/>
          </a:xfrm>
          <a:prstGeom prst="rect">
            <a:avLst/>
          </a:prstGeom>
          <a:solidFill>
            <a:srgbClr val="7D1916">
              <a:alpha val="7058"/>
            </a:srgbClr>
          </a:solidFill>
          <a:ln cap="flat" cmpd="sng" w="9525">
            <a:solidFill>
              <a:srgbClr val="7D1916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8650" lIns="58650" spcFirstLastPara="1" rIns="58650" wrap="square" tIns="58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191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T_temp=0.5 heuristic → Pareto grid search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6F3"/>
        </a:solidFill>
      </p:bgPr>
    </p:bg>
    <p:spTree>
      <p:nvGrpSpPr>
        <p:cNvPr id="1262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p34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-US" sz="3000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M4 Simplification</a:t>
            </a:r>
            <a:endParaRPr b="0" i="0" sz="3000" u="none" cap="none" strike="noStrike">
              <a:solidFill>
                <a:srgbClr val="7D19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4" name="Google Shape;1264;p34"/>
          <p:cNvSpPr/>
          <p:nvPr/>
        </p:nvSpPr>
        <p:spPr>
          <a:xfrm>
            <a:off x="457200" y="713232"/>
            <a:ext cx="8229600" cy="27432"/>
          </a:xfrm>
          <a:prstGeom prst="rect">
            <a:avLst/>
          </a:prstGeom>
          <a:solidFill>
            <a:srgbClr val="EAE8E4"/>
          </a:solidFill>
          <a:ln cap="flat" cmpd="sng" w="12700">
            <a:solidFill>
              <a:srgbClr val="EAE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5" name="Google Shape;1265;p34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6" name="Google Shape;1266;p34"/>
          <p:cNvSpPr/>
          <p:nvPr/>
        </p:nvSpPr>
        <p:spPr>
          <a:xfrm>
            <a:off x="4507992" y="4878324"/>
            <a:ext cx="128016" cy="128016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7" name="Google Shape;1267;p34"/>
          <p:cNvSpPr/>
          <p:nvPr/>
        </p:nvSpPr>
        <p:spPr>
          <a:xfrm>
            <a:off x="6727279" y="4590275"/>
            <a:ext cx="195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900" u="none" cap="none" strike="noStrike">
                <a:solidFill>
                  <a:srgbClr val="3B3B3B"/>
                </a:solidFill>
                <a:latin typeface="Arial"/>
                <a:ea typeface="Arial"/>
                <a:cs typeface="Arial"/>
                <a:sym typeface="Arial"/>
              </a:rPr>
              <a:t>2026   |   34</a:t>
            </a:r>
            <a:endParaRPr b="0" i="0" sz="900" u="none" cap="none" strike="noStrike">
              <a:solidFill>
                <a:srgbClr val="3B3B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8" name="Google Shape;1268;p34"/>
          <p:cNvSpPr/>
          <p:nvPr/>
        </p:nvSpPr>
        <p:spPr>
          <a:xfrm>
            <a:off x="457200" y="1060700"/>
            <a:ext cx="318300" cy="329100"/>
          </a:xfrm>
          <a:prstGeom prst="rect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9" name="Google Shape;1269;p34"/>
          <p:cNvSpPr/>
          <p:nvPr/>
        </p:nvSpPr>
        <p:spPr>
          <a:xfrm>
            <a:off x="506186" y="1060700"/>
            <a:ext cx="2451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11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#</a:t>
            </a:r>
            <a:endParaRPr b="0" i="0" sz="11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0" name="Google Shape;1270;p34"/>
          <p:cNvSpPr/>
          <p:nvPr/>
        </p:nvSpPr>
        <p:spPr>
          <a:xfrm>
            <a:off x="800102" y="1060700"/>
            <a:ext cx="1445100" cy="329100"/>
          </a:xfrm>
          <a:prstGeom prst="rect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1" name="Google Shape;1271;p34"/>
          <p:cNvSpPr/>
          <p:nvPr/>
        </p:nvSpPr>
        <p:spPr>
          <a:xfrm>
            <a:off x="849088" y="1060700"/>
            <a:ext cx="1371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11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Limitation</a:t>
            </a:r>
            <a:endParaRPr b="0" i="0" sz="11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2" name="Google Shape;1272;p34"/>
          <p:cNvSpPr/>
          <p:nvPr/>
        </p:nvSpPr>
        <p:spPr>
          <a:xfrm>
            <a:off x="2269683" y="1060700"/>
            <a:ext cx="3061500" cy="329100"/>
          </a:xfrm>
          <a:prstGeom prst="rect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3" name="Google Shape;1273;p34"/>
          <p:cNvSpPr/>
          <p:nvPr/>
        </p:nvSpPr>
        <p:spPr>
          <a:xfrm>
            <a:off x="2318669" y="1060700"/>
            <a:ext cx="2988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11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M4 Simplification</a:t>
            </a:r>
            <a:endParaRPr b="0" i="0" sz="11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4" name="Google Shape;1274;p34"/>
          <p:cNvSpPr/>
          <p:nvPr/>
        </p:nvSpPr>
        <p:spPr>
          <a:xfrm>
            <a:off x="5380163" y="1060700"/>
            <a:ext cx="1738800" cy="329100"/>
          </a:xfrm>
          <a:prstGeom prst="rect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5" name="Google Shape;1275;p34"/>
          <p:cNvSpPr/>
          <p:nvPr/>
        </p:nvSpPr>
        <p:spPr>
          <a:xfrm>
            <a:off x="5429149" y="1060700"/>
            <a:ext cx="16653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11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Impact</a:t>
            </a:r>
            <a:endParaRPr b="0" i="0" sz="11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6" name="Google Shape;1276;p34"/>
          <p:cNvSpPr/>
          <p:nvPr/>
        </p:nvSpPr>
        <p:spPr>
          <a:xfrm>
            <a:off x="457200" y="1408173"/>
            <a:ext cx="318300" cy="512100"/>
          </a:xfrm>
          <a:prstGeom prst="rect">
            <a:avLst/>
          </a:prstGeom>
          <a:solidFill>
            <a:srgbClr val="EAE8E4"/>
          </a:solidFill>
          <a:ln cap="flat" cmpd="sng" w="12700">
            <a:solidFill>
              <a:srgbClr val="EAE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7" name="Google Shape;1277;p34"/>
          <p:cNvSpPr/>
          <p:nvPr/>
        </p:nvSpPr>
        <p:spPr>
          <a:xfrm>
            <a:off x="800102" y="1408173"/>
            <a:ext cx="1445100" cy="512100"/>
          </a:xfrm>
          <a:prstGeom prst="rect">
            <a:avLst/>
          </a:prstGeom>
          <a:solidFill>
            <a:srgbClr val="EAE8E4"/>
          </a:solidFill>
          <a:ln cap="flat" cmpd="sng" w="12700">
            <a:solidFill>
              <a:srgbClr val="EAE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8" name="Google Shape;1278;p34"/>
          <p:cNvSpPr/>
          <p:nvPr/>
        </p:nvSpPr>
        <p:spPr>
          <a:xfrm>
            <a:off x="2269683" y="1408173"/>
            <a:ext cx="3061500" cy="512100"/>
          </a:xfrm>
          <a:prstGeom prst="rect">
            <a:avLst/>
          </a:prstGeom>
          <a:solidFill>
            <a:srgbClr val="EAE8E4"/>
          </a:solidFill>
          <a:ln cap="flat" cmpd="sng" w="12700">
            <a:solidFill>
              <a:srgbClr val="EAE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9" name="Google Shape;1279;p34"/>
          <p:cNvSpPr/>
          <p:nvPr/>
        </p:nvSpPr>
        <p:spPr>
          <a:xfrm>
            <a:off x="5380163" y="1408173"/>
            <a:ext cx="1738800" cy="512100"/>
          </a:xfrm>
          <a:prstGeom prst="rect">
            <a:avLst/>
          </a:prstGeom>
          <a:solidFill>
            <a:srgbClr val="EAE8E4"/>
          </a:solidFill>
          <a:ln cap="flat" cmpd="sng" w="12700">
            <a:solidFill>
              <a:srgbClr val="EAE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0" name="Google Shape;1280;p34"/>
          <p:cNvSpPr/>
          <p:nvPr/>
        </p:nvSpPr>
        <p:spPr>
          <a:xfrm>
            <a:off x="506186" y="1426461"/>
            <a:ext cx="2325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L1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1" name="Google Shape;1281;p34"/>
          <p:cNvSpPr/>
          <p:nvPr/>
        </p:nvSpPr>
        <p:spPr>
          <a:xfrm>
            <a:off x="849088" y="1426461"/>
            <a:ext cx="1359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Oracle Queue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State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2" name="Google Shape;1282;p34"/>
          <p:cNvSpPr/>
          <p:nvPr/>
        </p:nvSpPr>
        <p:spPr>
          <a:xfrm>
            <a:off x="2318669" y="1426461"/>
            <a:ext cx="29760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Instant perfect W_q visibility — zero propagation delay for all 5 nodes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3" name="Google Shape;1283;p34"/>
          <p:cNvSpPr/>
          <p:nvPr/>
        </p:nvSpPr>
        <p:spPr>
          <a:xfrm>
            <a:off x="5429149" y="1426461"/>
            <a:ext cx="1653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Stale info→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wrong decisions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4" name="Google Shape;1284;p34"/>
          <p:cNvSpPr/>
          <p:nvPr/>
        </p:nvSpPr>
        <p:spPr>
          <a:xfrm>
            <a:off x="457200" y="1938525"/>
            <a:ext cx="318300" cy="512100"/>
          </a:xfrm>
          <a:prstGeom prst="rect">
            <a:avLst/>
          </a:prstGeom>
          <a:solidFill>
            <a:srgbClr val="F8F6F3"/>
          </a:solidFill>
          <a:ln cap="flat" cmpd="sng" w="12700">
            <a:solidFill>
              <a:srgbClr val="EAE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5" name="Google Shape;1285;p34"/>
          <p:cNvSpPr/>
          <p:nvPr/>
        </p:nvSpPr>
        <p:spPr>
          <a:xfrm>
            <a:off x="800102" y="1938525"/>
            <a:ext cx="1445100" cy="512100"/>
          </a:xfrm>
          <a:prstGeom prst="rect">
            <a:avLst/>
          </a:prstGeom>
          <a:solidFill>
            <a:srgbClr val="F8F6F3"/>
          </a:solidFill>
          <a:ln cap="flat" cmpd="sng" w="12700">
            <a:solidFill>
              <a:srgbClr val="EAE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6" name="Google Shape;1286;p34"/>
          <p:cNvSpPr/>
          <p:nvPr/>
        </p:nvSpPr>
        <p:spPr>
          <a:xfrm>
            <a:off x="2269683" y="1938525"/>
            <a:ext cx="3061500" cy="512100"/>
          </a:xfrm>
          <a:prstGeom prst="rect">
            <a:avLst/>
          </a:prstGeom>
          <a:solidFill>
            <a:srgbClr val="F8F6F3"/>
          </a:solidFill>
          <a:ln cap="flat" cmpd="sng" w="12700">
            <a:solidFill>
              <a:srgbClr val="EAE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7" name="Google Shape;1287;p34"/>
          <p:cNvSpPr/>
          <p:nvPr/>
        </p:nvSpPr>
        <p:spPr>
          <a:xfrm>
            <a:off x="5380163" y="1938525"/>
            <a:ext cx="1738800" cy="512100"/>
          </a:xfrm>
          <a:prstGeom prst="rect">
            <a:avLst/>
          </a:prstGeom>
          <a:solidFill>
            <a:srgbClr val="F8F6F3"/>
          </a:solidFill>
          <a:ln cap="flat" cmpd="sng" w="12700">
            <a:solidFill>
              <a:srgbClr val="EAE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8" name="Google Shape;1288;p34"/>
          <p:cNvSpPr/>
          <p:nvPr/>
        </p:nvSpPr>
        <p:spPr>
          <a:xfrm>
            <a:off x="506186" y="1956813"/>
            <a:ext cx="2325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L2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9" name="Google Shape;1289;p34"/>
          <p:cNvSpPr/>
          <p:nvPr/>
        </p:nvSpPr>
        <p:spPr>
          <a:xfrm>
            <a:off x="849088" y="1956813"/>
            <a:ext cx="1359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Stationary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Traffic λ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0" name="Google Shape;1290;p34"/>
          <p:cNvSpPr/>
          <p:nvPr/>
        </p:nvSpPr>
        <p:spPr>
          <a:xfrm>
            <a:off x="2318669" y="1956813"/>
            <a:ext cx="29760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Constant arrival rate λ — no surge or idle periods within episode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1" name="Google Shape;1291;p34"/>
          <p:cNvSpPr/>
          <p:nvPr/>
        </p:nvSpPr>
        <p:spPr>
          <a:xfrm>
            <a:off x="5429149" y="1956813"/>
            <a:ext cx="1653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High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 traffic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peaks 5×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2" name="Google Shape;1292;p34"/>
          <p:cNvSpPr/>
          <p:nvPr/>
        </p:nvSpPr>
        <p:spPr>
          <a:xfrm>
            <a:off x="457200" y="2468878"/>
            <a:ext cx="318300" cy="512100"/>
          </a:xfrm>
          <a:prstGeom prst="rect">
            <a:avLst/>
          </a:prstGeom>
          <a:solidFill>
            <a:srgbClr val="EAE8E4"/>
          </a:solidFill>
          <a:ln cap="flat" cmpd="sng" w="12700">
            <a:solidFill>
              <a:srgbClr val="EAE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3" name="Google Shape;1293;p34"/>
          <p:cNvSpPr/>
          <p:nvPr/>
        </p:nvSpPr>
        <p:spPr>
          <a:xfrm>
            <a:off x="800102" y="2468878"/>
            <a:ext cx="1445100" cy="512100"/>
          </a:xfrm>
          <a:prstGeom prst="rect">
            <a:avLst/>
          </a:prstGeom>
          <a:solidFill>
            <a:srgbClr val="EAE8E4"/>
          </a:solidFill>
          <a:ln cap="flat" cmpd="sng" w="12700">
            <a:solidFill>
              <a:srgbClr val="EAE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4" name="Google Shape;1294;p34"/>
          <p:cNvSpPr/>
          <p:nvPr/>
        </p:nvSpPr>
        <p:spPr>
          <a:xfrm>
            <a:off x="2269683" y="2468878"/>
            <a:ext cx="3061500" cy="512100"/>
          </a:xfrm>
          <a:prstGeom prst="rect">
            <a:avLst/>
          </a:prstGeom>
          <a:solidFill>
            <a:srgbClr val="EAE8E4"/>
          </a:solidFill>
          <a:ln cap="flat" cmpd="sng" w="12700">
            <a:solidFill>
              <a:srgbClr val="EAE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5" name="Google Shape;1295;p34"/>
          <p:cNvSpPr/>
          <p:nvPr/>
        </p:nvSpPr>
        <p:spPr>
          <a:xfrm>
            <a:off x="5380163" y="2468878"/>
            <a:ext cx="1738800" cy="512100"/>
          </a:xfrm>
          <a:prstGeom prst="rect">
            <a:avLst/>
          </a:prstGeom>
          <a:solidFill>
            <a:srgbClr val="EAE8E4"/>
          </a:solidFill>
          <a:ln cap="flat" cmpd="sng" w="12700">
            <a:solidFill>
              <a:srgbClr val="EAE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6" name="Google Shape;1296;p34"/>
          <p:cNvSpPr/>
          <p:nvPr/>
        </p:nvSpPr>
        <p:spPr>
          <a:xfrm>
            <a:off x="506186" y="2487166"/>
            <a:ext cx="2325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L3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7" name="Google Shape;1297;p34"/>
          <p:cNvSpPr/>
          <p:nvPr/>
        </p:nvSpPr>
        <p:spPr>
          <a:xfrm>
            <a:off x="849088" y="2487166"/>
            <a:ext cx="1359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Fixed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Bandwidth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8" name="Google Shape;1298;p34"/>
          <p:cNvSpPr/>
          <p:nvPr/>
        </p:nvSpPr>
        <p:spPr>
          <a:xfrm>
            <a:off x="2318669" y="2487166"/>
            <a:ext cx="29760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BW_eff=1.5 Mbps constant (after distance degradation applied)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9" name="Google Shape;1299;p34"/>
          <p:cNvSpPr/>
          <p:nvPr/>
        </p:nvSpPr>
        <p:spPr>
          <a:xfrm>
            <a:off x="5429149" y="2487166"/>
            <a:ext cx="1653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Med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Affects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t_trans var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0" name="Google Shape;1300;p34"/>
          <p:cNvSpPr/>
          <p:nvPr/>
        </p:nvSpPr>
        <p:spPr>
          <a:xfrm>
            <a:off x="457200" y="2999231"/>
            <a:ext cx="318300" cy="512100"/>
          </a:xfrm>
          <a:prstGeom prst="rect">
            <a:avLst/>
          </a:prstGeom>
          <a:solidFill>
            <a:srgbClr val="F8F6F3"/>
          </a:solidFill>
          <a:ln cap="flat" cmpd="sng" w="12700">
            <a:solidFill>
              <a:srgbClr val="EAE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1" name="Google Shape;1301;p34"/>
          <p:cNvSpPr/>
          <p:nvPr/>
        </p:nvSpPr>
        <p:spPr>
          <a:xfrm>
            <a:off x="800102" y="2999231"/>
            <a:ext cx="1445100" cy="512100"/>
          </a:xfrm>
          <a:prstGeom prst="rect">
            <a:avLst/>
          </a:prstGeom>
          <a:solidFill>
            <a:srgbClr val="F8F6F3"/>
          </a:solidFill>
          <a:ln cap="flat" cmpd="sng" w="12700">
            <a:solidFill>
              <a:srgbClr val="EAE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2" name="Google Shape;1302;p34"/>
          <p:cNvSpPr/>
          <p:nvPr/>
        </p:nvSpPr>
        <p:spPr>
          <a:xfrm>
            <a:off x="2269683" y="2999231"/>
            <a:ext cx="3061500" cy="512100"/>
          </a:xfrm>
          <a:prstGeom prst="rect">
            <a:avLst/>
          </a:prstGeom>
          <a:solidFill>
            <a:srgbClr val="F8F6F3"/>
          </a:solidFill>
          <a:ln cap="flat" cmpd="sng" w="12700">
            <a:solidFill>
              <a:srgbClr val="EAE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3" name="Google Shape;1303;p34"/>
          <p:cNvSpPr/>
          <p:nvPr/>
        </p:nvSpPr>
        <p:spPr>
          <a:xfrm>
            <a:off x="5380163" y="2999231"/>
            <a:ext cx="1738800" cy="512100"/>
          </a:xfrm>
          <a:prstGeom prst="rect">
            <a:avLst/>
          </a:prstGeom>
          <a:solidFill>
            <a:srgbClr val="F8F6F3"/>
          </a:solidFill>
          <a:ln cap="flat" cmpd="sng" w="12700">
            <a:solidFill>
              <a:srgbClr val="EAE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4" name="Google Shape;1304;p34"/>
          <p:cNvSpPr/>
          <p:nvPr/>
        </p:nvSpPr>
        <p:spPr>
          <a:xfrm>
            <a:off x="506186" y="3017519"/>
            <a:ext cx="2325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L4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5" name="Google Shape;1305;p34"/>
          <p:cNvSpPr/>
          <p:nvPr/>
        </p:nvSpPr>
        <p:spPr>
          <a:xfrm>
            <a:off x="849088" y="3017519"/>
            <a:ext cx="1359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Train=Test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Episode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6" name="Google Shape;1306;p34"/>
          <p:cNvSpPr/>
          <p:nvPr/>
        </p:nvSpPr>
        <p:spPr>
          <a:xfrm>
            <a:off x="2318669" y="3017519"/>
            <a:ext cx="29760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Evaluated on episode 50 still training (ε=0.15, 15% explore)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7" name="Google Shape;1307;p34"/>
          <p:cNvSpPr/>
          <p:nvPr/>
        </p:nvSpPr>
        <p:spPr>
          <a:xfrm>
            <a:off x="5429149" y="3017519"/>
            <a:ext cx="1653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Med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TCR may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differ at ε=0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8" name="Google Shape;1308;p34"/>
          <p:cNvSpPr/>
          <p:nvPr/>
        </p:nvSpPr>
        <p:spPr>
          <a:xfrm>
            <a:off x="457200" y="3529584"/>
            <a:ext cx="318300" cy="512100"/>
          </a:xfrm>
          <a:prstGeom prst="rect">
            <a:avLst/>
          </a:prstGeom>
          <a:solidFill>
            <a:srgbClr val="EAE8E4"/>
          </a:solidFill>
          <a:ln cap="flat" cmpd="sng" w="12700">
            <a:solidFill>
              <a:srgbClr val="EAE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9" name="Google Shape;1309;p34"/>
          <p:cNvSpPr/>
          <p:nvPr/>
        </p:nvSpPr>
        <p:spPr>
          <a:xfrm>
            <a:off x="800102" y="3529584"/>
            <a:ext cx="1445100" cy="512100"/>
          </a:xfrm>
          <a:prstGeom prst="rect">
            <a:avLst/>
          </a:prstGeom>
          <a:solidFill>
            <a:srgbClr val="EAE8E4"/>
          </a:solidFill>
          <a:ln cap="flat" cmpd="sng" w="12700">
            <a:solidFill>
              <a:srgbClr val="EAE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0" name="Google Shape;1310;p34"/>
          <p:cNvSpPr/>
          <p:nvPr/>
        </p:nvSpPr>
        <p:spPr>
          <a:xfrm>
            <a:off x="2269683" y="3529584"/>
            <a:ext cx="3061500" cy="512100"/>
          </a:xfrm>
          <a:prstGeom prst="rect">
            <a:avLst/>
          </a:prstGeom>
          <a:solidFill>
            <a:srgbClr val="EAE8E4"/>
          </a:solidFill>
          <a:ln cap="flat" cmpd="sng" w="12700">
            <a:solidFill>
              <a:srgbClr val="EAE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1" name="Google Shape;1311;p34"/>
          <p:cNvSpPr/>
          <p:nvPr/>
        </p:nvSpPr>
        <p:spPr>
          <a:xfrm>
            <a:off x="5380163" y="3529584"/>
            <a:ext cx="1738800" cy="512100"/>
          </a:xfrm>
          <a:prstGeom prst="rect">
            <a:avLst/>
          </a:prstGeom>
          <a:solidFill>
            <a:srgbClr val="EAE8E4"/>
          </a:solidFill>
          <a:ln cap="flat" cmpd="sng" w="12700">
            <a:solidFill>
              <a:srgbClr val="EAE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2" name="Google Shape;1312;p34"/>
          <p:cNvSpPr/>
          <p:nvPr/>
        </p:nvSpPr>
        <p:spPr>
          <a:xfrm>
            <a:off x="506186" y="3547872"/>
            <a:ext cx="2325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L5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3" name="Google Shape;1313;p34"/>
          <p:cNvSpPr/>
          <p:nvPr/>
        </p:nvSpPr>
        <p:spPr>
          <a:xfrm>
            <a:off x="849088" y="3547872"/>
            <a:ext cx="1359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Scale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N=5 → N=20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4" name="Google Shape;1314;p34"/>
          <p:cNvSpPr/>
          <p:nvPr/>
        </p:nvSpPr>
        <p:spPr>
          <a:xfrm>
            <a:off x="2318669" y="3547872"/>
            <a:ext cx="29760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5-node mesh. State ℝ⁸. Action space = 5 options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5" name="Google Shape;1315;p34"/>
          <p:cNvSpPr/>
          <p:nvPr/>
        </p:nvSpPr>
        <p:spPr>
          <a:xfrm>
            <a:off x="5429149" y="3547872"/>
            <a:ext cx="1653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 paper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used N=20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6" name="Google Shape;1316;p34"/>
          <p:cNvSpPr/>
          <p:nvPr/>
        </p:nvSpPr>
        <p:spPr>
          <a:xfrm>
            <a:off x="457200" y="4059937"/>
            <a:ext cx="318300" cy="512100"/>
          </a:xfrm>
          <a:prstGeom prst="rect">
            <a:avLst/>
          </a:prstGeom>
          <a:solidFill>
            <a:srgbClr val="F8F6F3"/>
          </a:solidFill>
          <a:ln cap="flat" cmpd="sng" w="12700">
            <a:solidFill>
              <a:srgbClr val="EAE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7" name="Google Shape;1317;p34"/>
          <p:cNvSpPr/>
          <p:nvPr/>
        </p:nvSpPr>
        <p:spPr>
          <a:xfrm>
            <a:off x="800102" y="4059937"/>
            <a:ext cx="1445100" cy="512100"/>
          </a:xfrm>
          <a:prstGeom prst="rect">
            <a:avLst/>
          </a:prstGeom>
          <a:solidFill>
            <a:srgbClr val="F8F6F3"/>
          </a:solidFill>
          <a:ln cap="flat" cmpd="sng" w="12700">
            <a:solidFill>
              <a:srgbClr val="EAE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8" name="Google Shape;1318;p34"/>
          <p:cNvSpPr/>
          <p:nvPr/>
        </p:nvSpPr>
        <p:spPr>
          <a:xfrm>
            <a:off x="2269683" y="4059937"/>
            <a:ext cx="3061500" cy="512100"/>
          </a:xfrm>
          <a:prstGeom prst="rect">
            <a:avLst/>
          </a:prstGeom>
          <a:solidFill>
            <a:srgbClr val="F8F6F3"/>
          </a:solidFill>
          <a:ln cap="flat" cmpd="sng" w="12700">
            <a:solidFill>
              <a:srgbClr val="EAE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9" name="Google Shape;1319;p34"/>
          <p:cNvSpPr/>
          <p:nvPr/>
        </p:nvSpPr>
        <p:spPr>
          <a:xfrm>
            <a:off x="5380163" y="4059937"/>
            <a:ext cx="1738800" cy="512100"/>
          </a:xfrm>
          <a:prstGeom prst="rect">
            <a:avLst/>
          </a:prstGeom>
          <a:solidFill>
            <a:srgbClr val="F8F6F3"/>
          </a:solidFill>
          <a:ln cap="flat" cmpd="sng" w="12700">
            <a:solidFill>
              <a:srgbClr val="EAE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0" name="Google Shape;1320;p34"/>
          <p:cNvSpPr/>
          <p:nvPr/>
        </p:nvSpPr>
        <p:spPr>
          <a:xfrm>
            <a:off x="506186" y="4078225"/>
            <a:ext cx="2325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L6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1" name="Google Shape;1321;p34"/>
          <p:cNvSpPr/>
          <p:nvPr/>
        </p:nvSpPr>
        <p:spPr>
          <a:xfrm>
            <a:off x="849088" y="4078225"/>
            <a:ext cx="1359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Heuristic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T_temp=0.5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2" name="Google Shape;1322;p34"/>
          <p:cNvSpPr/>
          <p:nvPr/>
        </p:nvSpPr>
        <p:spPr>
          <a:xfrm>
            <a:off x="2318669" y="4078225"/>
            <a:ext cx="29760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Temperature 0.5 chosen by intuition — no formal optimisation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3" name="Google Shape;1323;p34"/>
          <p:cNvSpPr/>
          <p:nvPr/>
        </p:nvSpPr>
        <p:spPr>
          <a:xfrm>
            <a:off x="5429149" y="4078225"/>
            <a:ext cx="1653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Low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Current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value works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1EE"/>
        </a:solidFill>
      </p:bgPr>
    </p:bg>
    <p:spTree>
      <p:nvGrpSpPr>
        <p:cNvPr id="1328" name="Shape 1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9" name="Google Shape;1329;p25"/>
          <p:cNvSpPr/>
          <p:nvPr/>
        </p:nvSpPr>
        <p:spPr>
          <a:xfrm>
            <a:off x="457200" y="868680"/>
            <a:ext cx="8229600" cy="22860"/>
          </a:xfrm>
          <a:prstGeom prst="rect">
            <a:avLst/>
          </a:prstGeom>
          <a:solidFill>
            <a:srgbClr val="EAE8E4"/>
          </a:solidFill>
          <a:ln cap="flat" cmpd="sng" w="12700">
            <a:solidFill>
              <a:srgbClr val="EAE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0" name="Google Shape;1330;p25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7D1916"/>
          </a:solidFill>
          <a:ln cap="flat" cmpd="sng" w="12700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1" name="Google Shape;1331;p25"/>
          <p:cNvSpPr/>
          <p:nvPr/>
        </p:nvSpPr>
        <p:spPr>
          <a:xfrm>
            <a:off x="4507992" y="4892040"/>
            <a:ext cx="128016" cy="128016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2" name="Google Shape;1332;p25"/>
          <p:cNvSpPr/>
          <p:nvPr/>
        </p:nvSpPr>
        <p:spPr>
          <a:xfrm>
            <a:off x="7498080" y="4507992"/>
            <a:ext cx="1463040" cy="27432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2026   |   35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3" name="Google Shape;1333;p25"/>
          <p:cNvSpPr/>
          <p:nvPr/>
        </p:nvSpPr>
        <p:spPr>
          <a:xfrm>
            <a:off x="274325" y="822950"/>
            <a:ext cx="5095800" cy="2017200"/>
          </a:xfrm>
          <a:prstGeom prst="rect">
            <a:avLst/>
          </a:prstGeom>
          <a:solidFill>
            <a:srgbClr val="EAE8E4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  <a:effectLst>
            <a:outerShdw blurRad="67306" rotWithShape="0" algn="bl" dir="8100000" dist="25240">
              <a:srgbClr val="000000">
                <a:alpha val="12156"/>
              </a:srgbClr>
            </a:outerShdw>
          </a:effectLst>
        </p:spPr>
        <p:txBody>
          <a:bodyPr anchorCtr="0" anchor="ctr" bIns="60575" lIns="60575" spcFirstLastPara="1" rIns="60575" wrap="square" tIns="60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4" name="Google Shape;1334;p25"/>
          <p:cNvSpPr/>
          <p:nvPr/>
        </p:nvSpPr>
        <p:spPr>
          <a:xfrm>
            <a:off x="274325" y="822950"/>
            <a:ext cx="5095800" cy="271500"/>
          </a:xfrm>
          <a:prstGeom prst="rect">
            <a:avLst/>
          </a:prstGeom>
          <a:solidFill>
            <a:srgbClr val="4A0D0B"/>
          </a:solidFill>
          <a:ln cap="flat" cmpd="sng" w="9525">
            <a:solidFill>
              <a:srgbClr val="4A0D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575" lIns="60575" spcFirstLastPara="1" rIns="60575" wrap="square" tIns="60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5" name="Google Shape;1335;p25"/>
          <p:cNvSpPr/>
          <p:nvPr/>
        </p:nvSpPr>
        <p:spPr>
          <a:xfrm>
            <a:off x="355321" y="822950"/>
            <a:ext cx="49617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650" lIns="33650" spcFirstLastPara="1" rIns="33650" wrap="square" tIns="33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1"/>
              <a:buFont typeface="Calibri"/>
              <a:buNone/>
            </a:pPr>
            <a:r>
              <a:rPr b="1" i="0" lang="en-US" sz="1361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 b="0" i="0" sz="136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6" name="Google Shape;1336;p25"/>
          <p:cNvSpPr/>
          <p:nvPr/>
        </p:nvSpPr>
        <p:spPr>
          <a:xfrm>
            <a:off x="341821" y="1152665"/>
            <a:ext cx="296700" cy="207000"/>
          </a:xfrm>
          <a:prstGeom prst="rect">
            <a:avLst/>
          </a:prstGeom>
          <a:solidFill>
            <a:srgbClr val="7D1916"/>
          </a:solidFill>
          <a:ln cap="flat" cmpd="sng" w="9525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575" lIns="60575" spcFirstLastPara="1" rIns="60575" wrap="square" tIns="60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7" name="Google Shape;1337;p25"/>
          <p:cNvSpPr/>
          <p:nvPr/>
        </p:nvSpPr>
        <p:spPr>
          <a:xfrm>
            <a:off x="341821" y="1152665"/>
            <a:ext cx="296700" cy="20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9"/>
              <a:buFont typeface="Calibri"/>
              <a:buNone/>
            </a:pPr>
            <a:r>
              <a:rPr b="1" i="0" lang="en-US" sz="1129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[1]</a:t>
            </a:r>
            <a:endParaRPr b="0" i="0" sz="112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8" name="Google Shape;1338;p25"/>
          <p:cNvSpPr/>
          <p:nvPr/>
        </p:nvSpPr>
        <p:spPr>
          <a:xfrm>
            <a:off x="679304" y="1152665"/>
            <a:ext cx="4603500" cy="20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662"/>
              <a:buFont typeface="Calibri"/>
              <a:buNone/>
            </a:pPr>
            <a:r>
              <a:rPr b="0" i="0" lang="en-US" sz="116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 Paper: Probabilistic Task Offloading in Device-to-Device Edge Networks</a:t>
            </a:r>
            <a:endParaRPr b="0" i="0" sz="116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9" name="Google Shape;1339;p25"/>
          <p:cNvSpPr/>
          <p:nvPr/>
        </p:nvSpPr>
        <p:spPr>
          <a:xfrm>
            <a:off x="341821" y="1404800"/>
            <a:ext cx="296700" cy="207000"/>
          </a:xfrm>
          <a:prstGeom prst="rect">
            <a:avLst/>
          </a:prstGeom>
          <a:solidFill>
            <a:srgbClr val="7D1916"/>
          </a:solidFill>
          <a:ln cap="flat" cmpd="sng" w="9525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575" lIns="60575" spcFirstLastPara="1" rIns="60575" wrap="square" tIns="60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0" name="Google Shape;1340;p25"/>
          <p:cNvSpPr/>
          <p:nvPr/>
        </p:nvSpPr>
        <p:spPr>
          <a:xfrm>
            <a:off x="341821" y="1404800"/>
            <a:ext cx="296700" cy="20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9"/>
              <a:buFont typeface="Calibri"/>
              <a:buNone/>
            </a:pPr>
            <a:r>
              <a:rPr b="1" i="0" lang="en-US" sz="1129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[2]</a:t>
            </a:r>
            <a:endParaRPr b="0" i="0" sz="112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1" name="Google Shape;1341;p25"/>
          <p:cNvSpPr/>
          <p:nvPr/>
        </p:nvSpPr>
        <p:spPr>
          <a:xfrm>
            <a:off x="679304" y="1404800"/>
            <a:ext cx="4603500" cy="20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662"/>
              <a:buFont typeface="Calibri"/>
              <a:buNone/>
            </a:pPr>
            <a:r>
              <a:rPr b="0" i="0" lang="en-US" sz="116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Kleinrock, L. Queueing Systems (Vol. 1). Wiley, 1975.</a:t>
            </a:r>
            <a:endParaRPr b="0" i="0" sz="116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2" name="Google Shape;1342;p25"/>
          <p:cNvSpPr/>
          <p:nvPr/>
        </p:nvSpPr>
        <p:spPr>
          <a:xfrm>
            <a:off x="341821" y="1656935"/>
            <a:ext cx="296700" cy="207000"/>
          </a:xfrm>
          <a:prstGeom prst="rect">
            <a:avLst/>
          </a:prstGeom>
          <a:solidFill>
            <a:srgbClr val="7D1916"/>
          </a:solidFill>
          <a:ln cap="flat" cmpd="sng" w="9525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575" lIns="60575" spcFirstLastPara="1" rIns="60575" wrap="square" tIns="60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3" name="Google Shape;1343;p25"/>
          <p:cNvSpPr/>
          <p:nvPr/>
        </p:nvSpPr>
        <p:spPr>
          <a:xfrm>
            <a:off x="341821" y="1656935"/>
            <a:ext cx="296700" cy="20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9"/>
              <a:buFont typeface="Calibri"/>
              <a:buNone/>
            </a:pPr>
            <a:r>
              <a:rPr b="1" i="0" lang="en-US" sz="1129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[3]</a:t>
            </a:r>
            <a:endParaRPr b="0" i="0" sz="112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4" name="Google Shape;1344;p25"/>
          <p:cNvSpPr/>
          <p:nvPr/>
        </p:nvSpPr>
        <p:spPr>
          <a:xfrm>
            <a:off x="679304" y="1656935"/>
            <a:ext cx="4603500" cy="20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662"/>
              <a:buFont typeface="Calibri"/>
              <a:buNone/>
            </a:pPr>
            <a:r>
              <a:rPr b="0" i="0" lang="en-US" sz="116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Sutton &amp; Barto. Reinforcement Learning: An Introduction, 2nd Ed. MIT Press, 2018.</a:t>
            </a:r>
            <a:endParaRPr b="0" i="0" sz="116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5" name="Google Shape;1345;p25"/>
          <p:cNvSpPr/>
          <p:nvPr/>
        </p:nvSpPr>
        <p:spPr>
          <a:xfrm>
            <a:off x="341821" y="1909070"/>
            <a:ext cx="296700" cy="207000"/>
          </a:xfrm>
          <a:prstGeom prst="rect">
            <a:avLst/>
          </a:prstGeom>
          <a:solidFill>
            <a:srgbClr val="7D1916"/>
          </a:solidFill>
          <a:ln cap="flat" cmpd="sng" w="9525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575" lIns="60575" spcFirstLastPara="1" rIns="60575" wrap="square" tIns="60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6" name="Google Shape;1346;p25"/>
          <p:cNvSpPr/>
          <p:nvPr/>
        </p:nvSpPr>
        <p:spPr>
          <a:xfrm>
            <a:off x="341821" y="1909070"/>
            <a:ext cx="296700" cy="20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9"/>
              <a:buFont typeface="Calibri"/>
              <a:buNone/>
            </a:pPr>
            <a:r>
              <a:rPr b="1" i="0" lang="en-US" sz="1129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[4]</a:t>
            </a:r>
            <a:endParaRPr b="0" i="0" sz="112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7" name="Google Shape;1347;p25"/>
          <p:cNvSpPr/>
          <p:nvPr/>
        </p:nvSpPr>
        <p:spPr>
          <a:xfrm>
            <a:off x="679304" y="1909070"/>
            <a:ext cx="4603500" cy="20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662"/>
              <a:buFont typeface="Calibri"/>
              <a:buNone/>
            </a:pPr>
            <a:r>
              <a:rPr b="0" i="0" lang="en-US" sz="116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Van Hasselt, H. et al. Deep RL with Double Q-learning. AAAI 2016.</a:t>
            </a:r>
            <a:endParaRPr b="0" i="0" sz="116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8" name="Google Shape;1348;p25"/>
          <p:cNvSpPr/>
          <p:nvPr/>
        </p:nvSpPr>
        <p:spPr>
          <a:xfrm>
            <a:off x="341821" y="2161205"/>
            <a:ext cx="296700" cy="207000"/>
          </a:xfrm>
          <a:prstGeom prst="rect">
            <a:avLst/>
          </a:prstGeom>
          <a:solidFill>
            <a:srgbClr val="7D1916"/>
          </a:solidFill>
          <a:ln cap="flat" cmpd="sng" w="9525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575" lIns="60575" spcFirstLastPara="1" rIns="60575" wrap="square" tIns="60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9" name="Google Shape;1349;p25"/>
          <p:cNvSpPr/>
          <p:nvPr/>
        </p:nvSpPr>
        <p:spPr>
          <a:xfrm>
            <a:off x="341821" y="2161205"/>
            <a:ext cx="296700" cy="20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9"/>
              <a:buFont typeface="Calibri"/>
              <a:buNone/>
            </a:pPr>
            <a:r>
              <a:rPr b="1" i="0" lang="en-US" sz="1129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[5]</a:t>
            </a:r>
            <a:endParaRPr b="0" i="0" sz="112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0" name="Google Shape;1350;p25"/>
          <p:cNvSpPr/>
          <p:nvPr/>
        </p:nvSpPr>
        <p:spPr>
          <a:xfrm>
            <a:off x="679304" y="2161205"/>
            <a:ext cx="4603500" cy="20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662"/>
              <a:buFont typeface="Calibri"/>
              <a:buNone/>
            </a:pPr>
            <a:r>
              <a:rPr b="0" i="0" lang="en-US" sz="116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Jensen, J.L.W.V. Sur les fonctions convexes. Acta Math. 30, 1906.</a:t>
            </a:r>
            <a:endParaRPr b="0" i="0" sz="116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1" name="Google Shape;1351;p25"/>
          <p:cNvSpPr/>
          <p:nvPr/>
        </p:nvSpPr>
        <p:spPr>
          <a:xfrm>
            <a:off x="341821" y="2413340"/>
            <a:ext cx="296700" cy="207000"/>
          </a:xfrm>
          <a:prstGeom prst="rect">
            <a:avLst/>
          </a:prstGeom>
          <a:solidFill>
            <a:srgbClr val="7D1916"/>
          </a:solidFill>
          <a:ln cap="flat" cmpd="sng" w="9525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575" lIns="60575" spcFirstLastPara="1" rIns="60575" wrap="square" tIns="60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2" name="Google Shape;1352;p25"/>
          <p:cNvSpPr/>
          <p:nvPr/>
        </p:nvSpPr>
        <p:spPr>
          <a:xfrm>
            <a:off x="341821" y="2413340"/>
            <a:ext cx="296700" cy="20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9"/>
              <a:buFont typeface="Calibri"/>
              <a:buNone/>
            </a:pPr>
            <a:r>
              <a:rPr b="1" i="0" lang="en-US" sz="1129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[6]</a:t>
            </a:r>
            <a:endParaRPr b="0" i="0" sz="112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3" name="Google Shape;1353;p25"/>
          <p:cNvSpPr/>
          <p:nvPr/>
        </p:nvSpPr>
        <p:spPr>
          <a:xfrm>
            <a:off x="679304" y="2413340"/>
            <a:ext cx="4603500" cy="20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662"/>
              <a:buFont typeface="Calibri"/>
              <a:buNone/>
            </a:pPr>
            <a:r>
              <a:rPr b="0" i="0" lang="en-US" sz="116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Nash, J. Non-Cooperative Games. Annals of Mathematics, 1951.</a:t>
            </a:r>
            <a:endParaRPr b="0" i="0" sz="116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4" name="Google Shape;1354;p25"/>
          <p:cNvSpPr/>
          <p:nvPr/>
        </p:nvSpPr>
        <p:spPr>
          <a:xfrm>
            <a:off x="5505300" y="822950"/>
            <a:ext cx="3455700" cy="1797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  <a:effectLst>
            <a:outerShdw blurRad="67306" rotWithShape="0" algn="bl" dir="8100000" dist="25240">
              <a:srgbClr val="000000">
                <a:alpha val="12156"/>
              </a:srgbClr>
            </a:outerShdw>
          </a:effectLst>
        </p:spPr>
        <p:txBody>
          <a:bodyPr anchorCtr="0" anchor="ctr" bIns="60575" lIns="60575" spcFirstLastPara="1" rIns="60575" wrap="square" tIns="60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5" name="Google Shape;1355;p25"/>
          <p:cNvSpPr/>
          <p:nvPr/>
        </p:nvSpPr>
        <p:spPr>
          <a:xfrm>
            <a:off x="5505300" y="822950"/>
            <a:ext cx="3455700" cy="271500"/>
          </a:xfrm>
          <a:prstGeom prst="rect">
            <a:avLst/>
          </a:prstGeom>
          <a:solidFill>
            <a:srgbClr val="4A0D0B"/>
          </a:solidFill>
          <a:ln cap="flat" cmpd="sng" w="9525">
            <a:solidFill>
              <a:srgbClr val="4A0D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575" lIns="60575" spcFirstLastPara="1" rIns="60575" wrap="square" tIns="60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6" name="Google Shape;1356;p25"/>
          <p:cNvSpPr/>
          <p:nvPr/>
        </p:nvSpPr>
        <p:spPr>
          <a:xfrm>
            <a:off x="5586296" y="822950"/>
            <a:ext cx="33210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650" lIns="33650" spcFirstLastPara="1" rIns="33650" wrap="square" tIns="33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1"/>
              <a:buFont typeface="Calibri"/>
              <a:buNone/>
            </a:pPr>
            <a:r>
              <a:rPr b="1" i="0" lang="en-US" sz="1361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Team Members</a:t>
            </a:r>
            <a:endParaRPr b="0" i="0" sz="136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7" name="Google Shape;1357;p25"/>
          <p:cNvSpPr/>
          <p:nvPr/>
        </p:nvSpPr>
        <p:spPr>
          <a:xfrm>
            <a:off x="5552548" y="1152665"/>
            <a:ext cx="3375000" cy="245400"/>
          </a:xfrm>
          <a:prstGeom prst="rect">
            <a:avLst/>
          </a:prstGeom>
          <a:solidFill>
            <a:srgbClr val="7D1916">
              <a:alpha val="7058"/>
            </a:srgbClr>
          </a:solidFill>
          <a:ln cap="flat" cmpd="sng" w="9525">
            <a:solidFill>
              <a:srgbClr val="7D1916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575" lIns="60575" spcFirstLastPara="1" rIns="60575" wrap="square" tIns="60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8" name="Google Shape;1358;p25"/>
          <p:cNvSpPr/>
          <p:nvPr/>
        </p:nvSpPr>
        <p:spPr>
          <a:xfrm>
            <a:off x="5552548" y="1152665"/>
            <a:ext cx="47400" cy="245400"/>
          </a:xfrm>
          <a:prstGeom prst="rect">
            <a:avLst/>
          </a:prstGeom>
          <a:solidFill>
            <a:srgbClr val="7D1916"/>
          </a:solidFill>
          <a:ln cap="flat" cmpd="sng" w="9525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575" lIns="60575" spcFirstLastPara="1" rIns="60575" wrap="square" tIns="60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9" name="Google Shape;1359;p25"/>
          <p:cNvSpPr/>
          <p:nvPr/>
        </p:nvSpPr>
        <p:spPr>
          <a:xfrm>
            <a:off x="5633544" y="1152665"/>
            <a:ext cx="13500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1916"/>
              </a:buClr>
              <a:buSzPts val="729"/>
              <a:buFont typeface="Calibri"/>
              <a:buNone/>
            </a:pPr>
            <a:r>
              <a:rPr b="1" i="0" lang="en-US" sz="1229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Falak Shah</a:t>
            </a:r>
            <a:endParaRPr b="0" i="0" sz="122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0" name="Google Shape;1360;p25"/>
          <p:cNvSpPr/>
          <p:nvPr/>
        </p:nvSpPr>
        <p:spPr>
          <a:xfrm>
            <a:off x="7010471" y="1152665"/>
            <a:ext cx="8640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C933E"/>
              </a:buClr>
              <a:buSzPts val="662"/>
              <a:buFont typeface="Calibri"/>
              <a:buNone/>
            </a:pPr>
            <a:r>
              <a:rPr b="0" i="0" lang="en-US" sz="1162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AU2440014</a:t>
            </a:r>
            <a:endParaRPr b="0" i="0" sz="1162" u="none" cap="none" strike="noStrike">
              <a:solidFill>
                <a:srgbClr val="7D191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1" name="Google Shape;1361;p25"/>
          <p:cNvSpPr/>
          <p:nvPr/>
        </p:nvSpPr>
        <p:spPr>
          <a:xfrm>
            <a:off x="7901425" y="1152665"/>
            <a:ext cx="9720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596"/>
              <a:buFont typeface="Calibri"/>
              <a:buNone/>
            </a:pPr>
            <a:r>
              <a:rPr b="0" i="0" lang="en-US" sz="79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Algorithm Dev &amp; Python Simulation</a:t>
            </a:r>
            <a:endParaRPr b="0" i="0" sz="79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2" name="Google Shape;1362;p25"/>
          <p:cNvSpPr/>
          <p:nvPr/>
        </p:nvSpPr>
        <p:spPr>
          <a:xfrm>
            <a:off x="5552548" y="1437125"/>
            <a:ext cx="3375000" cy="245400"/>
          </a:xfrm>
          <a:prstGeom prst="rect">
            <a:avLst/>
          </a:prstGeom>
          <a:solidFill>
            <a:srgbClr val="4A0D0B">
              <a:alpha val="7058"/>
            </a:srgbClr>
          </a:solidFill>
          <a:ln cap="flat" cmpd="sng" w="9525">
            <a:solidFill>
              <a:srgbClr val="4A0D0B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575" lIns="60575" spcFirstLastPara="1" rIns="60575" wrap="square" tIns="60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3" name="Google Shape;1363;p25"/>
          <p:cNvSpPr/>
          <p:nvPr/>
        </p:nvSpPr>
        <p:spPr>
          <a:xfrm>
            <a:off x="5552548" y="1437125"/>
            <a:ext cx="47400" cy="245400"/>
          </a:xfrm>
          <a:prstGeom prst="rect">
            <a:avLst/>
          </a:prstGeom>
          <a:solidFill>
            <a:srgbClr val="4A0D0B"/>
          </a:solidFill>
          <a:ln cap="flat" cmpd="sng" w="9525">
            <a:solidFill>
              <a:srgbClr val="4A0D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575" lIns="60575" spcFirstLastPara="1" rIns="60575" wrap="square" tIns="60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4" name="Google Shape;1364;p25"/>
          <p:cNvSpPr/>
          <p:nvPr/>
        </p:nvSpPr>
        <p:spPr>
          <a:xfrm>
            <a:off x="5633544" y="1437125"/>
            <a:ext cx="13500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0D0B"/>
              </a:buClr>
              <a:buSzPts val="729"/>
              <a:buFont typeface="Calibri"/>
              <a:buNone/>
            </a:pPr>
            <a:r>
              <a:rPr b="1" i="0" lang="en-US" sz="1229" u="none" cap="none" strike="noStrike">
                <a:solidFill>
                  <a:srgbClr val="4A0D0B"/>
                </a:solidFill>
                <a:latin typeface="Calibri"/>
                <a:ea typeface="Calibri"/>
                <a:cs typeface="Calibri"/>
                <a:sym typeface="Calibri"/>
              </a:rPr>
              <a:t>Nikunj Kalariya</a:t>
            </a:r>
            <a:endParaRPr b="0" i="0" sz="122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5" name="Google Shape;1365;p25"/>
          <p:cNvSpPr/>
          <p:nvPr/>
        </p:nvSpPr>
        <p:spPr>
          <a:xfrm>
            <a:off x="7010471" y="1437125"/>
            <a:ext cx="8640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C933E"/>
              </a:buClr>
              <a:buSzPts val="662"/>
              <a:buFont typeface="Calibri"/>
              <a:buNone/>
            </a:pPr>
            <a:r>
              <a:rPr b="0" i="0" lang="en-US" sz="1162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AU2440275</a:t>
            </a:r>
            <a:endParaRPr b="0" i="0" sz="1162" u="none" cap="none" strike="noStrike">
              <a:solidFill>
                <a:srgbClr val="7D191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6" name="Google Shape;1366;p25"/>
          <p:cNvSpPr/>
          <p:nvPr/>
        </p:nvSpPr>
        <p:spPr>
          <a:xfrm>
            <a:off x="7901425" y="1437125"/>
            <a:ext cx="9720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596"/>
              <a:buFont typeface="Calibri"/>
              <a:buNone/>
            </a:pPr>
            <a:r>
              <a:rPr b="0" i="0" lang="en-US" sz="79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Algorithm Dev &amp; Python Simulation</a:t>
            </a:r>
            <a:endParaRPr b="0" i="0" sz="79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7" name="Google Shape;1367;p25"/>
          <p:cNvSpPr/>
          <p:nvPr/>
        </p:nvSpPr>
        <p:spPr>
          <a:xfrm>
            <a:off x="5552548" y="1721585"/>
            <a:ext cx="3375000" cy="245400"/>
          </a:xfrm>
          <a:prstGeom prst="rect">
            <a:avLst/>
          </a:prstGeom>
          <a:solidFill>
            <a:srgbClr val="7D1916">
              <a:alpha val="7058"/>
            </a:srgbClr>
          </a:solidFill>
          <a:ln cap="flat" cmpd="sng" w="9525">
            <a:solidFill>
              <a:srgbClr val="7D1916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575" lIns="60575" spcFirstLastPara="1" rIns="60575" wrap="square" tIns="60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8" name="Google Shape;1368;p25"/>
          <p:cNvSpPr/>
          <p:nvPr/>
        </p:nvSpPr>
        <p:spPr>
          <a:xfrm>
            <a:off x="5552548" y="1721585"/>
            <a:ext cx="47400" cy="245400"/>
          </a:xfrm>
          <a:prstGeom prst="rect">
            <a:avLst/>
          </a:prstGeom>
          <a:solidFill>
            <a:srgbClr val="7D1916"/>
          </a:solidFill>
          <a:ln cap="flat" cmpd="sng" w="9525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575" lIns="60575" spcFirstLastPara="1" rIns="60575" wrap="square" tIns="60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9" name="Google Shape;1369;p25"/>
          <p:cNvSpPr/>
          <p:nvPr/>
        </p:nvSpPr>
        <p:spPr>
          <a:xfrm>
            <a:off x="5633544" y="1721585"/>
            <a:ext cx="13500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1916"/>
              </a:buClr>
              <a:buSzPts val="729"/>
              <a:buFont typeface="Calibri"/>
              <a:buNone/>
            </a:pPr>
            <a:r>
              <a:rPr b="1" i="0" lang="en-US" sz="1229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Urvil Chodvadiya</a:t>
            </a:r>
            <a:endParaRPr b="0" i="0" sz="122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0" name="Google Shape;1370;p25"/>
          <p:cNvSpPr/>
          <p:nvPr/>
        </p:nvSpPr>
        <p:spPr>
          <a:xfrm>
            <a:off x="7010471" y="1721585"/>
            <a:ext cx="8640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C933E"/>
              </a:buClr>
              <a:buSzPts val="662"/>
              <a:buFont typeface="Calibri"/>
              <a:buNone/>
            </a:pPr>
            <a:r>
              <a:rPr b="0" i="0" lang="en-US" sz="1162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AU2440201</a:t>
            </a:r>
            <a:endParaRPr b="0" i="0" sz="1162" u="none" cap="none" strike="noStrike">
              <a:solidFill>
                <a:srgbClr val="7D191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1" name="Google Shape;1371;p25"/>
          <p:cNvSpPr/>
          <p:nvPr/>
        </p:nvSpPr>
        <p:spPr>
          <a:xfrm>
            <a:off x="7901425" y="1721585"/>
            <a:ext cx="9720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596"/>
              <a:buFont typeface="Calibri"/>
              <a:buNone/>
            </a:pPr>
            <a:r>
              <a:rPr b="0" i="0" lang="en-US" sz="79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Mathematical Modelling &amp; Inference</a:t>
            </a:r>
            <a:endParaRPr b="0" i="0" sz="79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2" name="Google Shape;1372;p25"/>
          <p:cNvSpPr/>
          <p:nvPr/>
        </p:nvSpPr>
        <p:spPr>
          <a:xfrm>
            <a:off x="5552548" y="2006045"/>
            <a:ext cx="3375000" cy="245400"/>
          </a:xfrm>
          <a:prstGeom prst="rect">
            <a:avLst/>
          </a:prstGeom>
          <a:solidFill>
            <a:srgbClr val="4A0D0B">
              <a:alpha val="7058"/>
            </a:srgbClr>
          </a:solidFill>
          <a:ln cap="flat" cmpd="sng" w="9525">
            <a:solidFill>
              <a:srgbClr val="4A0D0B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575" lIns="60575" spcFirstLastPara="1" rIns="60575" wrap="square" tIns="60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3" name="Google Shape;1373;p25"/>
          <p:cNvSpPr/>
          <p:nvPr/>
        </p:nvSpPr>
        <p:spPr>
          <a:xfrm>
            <a:off x="5552548" y="2006045"/>
            <a:ext cx="47400" cy="245400"/>
          </a:xfrm>
          <a:prstGeom prst="rect">
            <a:avLst/>
          </a:prstGeom>
          <a:solidFill>
            <a:srgbClr val="4A0D0B"/>
          </a:solidFill>
          <a:ln cap="flat" cmpd="sng" w="9525">
            <a:solidFill>
              <a:srgbClr val="4A0D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575" lIns="60575" spcFirstLastPara="1" rIns="60575" wrap="square" tIns="60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4" name="Google Shape;1374;p25"/>
          <p:cNvSpPr/>
          <p:nvPr/>
        </p:nvSpPr>
        <p:spPr>
          <a:xfrm>
            <a:off x="5633544" y="2006045"/>
            <a:ext cx="13500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0D0B"/>
              </a:buClr>
              <a:buSzPts val="729"/>
              <a:buFont typeface="Calibri"/>
              <a:buNone/>
            </a:pPr>
            <a:r>
              <a:rPr b="1" i="0" lang="en-US" sz="1229" u="none" cap="none" strike="noStrike">
                <a:solidFill>
                  <a:srgbClr val="4A0D0B"/>
                </a:solidFill>
                <a:latin typeface="Calibri"/>
                <a:ea typeface="Calibri"/>
                <a:cs typeface="Calibri"/>
                <a:sym typeface="Calibri"/>
              </a:rPr>
              <a:t>Manthan Pancholi</a:t>
            </a:r>
            <a:endParaRPr b="0" i="0" sz="122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5" name="Google Shape;1375;p25"/>
          <p:cNvSpPr/>
          <p:nvPr/>
        </p:nvSpPr>
        <p:spPr>
          <a:xfrm>
            <a:off x="7010471" y="2006045"/>
            <a:ext cx="8640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C933E"/>
              </a:buClr>
              <a:buSzPts val="662"/>
              <a:buFont typeface="Calibri"/>
              <a:buNone/>
            </a:pPr>
            <a:r>
              <a:rPr b="0" i="0" lang="en-US" sz="1162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AU2440276</a:t>
            </a:r>
            <a:endParaRPr b="0" i="0" sz="1162" u="none" cap="none" strike="noStrike">
              <a:solidFill>
                <a:srgbClr val="7D191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6" name="Google Shape;1376;p25"/>
          <p:cNvSpPr/>
          <p:nvPr/>
        </p:nvSpPr>
        <p:spPr>
          <a:xfrm>
            <a:off x="7901425" y="2006045"/>
            <a:ext cx="9720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596"/>
              <a:buFont typeface="Calibri"/>
              <a:buNone/>
            </a:pPr>
            <a:r>
              <a:rPr b="0" i="0" lang="en-US" sz="79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Mathematical Modelling &amp; Inference</a:t>
            </a:r>
            <a:endParaRPr b="0" i="0" sz="79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7" name="Google Shape;1377;p25"/>
          <p:cNvSpPr/>
          <p:nvPr/>
        </p:nvSpPr>
        <p:spPr>
          <a:xfrm>
            <a:off x="5552548" y="2290505"/>
            <a:ext cx="3375000" cy="245400"/>
          </a:xfrm>
          <a:prstGeom prst="rect">
            <a:avLst/>
          </a:prstGeom>
          <a:solidFill>
            <a:srgbClr val="7D1916">
              <a:alpha val="7058"/>
            </a:srgbClr>
          </a:solidFill>
          <a:ln cap="flat" cmpd="sng" w="9525">
            <a:solidFill>
              <a:srgbClr val="7D1916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575" lIns="60575" spcFirstLastPara="1" rIns="60575" wrap="square" tIns="60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8" name="Google Shape;1378;p25"/>
          <p:cNvSpPr/>
          <p:nvPr/>
        </p:nvSpPr>
        <p:spPr>
          <a:xfrm>
            <a:off x="5552548" y="2290505"/>
            <a:ext cx="47400" cy="245400"/>
          </a:xfrm>
          <a:prstGeom prst="rect">
            <a:avLst/>
          </a:prstGeom>
          <a:solidFill>
            <a:srgbClr val="7D1916"/>
          </a:solidFill>
          <a:ln cap="flat" cmpd="sng" w="9525">
            <a:solidFill>
              <a:srgbClr val="7D19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575" lIns="60575" spcFirstLastPara="1" rIns="60575" wrap="square" tIns="60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9" name="Google Shape;1379;p25"/>
          <p:cNvSpPr/>
          <p:nvPr/>
        </p:nvSpPr>
        <p:spPr>
          <a:xfrm>
            <a:off x="5633544" y="2290505"/>
            <a:ext cx="13500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1916"/>
              </a:buClr>
              <a:buSzPts val="729"/>
              <a:buFont typeface="Calibri"/>
              <a:buNone/>
            </a:pPr>
            <a:r>
              <a:rPr b="1" i="0" lang="en-US" sz="1229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Ishani Prajapati</a:t>
            </a:r>
            <a:endParaRPr b="0" i="0" sz="122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0" name="Google Shape;1380;p25"/>
          <p:cNvSpPr/>
          <p:nvPr/>
        </p:nvSpPr>
        <p:spPr>
          <a:xfrm>
            <a:off x="7010471" y="2290505"/>
            <a:ext cx="8640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C933E"/>
              </a:buClr>
              <a:buSzPts val="662"/>
              <a:buFont typeface="Calibri"/>
              <a:buNone/>
            </a:pPr>
            <a:r>
              <a:rPr b="0" i="0" lang="en-US" sz="1162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AU2440176</a:t>
            </a:r>
            <a:endParaRPr b="0" i="0" sz="1162" u="none" cap="none" strike="noStrike">
              <a:solidFill>
                <a:srgbClr val="7D191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1" name="Google Shape;1381;p25"/>
          <p:cNvSpPr/>
          <p:nvPr/>
        </p:nvSpPr>
        <p:spPr>
          <a:xfrm>
            <a:off x="7901425" y="2290505"/>
            <a:ext cx="9720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596"/>
              <a:buFont typeface="Calibri"/>
              <a:buNone/>
            </a:pPr>
            <a:r>
              <a:rPr b="0" i="0" lang="en-US" sz="79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Visualisation, Dashboards &amp; Report</a:t>
            </a:r>
            <a:endParaRPr b="0" i="0" sz="79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2" name="Google Shape;1382;p25"/>
          <p:cNvSpPr/>
          <p:nvPr/>
        </p:nvSpPr>
        <p:spPr>
          <a:xfrm>
            <a:off x="274325" y="2904680"/>
            <a:ext cx="8592600" cy="1590300"/>
          </a:xfrm>
          <a:prstGeom prst="rect">
            <a:avLst/>
          </a:prstGeom>
          <a:solidFill>
            <a:srgbClr val="EAE8E4"/>
          </a:solidFill>
          <a:ln cap="flat" cmpd="sng" w="9525">
            <a:solidFill>
              <a:srgbClr val="4A0D0B"/>
            </a:solidFill>
            <a:prstDash val="solid"/>
            <a:round/>
            <a:headEnd len="sm" w="sm" type="none"/>
            <a:tailEnd len="sm" w="sm" type="none"/>
          </a:ln>
          <a:effectLst>
            <a:outerShdw blurRad="67306" rotWithShape="0" algn="bl" dir="8100000" dist="25240">
              <a:srgbClr val="000000">
                <a:alpha val="12156"/>
              </a:srgbClr>
            </a:outerShdw>
          </a:effectLst>
        </p:spPr>
        <p:txBody>
          <a:bodyPr anchorCtr="0" anchor="ctr" bIns="60575" lIns="60575" spcFirstLastPara="1" rIns="60575" wrap="square" tIns="60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3" name="Google Shape;1383;p25"/>
          <p:cNvSpPr/>
          <p:nvPr/>
        </p:nvSpPr>
        <p:spPr>
          <a:xfrm>
            <a:off x="274325" y="2904680"/>
            <a:ext cx="60900" cy="1590300"/>
          </a:xfrm>
          <a:prstGeom prst="rect">
            <a:avLst/>
          </a:prstGeom>
          <a:solidFill>
            <a:srgbClr val="FFF0F0"/>
          </a:solidFill>
          <a:ln cap="flat" cmpd="sng" w="9525">
            <a:solidFill>
              <a:srgbClr val="BC93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575" lIns="60575" spcFirstLastPara="1" rIns="60575" wrap="square" tIns="60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4" name="Google Shape;1384;p25"/>
          <p:cNvSpPr/>
          <p:nvPr/>
        </p:nvSpPr>
        <p:spPr>
          <a:xfrm>
            <a:off x="409318" y="2930540"/>
            <a:ext cx="8234700" cy="194100"/>
          </a:xfrm>
          <a:prstGeom prst="rect">
            <a:avLst/>
          </a:prstGeom>
          <a:solidFill>
            <a:srgbClr val="EAE8E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C933E"/>
              </a:buClr>
              <a:buSzPts val="861"/>
              <a:buFont typeface="Calibri"/>
              <a:buNone/>
            </a:pPr>
            <a:r>
              <a:rPr b="1" i="0" lang="en-US" sz="136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0" i="0" sz="136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5" name="Google Shape;1385;p25"/>
          <p:cNvSpPr/>
          <p:nvPr/>
        </p:nvSpPr>
        <p:spPr>
          <a:xfrm>
            <a:off x="409318" y="3137420"/>
            <a:ext cx="8234700" cy="1292700"/>
          </a:xfrm>
          <a:prstGeom prst="rect">
            <a:avLst/>
          </a:prstGeom>
          <a:solidFill>
            <a:srgbClr val="EAE8E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1EE"/>
              </a:buClr>
              <a:buSzPts val="696"/>
              <a:buFont typeface="Calibri"/>
              <a:buNone/>
            </a:pPr>
            <a:r>
              <a:rPr b="0" i="0" lang="en-US" sz="1196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M1 identified all sources of randomness — TPT is not fixed. M2 proved mathematically (M/G/1 + Jensen's Inequality) that variance is the enemy: E[Cost(T)] ≥ Cost(E[T]) always. M3 tested the 'smart' SDF algorithm on 600,000 tasks — the Herd Effect caused catastrophic failure: TCR 0.40%, W_q &gt;50s. The Jensen Gap exploded after task 800, confirming the theory. M4 replaced SDF with DDQN — 12.6% Epsilon-Boltzmann randomness broke synchronisation, correlated input model fixed the M3 flaw. Result: TCR jumped to &gt;80%, tail latency dropped from &gt;50s to &lt;6s, fairness recovered from 0.20 to 0.60. Lesson: in distributed systems, deterministic rationality causes collective irrationality. Probabilistic decisions are not optional — they are necessary.</a:t>
            </a:r>
            <a:endParaRPr b="0" i="0" sz="1196" u="none" cap="none" strike="noStrike">
              <a:solidFill>
                <a:srgbClr val="7D191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6" name="Google Shape;1386;p25"/>
          <p:cNvSpPr/>
          <p:nvPr/>
        </p:nvSpPr>
        <p:spPr>
          <a:xfrm>
            <a:off x="274325" y="4508000"/>
            <a:ext cx="8592600" cy="0"/>
          </a:xfrm>
          <a:prstGeom prst="rect">
            <a:avLst/>
          </a:prstGeom>
          <a:solidFill>
            <a:srgbClr val="FFF0F0"/>
          </a:solidFill>
          <a:ln cap="flat" cmpd="sng" w="9525">
            <a:solidFill>
              <a:srgbClr val="E8D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575" lIns="60575" spcFirstLastPara="1" rIns="60575" wrap="square" tIns="60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7" name="Google Shape;1387;p25"/>
          <p:cNvSpPr/>
          <p:nvPr/>
        </p:nvSpPr>
        <p:spPr>
          <a:xfrm>
            <a:off x="365760" y="91440"/>
            <a:ext cx="114300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3400" u="none" cap="none" strike="noStrike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References &amp; Team Members</a:t>
            </a:r>
            <a:endParaRPr b="0" i="0" sz="3400" u="none" cap="none" strike="noStrike">
              <a:solidFill>
                <a:srgbClr val="7D191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2026-04-03T16:50:45Z</dcterms:created>
  <dc:creator>PptxGenJS</dc:creator>
</cp:coreProperties>
</file>