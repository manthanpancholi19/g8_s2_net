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Helvetica Neue"/>
      <p:regular r:id="rId21"/>
      <p:bold r:id="rId22"/>
      <p:italic r:id="rId23"/>
      <p:boldItalic r:id="rId24"/>
    </p:embeddedFont>
    <p:embeddedFont>
      <p:font typeface="Helvetica Neue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.fntdata"/><Relationship Id="rId25" Type="http://schemas.openxmlformats.org/officeDocument/2006/relationships/font" Target="fonts/HelveticaNeueLight-regular.fntdata"/><Relationship Id="rId28" Type="http://schemas.openxmlformats.org/officeDocument/2006/relationships/font" Target="fonts/HelveticaNeueLight-boldItalic.fntdata"/><Relationship Id="rId27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a3556e11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c8a3556e11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a3556e11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8a3556e11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a3556e1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c8a3556e1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8a3556e11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8a3556e11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a3556e11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8a3556e11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8a3556e1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8a3556e1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8a3556e11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c8a3556e11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8a3556e11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c8a3556e11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8a3556e11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8a3556e11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8a3556e11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8a3556e11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42109" l="31991" r="32034" t="42025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844150" y="4710225"/>
            <a:ext cx="5613300" cy="1791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Falak Shah (AU2440014)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Ishani Prajapati (AU2440176)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Manthan Pancholi (AU2440276)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Nikunj Kalariya (AU2440275)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Urvil Chodvadiya (AU2440201)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844150" y="2695625"/>
            <a:ext cx="6478500" cy="19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625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US" sz="7200">
                <a:solidFill>
                  <a:srgbClr val="7D1916"/>
                </a:solidFill>
                <a:latin typeface="Angsana New"/>
                <a:ea typeface="Angsana New"/>
                <a:cs typeface="Angsana New"/>
                <a:sym typeface="Angsana New"/>
              </a:rPr>
              <a:t>CSE400 M2 GROUP- 8</a:t>
            </a:r>
            <a:endParaRPr sz="7200">
              <a:solidFill>
                <a:srgbClr val="7D1916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US" sz="7200">
                <a:solidFill>
                  <a:srgbClr val="7D1916"/>
                </a:solidFill>
                <a:latin typeface="Angsana New"/>
                <a:ea typeface="Angsana New"/>
                <a:cs typeface="Angsana New"/>
                <a:sym typeface="Angsana New"/>
              </a:rPr>
              <a:t>NETWORKING</a:t>
            </a:r>
            <a:endParaRPr sz="7200">
              <a:solidFill>
                <a:srgbClr val="7D1916"/>
              </a:solidFill>
              <a:latin typeface="Angsana New"/>
              <a:ea typeface="Angsana New"/>
              <a:cs typeface="Angsana New"/>
              <a:sym typeface="Angsana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1850" y="484400"/>
            <a:ext cx="102033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7D1916"/>
                </a:solidFill>
                <a:latin typeface="Arial"/>
                <a:ea typeface="Arial"/>
                <a:cs typeface="Arial"/>
                <a:sym typeface="Arial"/>
              </a:rPr>
              <a:t>Project Context and Motivation</a:t>
            </a:r>
            <a:endParaRPr sz="4000">
              <a:solidFill>
                <a:srgbClr val="7D19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31850" y="1886450"/>
            <a:ext cx="105156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Title: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Task Offloading in D2D Edge Networks 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Wireless Networking &amp; Edge Computing 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High-density mobile networks (5G/6G) 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Mobile CPUs are overwhelmed by latency-sensitive traffic 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Intrinsic Uncertainty: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Wireless channel fading and random packet arrivals 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Stochastic Need: 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Deterministic routing fails under network jitter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831850" y="716750"/>
            <a:ext cx="102033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000"/>
              <a:t>Project Objective and Scope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38200" y="1814450"/>
            <a:ext cx="105156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Maximize Global Success Expectation: maxₐ ∑ᵢ∈ᴺ E[Yᵢ]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offloading target selection in a mesh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Prediction: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Outage probability (Probability of missing deadline 𝜏)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Scope: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Distributed D2D network with shared compute-resources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Metric: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Moving from "Average Delay" to "Bernoulli Success Probability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(Yi ∼ Bernoulli(pi)).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Modeling Goal: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Maximize the expected number of tasks meeting strict deadlines τᵢ.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/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1850" y="628625"/>
            <a:ext cx="9687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br>
              <a:rPr lang="en-US" sz="4000"/>
            </a:br>
            <a:br>
              <a:rPr lang="en-US" sz="4000"/>
            </a:b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000"/>
              <a:t>Project System Overview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1850" y="1886450"/>
            <a:ext cx="112818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Packet Arrival → Offloading Choice → Wireless Link → Remote Buffer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Major Components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Initiator Nodes, Service Peers, and Wireless Channels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Flow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Task metadata bits transmitted over a stochastic medium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Interaction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Stochastic Interaction: Aggregate Arrival Rate λⱼ = ∑ₙ aₙ,ⱼ λₙ (Neighbor Load).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Flow: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Offloading Decision → Discrete Summation → M/M/1 Sojourn Time → Binary Outcome.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831850" y="628625"/>
            <a:ext cx="9687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br>
              <a:rPr lang="en-US" sz="4000"/>
            </a:br>
            <a:br>
              <a:rPr lang="en-US" sz="4000"/>
            </a:b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000"/>
              <a:t>Sources of Uncertainty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831850" y="1886450"/>
            <a:ext cx="112818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 Uncertainty: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Small-scale fading and shadowing in wireless links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Traffic Uncertainty: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Burstiness of packet arrival times (Poisson jitter)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Processing Uncertainty: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CPU cycles required for network protocols 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 Uncertainty: </a:t>
            </a: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Hidden states of peer device queues</a:t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831850" y="628625"/>
            <a:ext cx="9687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br>
              <a:rPr lang="en-US" sz="4000"/>
            </a:br>
            <a:br>
              <a:rPr lang="en-US" sz="4000"/>
            </a:b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000"/>
              <a:t>Key Random Variables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831850" y="1894462"/>
            <a:ext cx="112818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Xproc 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Task Processing Time (Continuous Random Variable).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Tinter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Inter-arrival Time ∼ Exponential(λ).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Wq 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Buffer Delay (Derived Random Variable).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Lq 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Queue Length ∼ Geometric Distribution (Networking Metric).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/ H 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Bandwidth Demand / Channel Link Quality.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sojourn 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Delay (Aggregate Random Variable: Wq + Xproc + ttrans).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 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Completion Indicator (Success = 1, Fail = 0).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831850" y="628625"/>
            <a:ext cx="9687600" cy="11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br>
              <a:rPr lang="en-US" sz="4000"/>
            </a:br>
            <a:br>
              <a:rPr lang="en-US" sz="4000"/>
            </a:b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rPr lang="en-US" sz="4000"/>
              <a:t>Probabilistic Models and Assumptions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</a:pPr>
            <a:r>
              <a:t/>
            </a:r>
            <a:endParaRPr sz="4000"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1850" y="1886450"/>
            <a:ext cx="72600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Arrival Model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Poisson Process with rate 𝜆 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Model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Exponential Service times with rate 𝜇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Fading Assumption: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Rayleigh Fading (Exponential power gains) influencing ttrans.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Independence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i.i.d. (Independent and Identically Distributed) links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Justification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Urban D2D environments follow stochastic multipath patterns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886450"/>
            <a:ext cx="3835766" cy="288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77238" y="628625"/>
            <a:ext cx="10983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Probabilistic Reasoning and Inference Logic</a:t>
            </a:r>
            <a:endParaRPr sz="4000"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831850" y="1886450"/>
            <a:ext cx="112818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quality 𝛾  determines the stochastic transmission rate R 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 Prob: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P(Success∣Neighbor Load)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Inference: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Load 𝜆 to calculate the CDF of Sojourn time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F(t ≤ τ) = 1 − exp( − (μ − λ) · τₑff 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777238" y="628625"/>
            <a:ext cx="10983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Operationalizing Probabilistic Reasoning</a:t>
            </a:r>
            <a:endParaRPr sz="4000"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831850" y="1886450"/>
            <a:ext cx="75003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Simulation: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Monte Carlo realizations of random packet streams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Jensen’s Inequality: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E[C(T)] ≥ C(E[T]).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Logic: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Offload if P(Success remote) &gt; P(Success local).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Metrics: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Percentage of packets meeting the Hard Deadline 𝜏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8875" y="2073250"/>
            <a:ext cx="4042275" cy="32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77238" y="628625"/>
            <a:ext cx="10983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Current Limitations and Conceptual Gaps</a:t>
            </a:r>
            <a:endParaRPr sz="4000"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831850" y="1886450"/>
            <a:ext cx="112818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Mobility Gap: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 assumes static nodes; ignores Doppler fading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Feedback Delay: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Uncertainty in "Stale" channel state information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Ambiguity: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Handling highly correlated traffic bursts (Non-Poisson)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Feasibility: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High computational overhead of calculating Nash Equilibrium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777238" y="628625"/>
            <a:ext cx="10983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Planned Refinements and Role Coordination</a:t>
            </a:r>
            <a:endParaRPr sz="4000"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831850" y="1886450"/>
            <a:ext cx="112818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Evolution: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Upgrading 𝑀 / 𝑀 / 1 → 𝑀 / 𝐺 / 1 for heavy-tailed risks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Refinement: 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Upgrading to M/G/1 queueing using Laplace–Stieltjes transforms for non-exponential heavy-tailed tasks.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Ambiguity Resolution: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Solving the Stale Information problem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Manager (M3):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Falak Shah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Scribe Team (M3): 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Ishani Prajapati, Nikunj Kalariya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Simulation/Video (M3):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Manthan Pancholi, Urvil Chodvadiya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Goal: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Injecting bursty traffic to stress-test Poisson assumptions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3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777238" y="628625"/>
            <a:ext cx="10983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Summary of Group-Level Understanding</a:t>
            </a:r>
            <a:endParaRPr sz="4000"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831850" y="1886450"/>
            <a:ext cx="10737000" cy="4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Replaced deterministic fixed delays with stochastic random variables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Established M/M/1 queueing model as the baseline system model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Identified variance as a major risk factor, not just mean delay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Modeled user offloading decisions as a stochastic game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Showed system converges to a stable Nash equilibrium</a:t>
            </a:r>
            <a:b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probability to quantitatively manage network congestion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