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9" r:id="rId2"/>
    <p:sldId id="266" r:id="rId3"/>
    <p:sldId id="273" r:id="rId4"/>
    <p:sldId id="279" r:id="rId5"/>
    <p:sldId id="282" r:id="rId6"/>
    <p:sldId id="283" r:id="rId7"/>
    <p:sldId id="280" r:id="rId8"/>
    <p:sldId id="285" r:id="rId9"/>
    <p:sldId id="277" r:id="rId10"/>
    <p:sldId id="276" r:id="rId11"/>
    <p:sldId id="28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B0F194-27C1-4CBB-B715-C8E1CCC98C80}">
          <p14:sldIdLst>
            <p14:sldId id="269"/>
            <p14:sldId id="266"/>
            <p14:sldId id="273"/>
            <p14:sldId id="279"/>
            <p14:sldId id="282"/>
            <p14:sldId id="283"/>
            <p14:sldId id="280"/>
            <p14:sldId id="285"/>
            <p14:sldId id="277"/>
            <p14:sldId id="276"/>
            <p14:sldId id="287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848"/>
    <a:srgbClr val="801B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95988-31B5-D211-E8EF-4B13E4EE52E4}" v="11" dt="2026-02-03T19:04:25.331"/>
    <p1510:client id="{633DB173-8DF4-BA7A-7F56-EDE4D6BB46E2}" v="34" dt="2026-02-02T20:45:18.187"/>
    <p1510:client id="{ADAA3FC4-4AB8-AC53-7C1D-DA13BCC05413}" v="211" dt="2026-02-03T11:09:59.205"/>
    <p1510:client id="{C1B25F77-02F2-4312-854C-3F54FDB9509E}" v="133" dt="2026-02-03T09:02:05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EF4F0-F91B-A74E-A2B2-80F209E9FD3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37531-AA40-2C42-8562-6053AD76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6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FB95-ABCA-C24B-A228-59A72F942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150" y="4710224"/>
            <a:ext cx="10515601" cy="552037"/>
          </a:xfrm>
          <a:ln>
            <a:solidFill>
              <a:schemeClr val="bg2"/>
            </a:solidFill>
          </a:ln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rgbClr val="444848"/>
                </a:solidFill>
                <a:latin typeface="Helvetica Light" pitchFamily="2" charset="0"/>
              </a:defRPr>
            </a:lvl1pPr>
          </a:lstStyle>
          <a:p>
            <a:pPr lvl="0"/>
            <a:r>
              <a:rPr lang="en-US"/>
              <a:t>Click to edit Subtitle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00ED6-CB3D-4E4F-BFB5-A8909DDDDB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1" t="42026" r="32034" b="42109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498D0B-B345-4C45-89A1-953DA2FB3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150" y="3784993"/>
            <a:ext cx="10516000" cy="901700"/>
          </a:xfrm>
        </p:spPr>
        <p:txBody>
          <a:bodyPr anchor="b">
            <a:normAutofit/>
          </a:bodyPr>
          <a:lstStyle>
            <a:lvl1pPr marL="0" indent="0">
              <a:buNone/>
              <a:defRPr sz="4400" b="1" i="0">
                <a:solidFill>
                  <a:schemeClr val="tx2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71910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76CC-8203-2C43-AE70-574F75B2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D2C5A-CF1E-9740-A987-30347CDD5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D50A599-65AB-1A43-B501-0B9469FA6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2BC78423-6904-F64C-8396-5D1AE0AE6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E56A47-17B1-C74B-AD86-144619EE19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5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247" userDrawn="1">
          <p15:clr>
            <a:srgbClr val="FBAE40"/>
          </p15:clr>
        </p15:guide>
        <p15:guide id="4" orient="horz" pos="164" userDrawn="1">
          <p15:clr>
            <a:srgbClr val="FBAE40"/>
          </p15:clr>
        </p15:guide>
        <p15:guide id="5" orient="horz" pos="1003" userDrawn="1">
          <p15:clr>
            <a:srgbClr val="FBAE40"/>
          </p15:clr>
        </p15:guide>
        <p15:guide id="6" pos="121" userDrawn="1">
          <p15:clr>
            <a:srgbClr val="FBAE40"/>
          </p15:clr>
        </p15:guide>
        <p15:guide id="7" pos="370" userDrawn="1">
          <p15:clr>
            <a:srgbClr val="FBAE40"/>
          </p15:clr>
        </p15:guide>
        <p15:guide id="8" orient="horz" pos="1117" userDrawn="1">
          <p15:clr>
            <a:srgbClr val="FBAE40"/>
          </p15:clr>
        </p15:guide>
        <p15:guide id="9" pos="6992" userDrawn="1">
          <p15:clr>
            <a:srgbClr val="FBAE40"/>
          </p15:clr>
        </p15:guide>
        <p15:guide id="10" orient="horz" pos="3861" userDrawn="1">
          <p15:clr>
            <a:srgbClr val="FBAE40"/>
          </p15:clr>
        </p15:guide>
        <p15:guide id="11" pos="7559" userDrawn="1">
          <p15:clr>
            <a:srgbClr val="FBAE40"/>
          </p15:clr>
        </p15:guide>
        <p15:guide id="12" orient="horz" pos="3974" userDrawn="1">
          <p15:clr>
            <a:srgbClr val="FBAE40"/>
          </p15:clr>
        </p15:guide>
        <p15:guide id="13" orient="horz" pos="4201" userDrawn="1">
          <p15:clr>
            <a:srgbClr val="FBAE40"/>
          </p15:clr>
        </p15:guide>
        <p15:guide id="14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9A76-0BB8-F642-BB75-F9B14F153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9BF97-BE03-BB45-AED3-C12F297A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  <a:latin typeface="Helvetica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0227A79-6906-E948-900A-F3C35FEA6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66148F47-E1A4-C44F-8E58-CD97D6802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28639F-46C2-FE40-B723-F7C40A4B8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7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975A-2AE2-F64F-8139-067528A8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56C-4B9C-2D4C-8AB5-5CFC8BFB3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4855A-4F7F-F041-870B-7CF4ED110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BDB31FA-2413-3D4D-86F8-57C4063E7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73D9E566-844C-554E-98EB-8965CA82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72E97F-CE4A-9A43-B750-BFD22B9971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0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3346-4FEB-0D4A-AE6F-CAAFB11C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16555-CE49-FB4E-BCAD-5DA982DED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46E5E-AA95-754B-BC02-548C25D4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B0A1C-0F0B-E149-A825-B5EDBD5B7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24AEE-645A-1A48-B3F1-3827828CD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573C7B2-0318-C049-B659-121A4895C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38573AB9-054D-314A-8A76-95409DF3756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D5C595-E80D-4F4E-AD88-65E5A2787D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3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88A6-9428-1C46-9BFE-9D561370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4973DB4-48D9-B44F-995D-C61BCA183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4554B8B9-BD00-2747-B2A5-AA21EB15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22A06-E481-1045-9941-2A8C43A335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3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A7F337-CF2F-624D-8897-1B3B94133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0EF25130-0E21-064F-BC1A-CD6A95DF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363A7-830D-0747-81AA-BC7108B8D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BE20-9DE8-8048-9051-C2887484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8518-F4B1-6844-BAD3-27D078935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4E86F-7013-DC4C-B5CA-9C63DD3F4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EEBCB87-014B-F841-8C48-E31978298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74C31375-4D49-5D45-BE1B-F023B34414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1D8A0-3CD2-3849-B197-8086879F12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1072-1250-CB4A-A142-A40C8656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E5B64A-5157-BB47-A0CE-38F19CFB1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77C98-6028-3543-B627-FE5AF6024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C395483-7F46-134D-8E21-2C220380A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C5F5BE40-6D2A-0C41-BB64-3F1344AA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A3B375-3818-1A4D-B757-5165A4A37E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97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8781-AD91-D343-AEE5-678E82E9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73F79-645A-6149-9F73-43FF1141E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2E629B4-E40A-D94A-89FF-525418873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662CAB64-04C7-B54A-A8D0-45A350B0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743252-8047-6848-A7DA-1754C26B11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1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1B05B-CA71-3D4F-B858-B04D5863A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2A438-9E90-354A-A5CD-DCCA29EB1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88E902C-49EE-0645-BF9E-1907A33EE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CB88675C-DEB0-C34A-8B04-14A5B125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C085DD-AF60-0F41-9EDA-D65DBAC218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7D4B76-354B-8D4A-99C4-D47DF98C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62856-C798-174B-9281-D40A17039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25780E-8672-7444-B876-11C93C11F981}"/>
              </a:ext>
            </a:extLst>
          </p:cNvPr>
          <p:cNvGrpSpPr/>
          <p:nvPr userDrawn="1"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8603DBC-E878-5A4C-AF84-1FC4F0DA93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DFDF9B-F68A-7A41-A8D9-84BE1A9D5D1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FC0E0B4-D087-234E-BAAC-6493F082F65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</p:spPr>
        </p:pic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0469D12C-7A5B-9743-A4DE-7C42E679F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Date Placeholder 4">
            <a:extLst>
              <a:ext uri="{FF2B5EF4-FFF2-40B4-BE49-F238E27FC236}">
                <a16:creationId xmlns:a16="http://schemas.microsoft.com/office/drawing/2014/main" id="{BDF659D3-7FDA-744D-AED3-54943632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4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0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621F0-5AC9-A946-9EF3-BAB4217644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9796" y="1867456"/>
            <a:ext cx="10125776" cy="3091809"/>
          </a:xfrm>
        </p:spPr>
        <p:txBody>
          <a:bodyPr>
            <a:normAutofit/>
          </a:bodyPr>
          <a:lstStyle/>
          <a:p>
            <a:r>
              <a:rPr lang="en-US" sz="7200">
                <a:latin typeface="Angsana New"/>
                <a:cs typeface="Helvetica"/>
              </a:rPr>
              <a:t>CSE400 M1 GROUP- 8</a:t>
            </a:r>
            <a:endParaRPr lang="en-US" sz="7200">
              <a:cs typeface="Helvetica"/>
            </a:endParaRPr>
          </a:p>
          <a:p>
            <a:r>
              <a:rPr lang="en-US" sz="7200">
                <a:latin typeface="Angsana New"/>
                <a:cs typeface="Helvetica"/>
              </a:rPr>
              <a:t>NETWORKING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A397745-6874-AB1E-13A9-B38B06E22608}"/>
              </a:ext>
            </a:extLst>
          </p:cNvPr>
          <p:cNvSpPr txBox="1">
            <a:spLocks/>
          </p:cNvSpPr>
          <p:nvPr/>
        </p:nvSpPr>
        <p:spPr>
          <a:xfrm>
            <a:off x="995680" y="2008488"/>
            <a:ext cx="9245600" cy="39249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4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>
              <a:latin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8D292-7ED9-8856-22AF-7D857ADF230D}"/>
              </a:ext>
            </a:extLst>
          </p:cNvPr>
          <p:cNvSpPr txBox="1"/>
          <p:nvPr/>
        </p:nvSpPr>
        <p:spPr>
          <a:xfrm>
            <a:off x="240082" y="5078260"/>
            <a:ext cx="287054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>
                <a:latin typeface="Roboto"/>
                <a:ea typeface="Roboto"/>
                <a:cs typeface="Roboto"/>
              </a:rPr>
              <a:t>Falak Shah</a:t>
            </a:r>
          </a:p>
          <a:p>
            <a:r>
              <a:rPr lang="en-US" b="0">
                <a:latin typeface="Roboto"/>
                <a:ea typeface="Roboto"/>
                <a:cs typeface="Roboto"/>
              </a:rPr>
              <a:t>Ishani Prajapati</a:t>
            </a:r>
          </a:p>
          <a:p>
            <a:r>
              <a:rPr lang="en-US" b="0">
                <a:latin typeface="Roboto"/>
                <a:ea typeface="Roboto"/>
                <a:cs typeface="Roboto"/>
              </a:rPr>
              <a:t>Manthan Pancholi</a:t>
            </a:r>
          </a:p>
          <a:p>
            <a:r>
              <a:rPr lang="en-US" b="0">
                <a:latin typeface="Roboto"/>
                <a:ea typeface="Roboto"/>
                <a:cs typeface="Roboto"/>
              </a:rPr>
              <a:t>Nikunj Kalariya</a:t>
            </a:r>
          </a:p>
          <a:p>
            <a:r>
              <a:rPr lang="en-US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Urvil</a:t>
            </a:r>
            <a:r>
              <a:rPr lang="en-US" b="0">
                <a:latin typeface="Roboto"/>
                <a:ea typeface="Roboto"/>
                <a:cs typeface="Roboto"/>
              </a:rPr>
              <a:t> chodvadiya</a:t>
            </a:r>
          </a:p>
          <a:p>
            <a:endParaRPr lang="en-US">
              <a:solidFill>
                <a:srgbClr val="787F85"/>
              </a:solidFill>
              <a:latin typeface="Roboto"/>
              <a:ea typeface="Roboto"/>
              <a:cs typeface="Roboto"/>
            </a:endParaRPr>
          </a:p>
          <a:p>
            <a:endParaRPr lang="en-US">
              <a:latin typeface="Roboto"/>
              <a:ea typeface="Roboto"/>
              <a:cs typeface="Roboto"/>
            </a:endParaRPr>
          </a:p>
          <a:p>
            <a:endParaRPr lang="en-US">
              <a:latin typeface="Roboto"/>
              <a:ea typeface="Roboto"/>
              <a:cs typeface="Robot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EFB91-3A13-784A-9725-FD292152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47" y="322729"/>
            <a:ext cx="10249553" cy="103542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PROJECT CONTEXT AND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5DF3B-541E-914D-999F-8C19FAC52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A893C-DECA-314B-A75B-E05B180E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EC231A8-B784-AB4A-553B-758AF892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680" y="2008488"/>
            <a:ext cx="9245600" cy="39249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400" b="1">
                <a:latin typeface="Helvetica Light"/>
              </a:rPr>
              <a:t>Title: </a:t>
            </a:r>
            <a:r>
              <a:rPr lang="en-US" sz="2400"/>
              <a:t>Probabilistic Task Offloading in D2D Edge Computing.</a:t>
            </a:r>
          </a:p>
          <a:p>
            <a:endParaRPr lang="en-US" sz="2400" b="1">
              <a:latin typeface="Helvetica Light"/>
            </a:endParaRPr>
          </a:p>
          <a:p>
            <a:r>
              <a:rPr lang="en-US" sz="2400" b="1">
                <a:latin typeface="Helvetica Light"/>
              </a:rPr>
              <a:t>Domain: </a:t>
            </a:r>
            <a:r>
              <a:rPr lang="en-IN" sz="2400"/>
              <a:t>Device-to-Device Edge Computing Networks.</a:t>
            </a:r>
          </a:p>
          <a:p>
            <a:endParaRPr lang="en-IN" sz="2400" b="1">
              <a:latin typeface="Helvetica Light"/>
            </a:endParaRPr>
          </a:p>
          <a:p>
            <a:r>
              <a:rPr lang="en-IN" sz="2400" b="1">
                <a:latin typeface="Helvetica Light"/>
              </a:rPr>
              <a:t>Real-World context: </a:t>
            </a:r>
            <a:r>
              <a:rPr lang="en-US" sz="2400"/>
              <a:t>Variable task execution and network delays.</a:t>
            </a:r>
          </a:p>
          <a:p>
            <a:endParaRPr lang="en-US" sz="2400" b="1">
              <a:latin typeface="Helvetica Light"/>
            </a:endParaRPr>
          </a:p>
          <a:p>
            <a:r>
              <a:rPr lang="en-US" sz="2400" b="1">
                <a:latin typeface="Helvetica Light"/>
              </a:rPr>
              <a:t>Why uncertainty exists: </a:t>
            </a:r>
            <a:r>
              <a:rPr lang="en-US" sz="2400"/>
              <a:t>Task size, device load, and network conditions vary dynamically.</a:t>
            </a:r>
            <a:endParaRPr lang="en-IN" sz="2400" b="1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442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5C4E-8DA1-E475-30E1-E2221D7E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355601"/>
            <a:ext cx="10515600" cy="955040"/>
          </a:xfrm>
        </p:spPr>
        <p:txBody>
          <a:bodyPr/>
          <a:lstStyle/>
          <a:p>
            <a:pPr algn="ctr"/>
            <a:r>
              <a:rPr lang="en-IN">
                <a:solidFill>
                  <a:schemeClr val="tx2"/>
                </a:solidFill>
              </a:rPr>
              <a:t>PROJECT OBJECTIVE AND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7955-D294-DE6C-F05B-7A2E233EC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0901D-C971-6B72-B8A3-F6B77D49C3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6800A2A-6BD9-5A3A-7D90-AD9B6A8EE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480" y="1949172"/>
            <a:ext cx="8229600" cy="40553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b="1">
                <a:latin typeface="Helvetica Light"/>
              </a:rPr>
              <a:t>Objective: </a:t>
            </a:r>
            <a:r>
              <a:rPr lang="en-US"/>
              <a:t>Maximize Task Completion Rate within deadlines.</a:t>
            </a:r>
          </a:p>
          <a:p>
            <a:pPr marL="0" indent="0">
              <a:buNone/>
            </a:pPr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Decision problem: </a:t>
            </a:r>
            <a:r>
              <a:rPr lang="en-US"/>
              <a:t>Where to offload computation tasks.</a:t>
            </a:r>
          </a:p>
          <a:p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What  is predicted: </a:t>
            </a:r>
            <a:r>
              <a:rPr lang="en-US"/>
              <a:t>Probability of successful task completion.</a:t>
            </a:r>
          </a:p>
          <a:p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Scope: </a:t>
            </a:r>
            <a:r>
              <a:rPr lang="en-IN"/>
              <a:t>Probabilistic, game-based offloading decisions</a:t>
            </a:r>
            <a:endParaRPr lang="en-US" b="1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1452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FF21-08B7-D880-E205-8F857EC2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95899"/>
            <a:ext cx="10790237" cy="1084261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chemeClr val="tx2"/>
                </a:solidFill>
              </a:rPr>
              <a:t>PROJECT SYSTEM OVERVIEW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D1BFE-AC95-FAB1-31B3-B930426AD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7BD9A-4511-47C8-7CED-289FD834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6A2D8-97C8-D301-462A-AF0C341778B3}"/>
              </a:ext>
            </a:extLst>
          </p:cNvPr>
          <p:cNvSpPr txBox="1"/>
          <p:nvPr/>
        </p:nvSpPr>
        <p:spPr>
          <a:xfrm>
            <a:off x="924560" y="1991360"/>
            <a:ext cx="9662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da-DK" sz="2400"/>
              <a:t>Task generation at user devices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da-DK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Probability estimation of task completion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IN" sz="2400"/>
              <a:t>Game-theoretic offloading decision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IN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Task execution (local / remote device)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IN" sz="2400"/>
              <a:t>Deadline success evaluation</a:t>
            </a:r>
          </a:p>
        </p:txBody>
      </p:sp>
    </p:spTree>
    <p:extLst>
      <p:ext uri="{BB962C8B-B14F-4D97-AF65-F5344CB8AC3E}">
        <p14:creationId xmlns:p14="http://schemas.microsoft.com/office/powerpoint/2010/main" val="308857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A527-5BEA-C846-C440-2D6E8F0A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0BF8C-89CD-D327-6D0E-9BDB9F08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42047"/>
            <a:ext cx="10790237" cy="834913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SOURCES OF UNCERTAINITY IN THE PROJECT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F45FB-C67D-4B60-6230-176269C8B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1CF6D-0760-5DBA-40D5-C6A67085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3394E9-75E7-D802-3CCB-8DA1D527C3C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7" y="2425612"/>
            <a:ext cx="105124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task processing time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Queueing and contention delays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heterogeneity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Fluctuating transmission delay</a:t>
            </a:r>
          </a:p>
        </p:txBody>
      </p:sp>
    </p:spTree>
    <p:extLst>
      <p:ext uri="{BB962C8B-B14F-4D97-AF65-F5344CB8AC3E}">
        <p14:creationId xmlns:p14="http://schemas.microsoft.com/office/powerpoint/2010/main" val="10885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6479-D070-C1D0-CFDB-E68E0BD5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9427-1587-97F4-20A3-3E72FF21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17" y="412376"/>
            <a:ext cx="10790237" cy="856130"/>
          </a:xfrm>
        </p:spPr>
        <p:txBody>
          <a:bodyPr>
            <a:normAutofit fontScale="90000"/>
          </a:bodyPr>
          <a:lstStyle/>
          <a:p>
            <a:r>
              <a:rPr lang="en-IN" sz="4000">
                <a:solidFill>
                  <a:schemeClr val="tx2"/>
                </a:solidFill>
                <a:cs typeface="Helvetica"/>
              </a:rPr>
              <a:t>KEY RANDOM VARIABLES AND THEIR ROLES</a:t>
            </a:r>
            <a:endParaRPr lang="en-US" sz="4000">
              <a:solidFill>
                <a:schemeClr val="tx2"/>
              </a:solidFill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7D595-A9BC-2D5A-CF69-E318E49CC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6D7B1-3EB1-D2C2-952B-3B79E261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A36F581-C279-C0C8-CB10-53A4C255912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79120" y="2563378"/>
            <a:ext cx="114573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Processing Time (T):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Execution duration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Arrival Rate (λ):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Random task generation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Completion Time: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delay (queue + execution + transmission)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Completion Indicator: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Deadline met or not (0/1)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Workload: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system load</a:t>
            </a:r>
          </a:p>
        </p:txBody>
      </p:sp>
    </p:spTree>
    <p:extLst>
      <p:ext uri="{BB962C8B-B14F-4D97-AF65-F5344CB8AC3E}">
        <p14:creationId xmlns:p14="http://schemas.microsoft.com/office/powerpoint/2010/main" val="361680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BC14-702B-1FFB-8938-8198FF05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94C3-5977-0ADE-ECA6-785D0D52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55" y="537156"/>
            <a:ext cx="10790237" cy="753633"/>
          </a:xfrm>
        </p:spPr>
        <p:txBody>
          <a:bodyPr>
            <a:normAutofit fontScale="90000"/>
          </a:bodyPr>
          <a:lstStyle/>
          <a:p>
            <a:r>
              <a:rPr lang="en-IN" sz="4000">
                <a:solidFill>
                  <a:schemeClr val="tx2"/>
                </a:solidFill>
                <a:cs typeface="Helvetica"/>
              </a:rPr>
              <a:t>PROBABLISTIC MODELS AND ASSUMPTIONS</a:t>
            </a:r>
            <a:endParaRPr lang="en-US" sz="4000">
              <a:solidFill>
                <a:schemeClr val="tx2"/>
              </a:solidFill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74830-089B-F9E2-43CA-A0AB8E238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4B331-2443-F570-DA7D-6D7E6E67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B3DFF6-30EF-9E7F-7A26-631725ADC9F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54050" y="2246257"/>
            <a:ext cx="885571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processing modeled using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distribution</a:t>
            </a:r>
            <a:endParaRPr kumimoji="0" lang="en-US" altLang="gu-I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arrivals modeled as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Poisson process</a:t>
            </a:r>
            <a:endParaRPr kumimoji="0" lang="en-US" altLang="gu-I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 arrivals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assumption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i.i.d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service times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same task types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Memoryless property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processing time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Decisions converge to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Nash Equilibrium</a:t>
            </a: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96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0559-4CE0-4E7C-0D50-31795FF5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33755"/>
          </a:xfrm>
        </p:spPr>
        <p:txBody>
          <a:bodyPr>
            <a:normAutofit fontScale="90000"/>
          </a:bodyPr>
          <a:lstStyle/>
          <a:p>
            <a:r>
              <a:rPr lang="en-IN" sz="3200">
                <a:solidFill>
                  <a:schemeClr val="tx2"/>
                </a:solidFill>
                <a:latin typeface="Helvetica"/>
                <a:cs typeface="Helvetica"/>
              </a:rPr>
              <a:t>PROBABILISTIC REASONING AND INFERENCE LOGIC</a:t>
            </a:r>
            <a:endParaRPr lang="en-US" sz="3200">
              <a:solidFill>
                <a:schemeClr val="tx2"/>
              </a:solidFill>
              <a:latin typeface="Helvetica"/>
              <a:cs typeface="Helvetica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167DD-ED31-EEFC-67EF-A30D00E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3733" y="1302673"/>
            <a:ext cx="10517385" cy="33336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Uncertainty Propagation</a:t>
            </a:r>
            <a:endParaRPr lang="en-US" sz="1800" b="1">
              <a:latin typeface="+mn-lt"/>
              <a:ea typeface="+mn-lt"/>
              <a:cs typeface="+mn-lt"/>
            </a:endParaRP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Task processing time is uncertain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Queueing and transmission delays vary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Completion time and deadline satisfaction are probabilistic</a:t>
            </a:r>
          </a:p>
          <a:p>
            <a:pPr marL="0" indent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Probabilistic Decision Logic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Devices estimate probability of meeting deadlines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Offloading maximizes completion probability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Conditional probabilities avoid congestion</a:t>
            </a:r>
          </a:p>
          <a:p>
            <a:pPr marL="0" indent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Reasoning Pathway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Random task arrival → probabilistic processing → queueing delay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Completion probability computed (CDF)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Best offloading target selected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Iterative updates converge to Nash Equilibrium</a:t>
            </a:r>
          </a:p>
          <a:p>
            <a:pPr marL="0">
              <a:buNone/>
            </a:pPr>
            <a:endParaRPr lang="en-IN" sz="1800" b="1">
              <a:latin typeface="+mn-lt"/>
              <a:ea typeface="+mn-lt"/>
              <a:cs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8F96D-6A60-EE33-9901-F414B1642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1252E0-126F-08B6-567C-04C3C55661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1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D921-AEEB-AE41-5925-6DC3FED9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39" y="428064"/>
            <a:ext cx="10515600" cy="1187376"/>
          </a:xfrm>
        </p:spPr>
        <p:txBody>
          <a:bodyPr>
            <a:normAutofit fontScale="90000"/>
          </a:bodyPr>
          <a:lstStyle/>
          <a:p>
            <a:pPr algn="ctr"/>
            <a:r>
              <a:rPr lang="en-IN">
                <a:solidFill>
                  <a:schemeClr val="tx2"/>
                </a:solidFill>
                <a:cs typeface="Helvetica"/>
              </a:rPr>
              <a:t>OPERATIONALIZING PROBABILSTIC REASONING IN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0EFCD-7790-E247-9581-AB1665455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B8D22-D61D-993A-8862-880C19E841A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3E845-EA3B-0051-D8E4-F5B7849CE21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>
              <a:latin typeface="Helveti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ED2BB-EF8D-F294-335E-1CE8A0F78881}"/>
              </a:ext>
            </a:extLst>
          </p:cNvPr>
          <p:cNvSpPr txBox="1"/>
          <p:nvPr/>
        </p:nvSpPr>
        <p:spPr>
          <a:xfrm>
            <a:off x="584548" y="1842370"/>
            <a:ext cx="1033397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From Theory to Practice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 times modeled from measured data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Completion probabilities computed via queueing CDFs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Offloading decisions maximize deadline success probability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Evaluation Metrics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 Completion Rate = probability of meeting deadline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Overall performance = aggregated completion probabilities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Convergence indicates stable (Nash) behavior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Simplifying Assumptions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Poisson task arrivals, independent workloads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Known application types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M/G/1 queueing model and short-term stability</a:t>
            </a:r>
            <a:endParaRPr lang="en-US"/>
          </a:p>
          <a:p>
            <a:endParaRPr lang="en-US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48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C422-5978-A5ED-C228-8397AB4E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488706" cy="1612900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chemeClr val="tx2"/>
                </a:solidFill>
              </a:rPr>
              <a:t>CURRENT LIMIITATIONS AND CONCEPTUAL GAPS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241B8-DFE1-2051-7663-4E3E6D117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0B145-1982-8949-BAFF-2ECFCD8D12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F7073-73DB-6177-4A9C-943124C3D2CB}"/>
              </a:ext>
            </a:extLst>
          </p:cNvPr>
          <p:cNvSpPr txBox="1"/>
          <p:nvPr/>
        </p:nvSpPr>
        <p:spPr>
          <a:xfrm>
            <a:off x="1179534" y="1873684"/>
            <a:ext cx="10020821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Helvetica Light"/>
              </a:rPr>
              <a:t>Model Limitations</a:t>
            </a:r>
            <a:endParaRPr lang="en-US" b="1">
              <a:latin typeface="Helvetica Light"/>
            </a:endParaRP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Single-server (M/G/1) abstraction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Heavy reliance on accurate TPT fitting</a:t>
            </a:r>
          </a:p>
          <a:p>
            <a:r>
              <a:rPr lang="en-US" sz="2400" b="1">
                <a:latin typeface="Helvetica Light"/>
              </a:rPr>
              <a:t>Questionable Assumptions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Poisson task arrivals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Known application types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Deterministic transmission delays</a:t>
            </a:r>
          </a:p>
          <a:p>
            <a:r>
              <a:rPr lang="en-US" sz="2400" b="1">
                <a:latin typeface="Helvetica Light"/>
                <a:ea typeface="+mn-lt"/>
                <a:cs typeface="+mn-lt"/>
              </a:rPr>
              <a:t>Conceptual Gaps</a:t>
            </a:r>
            <a:endParaRPr lang="en-US" b="1"/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Nash Equilibrium ≠ global optimality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Limited analysis of overhead vs accuracy trade-offs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395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44A7-3A8D-F632-8009-71D324D4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1B42-C421-C8E0-5436-085634F6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488706" cy="1612900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chemeClr val="tx2"/>
                </a:solidFill>
              </a:rPr>
              <a:t>PLANNED REFINIMENTS AND ROLE COORDINATION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A0737-8BA6-ACBC-7BC1-5665B70D3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2CD85-5AF3-478C-1E16-56303C16047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99E3B-3DEB-A9B1-D196-A89BE5CCEF70}"/>
              </a:ext>
            </a:extLst>
          </p:cNvPr>
          <p:cNvSpPr txBox="1"/>
          <p:nvPr/>
        </p:nvSpPr>
        <p:spPr>
          <a:xfrm>
            <a:off x="803753" y="2113767"/>
            <a:ext cx="10292218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Helvetica Light"/>
              </a:rPr>
              <a:t>Next Milestone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Refine probabilistic models with more data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Improve realism of arrival and transmission models</a:t>
            </a:r>
          </a:p>
          <a:p>
            <a:r>
              <a:rPr lang="en-US" sz="2400" b="1">
                <a:latin typeface="Helvetica Light"/>
              </a:rPr>
              <a:t>Tasks Ahead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Relax Poisson and single-server assumptions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Explore adaptive or learned TPT distributions</a:t>
            </a:r>
          </a:p>
          <a:p>
            <a:r>
              <a:rPr lang="en-US" sz="2400" b="1">
                <a:latin typeface="Helvetica Light"/>
              </a:rPr>
              <a:t>Role Coordination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Scribe – Falak Shah, Nikunj Kalariya; Video/PPT – Ishani Prajapati, Urvil Chodvadiya; Project Manager (Concept Map &amp; GitHub) – Manthan Pancholi.</a:t>
            </a:r>
          </a:p>
          <a:p>
            <a:pPr marL="228600" indent="-228600">
              <a:buFont typeface=""/>
              <a:buChar char="•"/>
            </a:pPr>
            <a:endParaRPr lang="en-US" sz="2400">
              <a:latin typeface="Helvetic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641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F8C4-7083-5151-8E46-3269A4AD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>
                <a:solidFill>
                  <a:schemeClr val="tx2"/>
                </a:solidFill>
              </a:rPr>
              <a:t>SUMMARY OF GROUP LEVEL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27D7C-7E06-ED11-11B1-D84FC3752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har char="•"/>
            </a:pPr>
            <a:r>
              <a:rPr lang="en-IN"/>
              <a:t>Task processing times are uncertain</a:t>
            </a:r>
            <a:endParaRPr lang="en-US"/>
          </a:p>
          <a:p>
            <a:pPr>
              <a:buChar char="•"/>
            </a:pPr>
            <a:r>
              <a:rPr lang="en-IN"/>
              <a:t>Probabilistic models handle this variability</a:t>
            </a:r>
          </a:p>
          <a:p>
            <a:pPr>
              <a:buChar char="•"/>
            </a:pPr>
            <a:r>
              <a:rPr lang="en-IN"/>
              <a:t>Queueing links uncertainty to completion probability</a:t>
            </a:r>
          </a:p>
          <a:p>
            <a:pPr>
              <a:buChar char="•"/>
            </a:pPr>
            <a:r>
              <a:rPr lang="en-IN"/>
              <a:t>Offloading maximizes deadline success probability</a:t>
            </a:r>
          </a:p>
          <a:p>
            <a:pPr>
              <a:buChar char="•"/>
            </a:pPr>
            <a:r>
              <a:rPr lang="en-IN"/>
              <a:t>Device decisions are interdependent</a:t>
            </a:r>
          </a:p>
          <a:p>
            <a:pPr>
              <a:buChar char="•"/>
            </a:pPr>
            <a:r>
              <a:rPr lang="en-IN"/>
              <a:t>Game theory ensures stable operation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D1227-332F-ED06-4C99-C44106060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D1AA4-A2A1-75A9-5D95-B2477C5A11C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0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Angsana New</vt:lpstr>
      <vt:lpstr>Arial</vt:lpstr>
      <vt:lpstr>Calibri</vt:lpstr>
      <vt:lpstr>Helvetica</vt:lpstr>
      <vt:lpstr>Helvetica Light</vt:lpstr>
      <vt:lpstr>Roboto</vt:lpstr>
      <vt:lpstr>Wingdings</vt:lpstr>
      <vt:lpstr>Office Theme</vt:lpstr>
      <vt:lpstr>PowerPoint Presentation</vt:lpstr>
      <vt:lpstr>PROJECT CONTEXT AND MOTIVATION</vt:lpstr>
      <vt:lpstr>PROJECT OBJECTIVE AND SCOPE</vt:lpstr>
      <vt:lpstr>PROJECT SYSTEM OVERVIEW</vt:lpstr>
      <vt:lpstr>SOURCES OF UNCERTAINITY IN THE PROJECT</vt:lpstr>
      <vt:lpstr>KEY RANDOM VARIABLES AND THEIR ROLES</vt:lpstr>
      <vt:lpstr>PROBABLISTIC MODELS AND ASSUMPTIONS</vt:lpstr>
      <vt:lpstr>PROBABILISTIC REASONING AND INFERENCE LOGIC</vt:lpstr>
      <vt:lpstr>OPERATIONALIZING PROBABILSTIC REASONING IN THE PROJECT</vt:lpstr>
      <vt:lpstr>CURRENT LIMIITATIONS AND CONCEPTUAL GAPS</vt:lpstr>
      <vt:lpstr>PLANNED REFINIMENTS AND ROLE COORDINATION</vt:lpstr>
      <vt:lpstr>SUMMARY OF GROUP LEVEL UNDERSTANDING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Urvil Chodvadiya</cp:lastModifiedBy>
  <cp:revision>6</cp:revision>
  <dcterms:created xsi:type="dcterms:W3CDTF">2019-05-10T05:56:50Z</dcterms:created>
  <dcterms:modified xsi:type="dcterms:W3CDTF">2026-02-04T05:32:54Z</dcterms:modified>
</cp:coreProperties>
</file>